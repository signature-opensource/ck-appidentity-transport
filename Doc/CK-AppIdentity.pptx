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58" r:id="rId5"/>
    <p:sldId id="262" r:id="rId6"/>
    <p:sldId id="264" r:id="rId7"/>
    <p:sldId id="269" r:id="rId8"/>
    <p:sldId id="265" r:id="rId9"/>
    <p:sldId id="263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73" autoAdjust="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23T09:50:11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0 130,'17'-1,"0"-1,-1 0,1-1,26-9,6-1,416-47,-296 44,-101 6,-46 6,0 1,26-1,-40 4,1 1,0 0,-1 0,1 1,-1 0,1 0,-1 1,0 0,8 5,35 22,-43-23,1-1,0-1,0 0,1 0,0 0,-1-1,1-1,1 0,18 3,21-3,62-5,39 2,-103 6,48 13,-50-9,54 4,340-7,-261-9,-157 1,0-1,41-11,-4 2,-42 7,0-1,0 0,20-9,-23 8,0 1,1 0,-1 1,1 0,18-1,20 4,-29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A75D8-A9A5-4FAF-B563-7A079B630A7E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EDB92-2FE2-4164-AA27-D03258A2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4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are NOT going to use any relay </a:t>
            </a:r>
            <a:r>
              <a:rPr lang="en-US" b="0" dirty="0"/>
              <a:t>or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hole punching strategies here. We require that A can reach B OR B can reach A directly, if both A and B are behind NAT this doesn’t work and that’s it. </a:t>
            </a:r>
            <a:b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See https://bford.info/pub/net/p2pnat/index.html for a detailed discussion about NAT traversing.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20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80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54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Allow/</a:t>
            </a:r>
            <a:r>
              <a:rPr lang="en-US" dirty="0" err="1"/>
              <a:t>DisallowFeatures</a:t>
            </a:r>
            <a:r>
              <a:rPr lang="en-US" dirty="0"/>
              <a:t> can be a string or an array of strings.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59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detailing the Channels, we need to cover the </a:t>
            </a:r>
            <a:r>
              <a:rPr lang="en-US" dirty="0" err="1"/>
              <a:t>TransportMessage</a:t>
            </a:r>
            <a:r>
              <a:rPr lang="en-US" dirty="0"/>
              <a:t> and its Factories and the Transport and </a:t>
            </a:r>
            <a:r>
              <a:rPr lang="en-US" dirty="0" err="1"/>
              <a:t>TransportType</a:t>
            </a:r>
            <a:r>
              <a:rPr lang="en-US" dirty="0"/>
              <a:t>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07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All messages exchanged by the Transport layer are prefixed by the message's protocol and length.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- The prefix starts with a first byte: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`|L0|L1|CD|R0|R1|P0|P1|P2|`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- The 2 MSB (L0-L1) gives us the number of bytes of the message length: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-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`00`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 byte, the message length is between 0 and 255 bytes.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-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`01`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 bytes, the message length is between 256 and 65535 bytes.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-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`10`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3 bytes, the message length is between 65536 and 16 777 215 bytes.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-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`11`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4 bytes, the message length is between 16 777 216 and 2 147 483 648 bytes (2 Gib).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- The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`CD`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 is the "Control vs. Data" bit. This is a convenient bit that can be used by protocols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as a one bit discriminator, typically between a regular data message and one (or more) control message.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-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`R0`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and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`R1`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bit are reserved for future use.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- P0-P2 bits is the Protocol, a number between 0 and 7. This number defines the "type" of the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message: the writer or serializer that has been used to write the payload and the reader or "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deserializer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that must be used to read it back.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- Then comes the message length itself (1 to 4 bytes)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- Then the message payload itself.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At a higher level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MessageProtocol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” are identified by a string (its unique name).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 protocol defines how the message is encoded and how they are exchanged: by merging these 2 concepts here,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we greatly simplify the implementation and the understandability of the Transport layer. The protocol simply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defines the encoding it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2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The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`"0 Protocol"`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protocol name is reserved: this is the protocol of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CK.AppIdentity.TransportLayer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itself that handles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special messages used to negotiate, accept, reject incoming parties and outgoing connections.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This lets 7 possible protocols. This may seem a limitation however this limit applies to a Remote party pair: there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can be any number of possible protocols in an application, among them 2 parties that start to interact initially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negotiate the ones they can and want to use. Any Transport between 2 parties can support up to 7 different protocols.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The final length of a message on the wire is between 2 bytes (the special Empty message, see below) and 2 Gib.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 minimal 1 byte message requires 3 bytes (in any of the 7 available protocols).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49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8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EDB92-2FE2-4164-AA27-D03258A20DF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86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F2D5-E4F2-4183-2FA0-7597E4E30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31E75-63C6-99CA-DD2D-94406A7FF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54960-D074-ABBD-C28B-5BD2A95D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B7246-461C-4445-B1DB-D994924F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EC3A5-EB37-0E8B-F389-3CD441AB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7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0055-D087-1CB6-D663-194AA961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7362-EEA0-6DC8-CDFD-5141C9EFB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53A8B-47D3-78CC-7CEC-7D20C80F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4A42A-B249-5085-9AAA-14761CAD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C1C8E-3B90-5727-0B6E-40BAC278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9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E484-88E1-69E3-02EB-AE8A29D3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1206E-C2FF-1582-171B-F223E33CF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E2E20-E63B-6C32-F313-550B8DFF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C305-E44C-FCBA-D4F7-1142FAEE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3C59-025A-40C7-2FFB-2666C0CDF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4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1D4E-5B3B-7967-7E30-F95B4C7C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803C-02A0-C743-1175-2423A52AD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F84FA-89D4-3D95-931F-C5C07FC36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68711-0709-B75A-4A7E-6C401028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8CF9A-8D24-23A9-9371-A60F43BD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A8033-E5FC-449B-38B4-8609F512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6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696B-DFC3-2F8E-1DD9-4356B337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27724-E553-2CBD-3D09-F97AF94EE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B2E43-DAD6-34F4-27B3-A926B719D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88D27-43D1-299D-3CAF-9F3160784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E705F-8C88-25E0-8609-EF1BFC923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15FA95-D2F5-9CF4-411D-50E18B21E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5A856-4681-9E62-22C3-B16BD3DA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158A0-7326-860C-FCBA-9AFAA77B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5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C65E-558C-F72A-FF9B-8A6FFF4A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B8621-74A9-A71E-DF3E-631C7213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DA8A1-C014-5363-66C4-C95BF87A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69F9C-9BDD-AC6B-3460-E133B146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6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286A8-4FE1-7984-DFFD-52F5064E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DBCBF9-5C22-474E-3ED9-9B03D8A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7D150-7316-B6A2-E332-8D485D69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1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E434-E03F-0BED-8977-078604DF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A034B-F805-9843-0400-D2FCC8585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76282-FBCD-95CF-07AD-8C9640ED5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BD3DA-21D8-0F13-79E0-7E0B8355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B9487-4F4C-6A53-0350-C528C656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A53FF-1A98-9D9C-2A40-C53EFBDF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5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3CF9-D0F1-A743-3019-FF2447BD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31086-A7FA-B32B-3E1F-14A6E8C1F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9B33C-A741-B7C4-FB62-64B92D889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A3828-213F-2D23-3C9D-EB62C1EE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7EE94-6900-747B-3C85-BE60492E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B6660-8F30-D26D-4BB0-5F399E21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3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F7EA-A993-1692-743B-885E7003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3DBAC-9589-41F8-3925-DDC29178B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9D458-5F7D-023C-D9FC-E1316EB4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D0FA3-4707-7B2C-C788-38D10B0D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31F98-F69E-16C3-4413-D79284D2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BCB9F-0527-2978-A293-7A641B1A9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80312-CE7F-4ABA-9E1F-06A89D128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1F1D-611F-62EE-C25C-C1C4C597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1321A-D9E4-0C85-0EB1-7DF90B6C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77B46-5B7A-48CE-588F-DA456321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4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7E465-A861-A20F-9483-01D3EB1B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6CCF6-2B83-8286-028E-2C51A14B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16736-027A-5CD8-C27D-FFA9869FA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F2140-8D48-49AC-AD8D-683E6FF4DC34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503E5-C5F0-5320-F806-3642A15D4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994BE-A4B8-C9B3-A86F-45488CD8F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A8711-97D1-4DAA-90FC-633E140F7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5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ature-code/CK-AppIdentity/blob/develop/CK.AppIdentity.BlobChannel/BlobChannelFeatureDriver.cs" TargetMode="External"/><Relationship Id="rId2" Type="http://schemas.openxmlformats.org/officeDocument/2006/relationships/hyperlink" Target="https://github.com/signature-code/CK-AppIdentity/blob/develop/Tests/CK.AppIdentity.BlobChannel.Tests/BasicExchangeTests.cs#L1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s://github.com/signature-code/CK-AppIdentity/blob/develop/CK.AppIdentity.BlobChannel/BlobChannelFeature.Protocol.cs" TargetMode="External"/><Relationship Id="rId4" Type="http://schemas.openxmlformats.org/officeDocument/2006/relationships/hyperlink" Target="https://github.com/signature-code/CK-AppIdentity/blob/develop/CK.AppIdentity.BlobChannel/BlobChannelFeature.cs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chardCMS/OrchardCore/blob/main/src/OrchardCore.Modules/OrchardCore.OpenId/Services/OpenIdServerService.cs" TargetMode="External"/><Relationship Id="rId2" Type="http://schemas.openxmlformats.org/officeDocument/2006/relationships/hyperlink" Target="https://github.com/microsoft/FASTER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C9BE-E61A-B6D0-5435-0685D27EF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CK-</a:t>
            </a:r>
            <a:r>
              <a:rPr lang="en-US" dirty="0" err="1"/>
              <a:t>AppIdentity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244AE-14BD-A1DE-961C-D27D37FEF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 Distributed Applications Topologic Model</a:t>
            </a:r>
          </a:p>
        </p:txBody>
      </p:sp>
    </p:spTree>
    <p:extLst>
      <p:ext uri="{BB962C8B-B14F-4D97-AF65-F5344CB8AC3E}">
        <p14:creationId xmlns:p14="http://schemas.microsoft.com/office/powerpoint/2010/main" val="173465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BBD5-557D-D878-3AB3-3EFE70DA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F8E7D-B68B-F926-CFD3-A5B66EF9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 the simplest model to describe a distributed system topology.</a:t>
            </a:r>
          </a:p>
          <a:p>
            <a:r>
              <a:rPr lang="en-US" dirty="0"/>
              <a:t>Be as simple as possible to configure.</a:t>
            </a:r>
          </a:p>
          <a:p>
            <a:pPr lvl="1"/>
            <a:r>
              <a:rPr lang="en-US" dirty="0"/>
              <a:t>Configured identity related information are immutable during a run.</a:t>
            </a:r>
          </a:p>
          <a:p>
            <a:pPr lvl="1"/>
            <a:r>
              <a:rPr lang="en-US" dirty="0"/>
              <a:t>Dynamic identities can be added, removed and reconfigured while executing.</a:t>
            </a:r>
          </a:p>
          <a:p>
            <a:r>
              <a:rPr lang="en-US" dirty="0"/>
              <a:t>Supports different topologies</a:t>
            </a:r>
          </a:p>
          <a:p>
            <a:pPr lvl="1"/>
            <a:r>
              <a:rPr lang="en-US" dirty="0"/>
              <a:t>Centralized with a shared, central, directory of all the parties. </a:t>
            </a:r>
          </a:p>
          <a:p>
            <a:pPr lvl="1"/>
            <a:r>
              <a:rPr lang="en-US" dirty="0"/>
              <a:t>Decentralized where parties only sees peers.</a:t>
            </a:r>
          </a:p>
          <a:p>
            <a:pPr lvl="1"/>
            <a:r>
              <a:rPr lang="en-US" dirty="0"/>
              <a:t>With and/or without Message Bus.</a:t>
            </a:r>
          </a:p>
          <a:p>
            <a:r>
              <a:rPr lang="en-US" dirty="0"/>
              <a:t>Applies to simple Agents as well as Multi-Tenant site.</a:t>
            </a:r>
          </a:p>
          <a:p>
            <a:r>
              <a:rPr lang="en-US" dirty="0"/>
              <a:t>Handles totally external end points</a:t>
            </a:r>
          </a:p>
          <a:p>
            <a:pPr lvl="1"/>
            <a:r>
              <a:rPr lang="en-US" dirty="0"/>
              <a:t>Customer web services</a:t>
            </a:r>
          </a:p>
          <a:p>
            <a:pPr lvl="1"/>
            <a:r>
              <a:rPr lang="en-US" dirty="0"/>
              <a:t>Cloud Services (Azure, AWS, GitHub, etc.)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3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FF63-04EA-BCC5-D34D-9C25D186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DC6D3-3B63-2CF7-C0E5-91BFC5BA1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Follows the “Package First” approach.</a:t>
            </a:r>
          </a:p>
          <a:p>
            <a:r>
              <a:rPr lang="en-US" dirty="0"/>
              <a:t>Encapsulates complexities</a:t>
            </a:r>
          </a:p>
          <a:p>
            <a:pPr lvl="1"/>
            <a:r>
              <a:rPr lang="en-US" dirty="0"/>
              <a:t>Capabilities discovery</a:t>
            </a:r>
          </a:p>
          <a:p>
            <a:pPr lvl="1"/>
            <a:r>
              <a:rPr lang="en-US" dirty="0"/>
              <a:t>Secret keys management</a:t>
            </a:r>
          </a:p>
          <a:p>
            <a:r>
              <a:rPr lang="en-US" dirty="0"/>
              <a:t>Supports “Observability”</a:t>
            </a:r>
          </a:p>
          <a:p>
            <a:pPr lvl="1"/>
            <a:r>
              <a:rPr lang="en-US" dirty="0"/>
              <a:t>Logs from a Party are identified and can be easily managed.</a:t>
            </a:r>
          </a:p>
          <a:p>
            <a:r>
              <a:rPr lang="en-US" dirty="0"/>
              <a:t>Be agnostic of deployment details</a:t>
            </a:r>
          </a:p>
          <a:p>
            <a:pPr lvl="1"/>
            <a:r>
              <a:rPr lang="en-US" dirty="0"/>
              <a:t>Transport layers (TCP/IP, </a:t>
            </a:r>
            <a:r>
              <a:rPr lang="en-US" dirty="0" err="1"/>
              <a:t>quic</a:t>
            </a:r>
            <a:r>
              <a:rPr lang="en-US" dirty="0"/>
              <a:t>, </a:t>
            </a:r>
            <a:r>
              <a:rPr lang="en-US" dirty="0" err="1"/>
              <a:t>mqtt</a:t>
            </a:r>
            <a:r>
              <a:rPr lang="en-US" dirty="0"/>
              <a:t>, etc.)</a:t>
            </a:r>
          </a:p>
          <a:p>
            <a:pPr lvl="1"/>
            <a:r>
              <a:rPr lang="en-US" dirty="0"/>
              <a:t>VLAN and/or WAN</a:t>
            </a:r>
          </a:p>
        </p:txBody>
      </p:sp>
    </p:spTree>
    <p:extLst>
      <p:ext uri="{BB962C8B-B14F-4D97-AF65-F5344CB8AC3E}">
        <p14:creationId xmlns:p14="http://schemas.microsoft.com/office/powerpoint/2010/main" val="129734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8B24-8DD6-5A25-2C4D-FFCB0054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DomainName</a:t>
            </a:r>
            <a:r>
              <a:rPr lang="en-US" dirty="0"/>
              <a:t>/</a:t>
            </a:r>
            <a:r>
              <a:rPr lang="en-US" dirty="0" err="1"/>
              <a:t>EnvironmentName</a:t>
            </a:r>
            <a:r>
              <a:rPr lang="en-US" dirty="0"/>
              <a:t>/</a:t>
            </a:r>
            <a:r>
              <a:rPr lang="en-US" dirty="0" err="1"/>
              <a:t>PartyName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71EE-3844-1222-56FF-A3C3C4D91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3122"/>
          </a:xfrm>
        </p:spPr>
        <p:txBody>
          <a:bodyPr>
            <a:normAutofit/>
          </a:bodyPr>
          <a:lstStyle/>
          <a:p>
            <a:r>
              <a:rPr lang="en-US" dirty="0"/>
              <a:t>This triple identifies any Party in the Universe.</a:t>
            </a:r>
          </a:p>
          <a:p>
            <a:r>
              <a:rPr lang="en-US" dirty="0"/>
              <a:t>This drives the Observability layer</a:t>
            </a:r>
          </a:p>
          <a:p>
            <a:pPr lvl="1"/>
            <a:r>
              <a:rPr lang="en-US" dirty="0"/>
              <a:t>Logs are collected with this 3-levels hierarchy.</a:t>
            </a:r>
          </a:p>
          <a:p>
            <a:pPr lvl="1"/>
            <a:r>
              <a:rPr lang="en-US" dirty="0"/>
              <a:t>Any “Event Source” (whatever the </a:t>
            </a:r>
            <a:r>
              <a:rPr lang="en-US" i="1" dirty="0"/>
              <a:t>event</a:t>
            </a:r>
            <a:r>
              <a:rPr lang="en-US" dirty="0"/>
              <a:t> is) is identified by this triple.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643F4-53C3-F19D-30F2-4CA46F7DD108}"/>
              </a:ext>
            </a:extLst>
          </p:cNvPr>
          <p:cNvSpPr txBox="1"/>
          <p:nvPr/>
        </p:nvSpPr>
        <p:spPr>
          <a:xfrm>
            <a:off x="527168" y="3773684"/>
            <a:ext cx="11137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How can a simple model like this one cover all our needs?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FBD75-5C03-AE36-5F3B-9EC6B24A4DA1}"/>
              </a:ext>
            </a:extLst>
          </p:cNvPr>
          <p:cNvSpPr txBox="1"/>
          <p:nvPr/>
        </p:nvSpPr>
        <p:spPr>
          <a:xfrm>
            <a:off x="838200" y="4713402"/>
            <a:ext cx="10515600" cy="1200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400" dirty="0"/>
              <a:t>We’ll now present different static configurations.</a:t>
            </a:r>
          </a:p>
          <a:p>
            <a:pPr lvl="1"/>
            <a:r>
              <a:rPr lang="en-US" sz="2000" dirty="0"/>
              <a:t>Starting with a simple Agent up to a multi-tenant site that drives multiple domains.</a:t>
            </a:r>
          </a:p>
          <a:p>
            <a:pPr lvl="1"/>
            <a:r>
              <a:rPr lang="en-US" sz="2000" dirty="0"/>
              <a:t>This will define the dream.</a:t>
            </a:r>
          </a:p>
          <a:p>
            <a:r>
              <a:rPr lang="en-US" sz="2400" dirty="0"/>
              <a:t>Then we’ll see the “dynamic” aspect, and some required “magic”…</a:t>
            </a:r>
          </a:p>
          <a:p>
            <a:pPr lvl="1"/>
            <a:r>
              <a:rPr lang="en-US" sz="2000" dirty="0"/>
              <a:t>…to make this the reality.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548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Agent.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0EFF-DD86-3588-5686-FCEFF2B8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158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/>
              <a:t>One should be able to understand the interactions of any Party by looking at its Application Identity configuration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F56BE-36E9-9C16-0573-8234C8D9F689}"/>
              </a:ext>
            </a:extLst>
          </p:cNvPr>
          <p:cNvSpPr txBox="1"/>
          <p:nvPr/>
        </p:nvSpPr>
        <p:spPr>
          <a:xfrm>
            <a:off x="769855" y="2812149"/>
            <a:ext cx="44148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"Production",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LogTower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"Address": "148.54.11.18:3712"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SignatureBox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"Address": "155.88.22.22"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}]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9884F-EC60-0B31-9E5D-FA31BD845EA1}"/>
              </a:ext>
            </a:extLst>
          </p:cNvPr>
          <p:cNvSpPr txBox="1"/>
          <p:nvPr/>
        </p:nvSpPr>
        <p:spPr>
          <a:xfrm>
            <a:off x="5184742" y="2924742"/>
            <a:ext cx="5857974" cy="2033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400" dirty="0"/>
              <a:t>There should be no more than that for our Trolley1:</a:t>
            </a:r>
          </a:p>
          <a:p>
            <a:pPr lvl="1"/>
            <a:r>
              <a:rPr lang="en-US" sz="2000" dirty="0"/>
              <a:t>Sends its logs to a “</a:t>
            </a:r>
            <a:r>
              <a:rPr lang="en-US" sz="2000" dirty="0" err="1"/>
              <a:t>LogTower</a:t>
            </a:r>
            <a:r>
              <a:rPr lang="en-US" sz="2000" dirty="0"/>
              <a:t>” party.</a:t>
            </a:r>
          </a:p>
          <a:p>
            <a:pPr lvl="1"/>
            <a:r>
              <a:rPr lang="en-US" sz="2000" dirty="0"/>
              <a:t>Can initiate communications with the “</a:t>
            </a:r>
            <a:r>
              <a:rPr lang="en-US" sz="2000" dirty="0" err="1"/>
              <a:t>SignatureBox</a:t>
            </a:r>
            <a:r>
              <a:rPr lang="en-US" sz="2000" dirty="0"/>
              <a:t>” party.</a:t>
            </a:r>
          </a:p>
          <a:p>
            <a:r>
              <a:rPr lang="en-US" sz="2400" dirty="0"/>
              <a:t>The “Address” is not a URI or URL. </a:t>
            </a:r>
          </a:p>
          <a:p>
            <a:pPr lvl="1"/>
            <a:r>
              <a:rPr lang="en-US" sz="2000" dirty="0"/>
              <a:t>It can be any string that makes the </a:t>
            </a:r>
            <a:r>
              <a:rPr lang="en-US" sz="2000" i="1" dirty="0"/>
              <a:t>remote reachable from this party</a:t>
            </a:r>
            <a:r>
              <a:rPr lang="en-US" sz="20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023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SignatureBox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0EFF-DD86-3588-5686-FCEFF2B8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3087" y="1825624"/>
            <a:ext cx="6100713" cy="41132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SignatureBox</a:t>
            </a:r>
            <a:r>
              <a:rPr lang="en-US" dirty="0"/>
              <a:t> also sends its logs to the same </a:t>
            </a:r>
            <a:r>
              <a:rPr lang="en-US" dirty="0" err="1"/>
              <a:t>LogTower</a:t>
            </a:r>
            <a:r>
              <a:rPr lang="en-US" dirty="0"/>
              <a:t> and knows the Trolley1 but also the Trolley2 and a </a:t>
            </a:r>
            <a:r>
              <a:rPr lang="en-US" dirty="0" err="1"/>
              <a:t>PickingStation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3 remotes have no Address.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LaToulousaine</a:t>
            </a:r>
            <a:r>
              <a:rPr lang="en-US" dirty="0"/>
              <a:t>/Production/</a:t>
            </a:r>
            <a:r>
              <a:rPr lang="en-US" dirty="0" err="1"/>
              <a:t>SignatureBox</a:t>
            </a:r>
            <a:r>
              <a:rPr lang="en-US" dirty="0"/>
              <a:t>" is a server for them.</a:t>
            </a:r>
          </a:p>
          <a:p>
            <a:pPr lvl="1"/>
            <a:r>
              <a:rPr lang="en-US" dirty="0"/>
              <a:t>This is enough for the warehouse to do its work.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F56BE-36E9-9C16-0573-8234C8D9F689}"/>
              </a:ext>
            </a:extLst>
          </p:cNvPr>
          <p:cNvSpPr txBox="1"/>
          <p:nvPr/>
        </p:nvSpPr>
        <p:spPr>
          <a:xfrm>
            <a:off x="838200" y="1690688"/>
            <a:ext cx="441488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"Production",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SignatureBox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LogTower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"Address": "148.54.11.18:3712"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PickingStation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444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1DDF-5F8E-30C5-91C2-873531F0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2D054-8D5E-BDF9-CD5B-68A728974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now on, we don't show the </a:t>
            </a:r>
            <a:r>
              <a:rPr lang="en-US" dirty="0" err="1"/>
              <a:t>LogTower</a:t>
            </a:r>
            <a:r>
              <a:rPr lang="en-US" dirty="0"/>
              <a:t> configuration	.</a:t>
            </a:r>
          </a:p>
          <a:p>
            <a:pPr lvl="1"/>
            <a:r>
              <a:rPr lang="en-US" dirty="0"/>
              <a:t>This is the same for every party (if we want to target the same </a:t>
            </a:r>
            <a:r>
              <a:rPr lang="en-US" dirty="0" err="1"/>
              <a:t>LogTower</a:t>
            </a:r>
            <a:r>
              <a:rPr lang="en-US" dirty="0"/>
              <a:t>).</a:t>
            </a:r>
          </a:p>
          <a:p>
            <a:r>
              <a:rPr lang="en-US" dirty="0"/>
              <a:t>We also don’t specify the “</a:t>
            </a:r>
            <a:r>
              <a:rPr lang="en-US" dirty="0" err="1"/>
              <a:t>EnvironmentName</a:t>
            </a:r>
            <a:r>
              <a:rPr lang="en-US" dirty="0"/>
              <a:t>” anymore.</a:t>
            </a:r>
          </a:p>
          <a:p>
            <a:pPr lvl="1"/>
            <a:r>
              <a:rPr lang="en-US" dirty="0"/>
              <a:t>This defaults to the </a:t>
            </a:r>
            <a:r>
              <a:rPr lang="en-US" dirty="0" err="1"/>
              <a:t>IHostEnvironment.EnvironmentName</a:t>
            </a:r>
            <a:r>
              <a:rPr lang="en-US" dirty="0"/>
              <a:t> (that defaults to “Development”)</a:t>
            </a:r>
          </a:p>
          <a:p>
            <a:r>
              <a:rPr lang="en-US" dirty="0"/>
              <a:t>Domain and Environment names configuration </a:t>
            </a:r>
            <a:r>
              <a:rPr lang="en-US" b="1" dirty="0"/>
              <a:t>inherit</a:t>
            </a:r>
            <a:r>
              <a:rPr lang="en-US" dirty="0"/>
              <a:t> from the root to the Remotes.</a:t>
            </a:r>
          </a:p>
          <a:p>
            <a:pPr lvl="1"/>
            <a:r>
              <a:rPr lang="en-US" dirty="0"/>
              <a:t>Inheriting is the default behavior.</a:t>
            </a:r>
          </a:p>
          <a:p>
            <a:pPr lvl="1"/>
            <a:r>
              <a:rPr lang="en-US" dirty="0"/>
              <a:t>Overriding the Domain and Environment names is possible: a Remote can be in another Domain and another Environment.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1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1DDF-5F8E-30C5-91C2-873531F0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so far: a warehouse.</a:t>
            </a:r>
          </a:p>
        </p:txBody>
      </p:sp>
      <p:pic>
        <p:nvPicPr>
          <p:cNvPr id="5" name="Content Placeholder 4" descr="Computer outline">
            <a:extLst>
              <a:ext uri="{FF2B5EF4-FFF2-40B4-BE49-F238E27FC236}">
                <a16:creationId xmlns:a16="http://schemas.microsoft.com/office/drawing/2014/main" id="{1F205C4E-1A30-7CEB-C70F-7863D2DBC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5226" y="1765570"/>
            <a:ext cx="914400" cy="914400"/>
          </a:xfrm>
        </p:spPr>
      </p:pic>
      <p:pic>
        <p:nvPicPr>
          <p:cNvPr id="7" name="Graphic 6" descr="Scale outline">
            <a:extLst>
              <a:ext uri="{FF2B5EF4-FFF2-40B4-BE49-F238E27FC236}">
                <a16:creationId xmlns:a16="http://schemas.microsoft.com/office/drawing/2014/main" id="{1926719C-988C-88D9-70C0-87A09285D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4302" y="4927059"/>
            <a:ext cx="914400" cy="914400"/>
          </a:xfrm>
          <a:prstGeom prst="rect">
            <a:avLst/>
          </a:prstGeom>
        </p:spPr>
      </p:pic>
      <p:pic>
        <p:nvPicPr>
          <p:cNvPr id="9" name="Graphic 8" descr="Box trolley with solid fill">
            <a:extLst>
              <a:ext uri="{FF2B5EF4-FFF2-40B4-BE49-F238E27FC236}">
                <a16:creationId xmlns:a16="http://schemas.microsoft.com/office/drawing/2014/main" id="{EB137CF6-1985-8779-1B20-CD73FFAC24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97957" y="1895991"/>
            <a:ext cx="914400" cy="914400"/>
          </a:xfrm>
          <a:prstGeom prst="rect">
            <a:avLst/>
          </a:prstGeom>
        </p:spPr>
      </p:pic>
      <p:pic>
        <p:nvPicPr>
          <p:cNvPr id="10" name="Content Placeholder 4" descr="Computer outline">
            <a:extLst>
              <a:ext uri="{FF2B5EF4-FFF2-40B4-BE49-F238E27FC236}">
                <a16:creationId xmlns:a16="http://schemas.microsoft.com/office/drawing/2014/main" id="{85596109-C7DB-6ED7-C24B-E95039416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0757" y="4227671"/>
            <a:ext cx="914400" cy="914400"/>
          </a:xfrm>
          <a:prstGeom prst="rect">
            <a:avLst/>
          </a:prstGeom>
        </p:spPr>
      </p:pic>
      <p:pic>
        <p:nvPicPr>
          <p:cNvPr id="12" name="Graphic 11" descr="Books on shelf outline">
            <a:extLst>
              <a:ext uri="{FF2B5EF4-FFF2-40B4-BE49-F238E27FC236}">
                <a16:creationId xmlns:a16="http://schemas.microsoft.com/office/drawing/2014/main" id="{DDC40D12-A2D5-AA8B-052F-8F1043AD19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64302" y="4227671"/>
            <a:ext cx="914400" cy="914400"/>
          </a:xfrm>
          <a:prstGeom prst="rect">
            <a:avLst/>
          </a:prstGeom>
        </p:spPr>
      </p:pic>
      <p:pic>
        <p:nvPicPr>
          <p:cNvPr id="13" name="Graphic 12" descr="Box trolley with solid fill">
            <a:extLst>
              <a:ext uri="{FF2B5EF4-FFF2-40B4-BE49-F238E27FC236}">
                <a16:creationId xmlns:a16="http://schemas.microsoft.com/office/drawing/2014/main" id="{E6BC6827-E41E-DB85-90B3-9496EFF90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4225" y="3065203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D276AA-5FA8-98EC-0CD5-C2C5D44D7B5D}"/>
              </a:ext>
            </a:extLst>
          </p:cNvPr>
          <p:cNvSpPr txBox="1"/>
          <p:nvPr/>
        </p:nvSpPr>
        <p:spPr>
          <a:xfrm>
            <a:off x="6944540" y="2495304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SignatureBox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C1609-847A-56B1-19A8-DEB802EB14FA}"/>
              </a:ext>
            </a:extLst>
          </p:cNvPr>
          <p:cNvSpPr txBox="1"/>
          <p:nvPr/>
        </p:nvSpPr>
        <p:spPr>
          <a:xfrm>
            <a:off x="9682798" y="2646827"/>
            <a:ext cx="92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Trolley1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30309-30D1-8CF8-5DBA-C5FF7DF15E2A}"/>
              </a:ext>
            </a:extLst>
          </p:cNvPr>
          <p:cNvSpPr txBox="1"/>
          <p:nvPr/>
        </p:nvSpPr>
        <p:spPr>
          <a:xfrm>
            <a:off x="8257859" y="3815494"/>
            <a:ext cx="921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Trolley2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DCBB5-73EB-5131-D02A-00CAC9CFBF41}"/>
              </a:ext>
            </a:extLst>
          </p:cNvPr>
          <p:cNvSpPr txBox="1"/>
          <p:nvPr/>
        </p:nvSpPr>
        <p:spPr>
          <a:xfrm>
            <a:off x="8931612" y="4927059"/>
            <a:ext cx="150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PickingStation</a:t>
            </a:r>
            <a:endParaRPr lang="en-US" dirty="0"/>
          </a:p>
        </p:txBody>
      </p: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6647B478-F3FF-650F-E6CD-207EC080B2C1}"/>
              </a:ext>
            </a:extLst>
          </p:cNvPr>
          <p:cNvSpPr/>
          <p:nvPr/>
        </p:nvSpPr>
        <p:spPr>
          <a:xfrm>
            <a:off x="9285402" y="5686774"/>
            <a:ext cx="1045112" cy="618009"/>
          </a:xfrm>
          <a:custGeom>
            <a:avLst/>
            <a:gdLst>
              <a:gd name="connsiteX0" fmla="*/ 1029603 w 1045112"/>
              <a:gd name="connsiteY0" fmla="*/ -220543 h 618009"/>
              <a:gd name="connsiteX1" fmla="*/ 862060 w 1045112"/>
              <a:gd name="connsiteY1" fmla="*/ 74102 h 618009"/>
              <a:gd name="connsiteX2" fmla="*/ 762303 w 1045112"/>
              <a:gd name="connsiteY2" fmla="*/ 583569 h 618009"/>
              <a:gd name="connsiteX3" fmla="*/ 274109 w 1045112"/>
              <a:gd name="connsiteY3" fmla="*/ 580851 h 618009"/>
              <a:gd name="connsiteX4" fmla="*/ 192528 w 1045112"/>
              <a:gd name="connsiteY4" fmla="*/ 69427 h 618009"/>
              <a:gd name="connsiteX5" fmla="*/ 688528 w 1045112"/>
              <a:gd name="connsiteY5" fmla="*/ 16001 h 618009"/>
              <a:gd name="connsiteX6" fmla="*/ 1029603 w 1045112"/>
              <a:gd name="connsiteY6" fmla="*/ -220543 h 618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5112" h="618009" extrusionOk="0">
                <a:moveTo>
                  <a:pt x="1029603" y="-220543"/>
                </a:moveTo>
                <a:cubicBezTo>
                  <a:pt x="991918" y="-88520"/>
                  <a:pt x="927629" y="-62010"/>
                  <a:pt x="862060" y="74102"/>
                </a:cubicBezTo>
                <a:cubicBezTo>
                  <a:pt x="1164307" y="220667"/>
                  <a:pt x="1076787" y="417345"/>
                  <a:pt x="762303" y="583569"/>
                </a:cubicBezTo>
                <a:cubicBezTo>
                  <a:pt x="598357" y="622480"/>
                  <a:pt x="420203" y="641476"/>
                  <a:pt x="274109" y="580851"/>
                </a:cubicBezTo>
                <a:cubicBezTo>
                  <a:pt x="-52977" y="504404"/>
                  <a:pt x="-109451" y="165270"/>
                  <a:pt x="192528" y="69427"/>
                </a:cubicBezTo>
                <a:cubicBezTo>
                  <a:pt x="339789" y="-28383"/>
                  <a:pt x="482241" y="-41515"/>
                  <a:pt x="688528" y="16001"/>
                </a:cubicBezTo>
                <a:cubicBezTo>
                  <a:pt x="804924" y="-104642"/>
                  <a:pt x="964015" y="-149111"/>
                  <a:pt x="1029603" y="-22054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wedgeEllipseCallout">
                    <a:avLst>
                      <a:gd name="adj1" fmla="val 48516"/>
                      <a:gd name="adj2" fmla="val -8568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07A46-8ED0-90FC-9FDE-366CF044CB4E}"/>
              </a:ext>
            </a:extLst>
          </p:cNvPr>
          <p:cNvSpPr txBox="1"/>
          <p:nvPr/>
        </p:nvSpPr>
        <p:spPr>
          <a:xfrm>
            <a:off x="647502" y="1787738"/>
            <a:ext cx="6094378" cy="31393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Now we want the </a:t>
            </a:r>
            <a:r>
              <a:rPr lang="en-US" dirty="0" err="1"/>
              <a:t>SignatureBox</a:t>
            </a:r>
            <a:r>
              <a:rPr lang="en-US" dirty="0"/>
              <a:t> to interact with a </a:t>
            </a:r>
            <a:r>
              <a:rPr lang="en-US" dirty="0" err="1"/>
              <a:t>OneCS</a:t>
            </a:r>
            <a:r>
              <a:rPr lang="en-US" dirty="0"/>
              <a:t> application (the supervision and operation portal).</a:t>
            </a:r>
          </a:p>
          <a:p>
            <a:r>
              <a:rPr lang="en-US" dirty="0"/>
              <a:t>The </a:t>
            </a:r>
            <a:r>
              <a:rPr lang="en-US" dirty="0" err="1"/>
              <a:t>OneCS</a:t>
            </a:r>
            <a:r>
              <a:rPr lang="en-US" dirty="0"/>
              <a:t> application typically lives in the cloud. </a:t>
            </a:r>
          </a:p>
          <a:p>
            <a:r>
              <a:rPr lang="en-US" b="1" dirty="0"/>
              <a:t>If</a:t>
            </a:r>
            <a:r>
              <a:rPr lang="en-US" dirty="0"/>
              <a:t> the </a:t>
            </a:r>
            <a:r>
              <a:rPr lang="en-US" dirty="0" err="1"/>
              <a:t>SignatureBox</a:t>
            </a:r>
            <a:r>
              <a:rPr lang="en-US" dirty="0"/>
              <a:t> can be reached from the outside, we just need to declare the new </a:t>
            </a:r>
            <a:r>
              <a:rPr lang="en-US" dirty="0" err="1"/>
              <a:t>OneCS</a:t>
            </a:r>
            <a:r>
              <a:rPr lang="en-US" dirty="0"/>
              <a:t> remote on the </a:t>
            </a:r>
            <a:r>
              <a:rPr lang="en-US" dirty="0" err="1"/>
              <a:t>SignatureBox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2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OneCS</a:t>
            </a:r>
            <a:r>
              <a:rPr lang="en-US" dirty="0"/>
              <a:t> (can reach the </a:t>
            </a:r>
            <a:r>
              <a:rPr lang="en-US" dirty="0" err="1"/>
              <a:t>SignatureBox</a:t>
            </a:r>
            <a:r>
              <a:rPr lang="en-US" dirty="0"/>
              <a:t>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0EFF-DD86-3588-5686-FCEFF2B8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033940" cy="114381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dirty="0"/>
              <a:t>The name of this new Party is the same as the </a:t>
            </a:r>
            <a:r>
              <a:rPr lang="en-US" dirty="0" err="1"/>
              <a:t>DomainName</a:t>
            </a:r>
            <a:r>
              <a:rPr lang="en-US" dirty="0"/>
              <a:t>: this Party is the "domain controller"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F56BE-36E9-9C16-0573-8234C8D9F689}"/>
              </a:ext>
            </a:extLst>
          </p:cNvPr>
          <p:cNvSpPr txBox="1"/>
          <p:nvPr/>
        </p:nvSpPr>
        <p:spPr>
          <a:xfrm>
            <a:off x="7628106" y="1833428"/>
            <a:ext cx="441488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SignatureBox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PickingStation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"Name":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AFD25-AA21-5283-15FC-B790EE62F46D}"/>
              </a:ext>
            </a:extLst>
          </p:cNvPr>
          <p:cNvSpPr txBox="1"/>
          <p:nvPr/>
        </p:nvSpPr>
        <p:spPr>
          <a:xfrm>
            <a:off x="838201" y="2949401"/>
            <a:ext cx="396847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DomainName</a:t>
            </a:r>
            <a:r>
              <a:rPr lang="en-US" dirty="0"/>
              <a:t>": "</a:t>
            </a:r>
            <a:r>
              <a:rPr lang="en-US" dirty="0" err="1"/>
              <a:t>LaToulousaine</a:t>
            </a:r>
            <a:r>
              <a:rPr lang="en-US" dirty="0"/>
              <a:t>",</a:t>
            </a:r>
          </a:p>
          <a:p>
            <a:r>
              <a:rPr lang="en-US" dirty="0"/>
              <a:t>   "Local": {</a:t>
            </a:r>
          </a:p>
          <a:p>
            <a:r>
              <a:rPr lang="en-US" dirty="0"/>
              <a:t>    "Name": "</a:t>
            </a:r>
            <a:r>
              <a:rPr lang="en-US" b="1" dirty="0" err="1"/>
              <a:t>LaToulousaine</a:t>
            </a:r>
            <a:r>
              <a:rPr lang="en-US" dirty="0"/>
              <a:t>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"Remotes": [</a:t>
            </a:r>
          </a:p>
          <a:p>
            <a:r>
              <a:rPr lang="en-US" dirty="0"/>
              <a:t>  {</a:t>
            </a:r>
          </a:p>
          <a:p>
            <a:r>
              <a:rPr lang="en-US" dirty="0"/>
              <a:t>    "Name": "</a:t>
            </a:r>
            <a:r>
              <a:rPr lang="en-US" b="1" dirty="0" err="1"/>
              <a:t>SignatureBox</a:t>
            </a:r>
            <a:r>
              <a:rPr lang="en-US" dirty="0"/>
              <a:t>",</a:t>
            </a:r>
          </a:p>
          <a:p>
            <a:r>
              <a:rPr lang="en-US" dirty="0"/>
              <a:t>    </a:t>
            </a:r>
            <a:r>
              <a:rPr lang="en-US" b="1" dirty="0"/>
              <a:t>"Address": "65.12.13.14"</a:t>
            </a:r>
          </a:p>
          <a:p>
            <a:r>
              <a:rPr lang="en-US" dirty="0"/>
              <a:t>  }]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E17AC8F-FBF4-B06F-0002-2452720D9DA0}"/>
              </a:ext>
            </a:extLst>
          </p:cNvPr>
          <p:cNvSpPr/>
          <p:nvPr/>
        </p:nvSpPr>
        <p:spPr>
          <a:xfrm>
            <a:off x="4806680" y="4165274"/>
            <a:ext cx="2821426" cy="4748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Initiate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31EAFA31-65C4-FFEF-4B78-407CABE4FBDC}"/>
              </a:ext>
            </a:extLst>
          </p:cNvPr>
          <p:cNvSpPr/>
          <p:nvPr/>
        </p:nvSpPr>
        <p:spPr>
          <a:xfrm>
            <a:off x="4912468" y="4517578"/>
            <a:ext cx="2485417" cy="47481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2-ways exchange</a:t>
            </a:r>
          </a:p>
        </p:txBody>
      </p:sp>
    </p:spTree>
    <p:extLst>
      <p:ext uri="{BB962C8B-B14F-4D97-AF65-F5344CB8AC3E}">
        <p14:creationId xmlns:p14="http://schemas.microsoft.com/office/powerpoint/2010/main" val="108837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OneCS</a:t>
            </a:r>
            <a:r>
              <a:rPr lang="en-US" dirty="0"/>
              <a:t> (cannot reach the </a:t>
            </a:r>
            <a:r>
              <a:rPr lang="en-US" dirty="0" err="1"/>
              <a:t>SignatureBox</a:t>
            </a:r>
            <a:r>
              <a:rPr lang="en-US" dirty="0"/>
              <a:t>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0EFF-DD86-3588-5686-FCEFF2B8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11438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This may be the most common configuration pattern.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F56BE-36E9-9C16-0573-8234C8D9F689}"/>
              </a:ext>
            </a:extLst>
          </p:cNvPr>
          <p:cNvSpPr txBox="1"/>
          <p:nvPr/>
        </p:nvSpPr>
        <p:spPr>
          <a:xfrm>
            <a:off x="7512996" y="1690688"/>
            <a:ext cx="411317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"Production",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SignatureBox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"Trolley2"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PickingStation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"Name":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lvl="1"/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"Address": "27.28.29.30:3712"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AFD25-AA21-5283-15FC-B790EE62F46D}"/>
              </a:ext>
            </a:extLst>
          </p:cNvPr>
          <p:cNvSpPr txBox="1"/>
          <p:nvPr/>
        </p:nvSpPr>
        <p:spPr>
          <a:xfrm>
            <a:off x="565825" y="3270414"/>
            <a:ext cx="39283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DomainName</a:t>
            </a:r>
            <a:r>
              <a:rPr lang="en-US" dirty="0"/>
              <a:t>": "</a:t>
            </a:r>
            <a:r>
              <a:rPr lang="en-US" dirty="0" err="1"/>
              <a:t>LaToulousaine</a:t>
            </a:r>
            <a:r>
              <a:rPr lang="en-US" dirty="0"/>
              <a:t>",</a:t>
            </a:r>
          </a:p>
          <a:p>
            <a:r>
              <a:rPr lang="en-US" dirty="0"/>
              <a:t>  "Local": {</a:t>
            </a:r>
          </a:p>
          <a:p>
            <a:r>
              <a:rPr lang="en-US" dirty="0"/>
              <a:t>    "Name": "</a:t>
            </a:r>
            <a:r>
              <a:rPr lang="en-US" b="1" dirty="0" err="1"/>
              <a:t>LaToulousaine</a:t>
            </a:r>
            <a:r>
              <a:rPr lang="en-US" dirty="0"/>
              <a:t>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"Remotes": [</a:t>
            </a:r>
          </a:p>
          <a:p>
            <a:r>
              <a:rPr lang="en-US" dirty="0"/>
              <a:t>  {</a:t>
            </a:r>
          </a:p>
          <a:p>
            <a:r>
              <a:rPr lang="en-US" dirty="0"/>
              <a:t>    "Name": "</a:t>
            </a:r>
            <a:r>
              <a:rPr lang="en-US" dirty="0" err="1"/>
              <a:t>SignatureBox</a:t>
            </a:r>
            <a:r>
              <a:rPr lang="en-US" dirty="0"/>
              <a:t>“</a:t>
            </a:r>
          </a:p>
          <a:p>
            <a:r>
              <a:rPr lang="en-US" dirty="0"/>
              <a:t>  }]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35C4024-373F-D0A7-2707-CA2C02C6ED10}"/>
              </a:ext>
            </a:extLst>
          </p:cNvPr>
          <p:cNvSpPr/>
          <p:nvPr/>
        </p:nvSpPr>
        <p:spPr>
          <a:xfrm rot="10800000">
            <a:off x="4709400" y="4116634"/>
            <a:ext cx="2821426" cy="4748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Initiate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4A26B160-EE0D-09D3-3155-550502E8D3D1}"/>
              </a:ext>
            </a:extLst>
          </p:cNvPr>
          <p:cNvSpPr/>
          <p:nvPr/>
        </p:nvSpPr>
        <p:spPr>
          <a:xfrm>
            <a:off x="4912468" y="4517578"/>
            <a:ext cx="2485417" cy="47481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2-ways exchange</a:t>
            </a:r>
          </a:p>
        </p:txBody>
      </p:sp>
    </p:spTree>
    <p:extLst>
      <p:ext uri="{BB962C8B-B14F-4D97-AF65-F5344CB8AC3E}">
        <p14:creationId xmlns:p14="http://schemas.microsoft.com/office/powerpoint/2010/main" val="51217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LaToulousaine</a:t>
            </a:r>
            <a:r>
              <a:rPr lang="en-US" dirty="0"/>
              <a:t> is actually a SaaS customer…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0EFF-DD86-3588-5686-FCEFF2B8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640438" cy="48021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There is only one </a:t>
            </a:r>
            <a:r>
              <a:rPr lang="en-US" dirty="0" err="1"/>
              <a:t>OneCS</a:t>
            </a:r>
            <a:r>
              <a:rPr lang="en-US" dirty="0"/>
              <a:t> Application for multiple Domains. </a:t>
            </a:r>
            <a:r>
              <a:rPr lang="en-US" dirty="0" err="1"/>
              <a:t>LaToulousaine</a:t>
            </a:r>
            <a:r>
              <a:rPr lang="en-US" dirty="0"/>
              <a:t> is just one of them.</a:t>
            </a:r>
          </a:p>
          <a:p>
            <a:r>
              <a:rPr lang="en-US" dirty="0"/>
              <a:t>The SaaS offer scales horizontally:</a:t>
            </a:r>
          </a:p>
          <a:p>
            <a:pPr lvl="1"/>
            <a:r>
              <a:rPr lang="en-US" dirty="0"/>
              <a:t>A set of servers: </a:t>
            </a:r>
          </a:p>
          <a:p>
            <a:pPr lvl="2"/>
            <a:r>
              <a:rPr lang="en-US" dirty="0"/>
              <a:t>Parties are named “OneCS1”, “OneCS2”, “OneCS3”, etc. </a:t>
            </a:r>
          </a:p>
          <a:p>
            <a:pPr lvl="2"/>
            <a:r>
              <a:rPr lang="en-US" dirty="0"/>
              <a:t>And share the same Domain: “</a:t>
            </a:r>
            <a:r>
              <a:rPr lang="en-US" dirty="0" err="1"/>
              <a:t>SaasOneCS</a:t>
            </a:r>
            <a:r>
              <a:rPr lang="en-US" dirty="0"/>
              <a:t>” </a:t>
            </a:r>
          </a:p>
          <a:p>
            <a:r>
              <a:rPr lang="en-US" dirty="0"/>
              <a:t>Each </a:t>
            </a:r>
            <a:r>
              <a:rPr lang="en-US" dirty="0" err="1"/>
              <a:t>OneCS</a:t>
            </a:r>
            <a:r>
              <a:rPr lang="en-US" dirty="0"/>
              <a:t> application contains and defines the Domains they handle.</a:t>
            </a:r>
          </a:p>
        </p:txBody>
      </p:sp>
    </p:spTree>
    <p:extLst>
      <p:ext uri="{BB962C8B-B14F-4D97-AF65-F5344CB8AC3E}">
        <p14:creationId xmlns:p14="http://schemas.microsoft.com/office/powerpoint/2010/main" val="2883707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LaToulousaine</a:t>
            </a:r>
            <a:r>
              <a:rPr lang="en-US" dirty="0"/>
              <a:t> in SaaS is hosted by OneCS1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0EFF-DD86-3588-5686-FCEFF2B8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611" y="1511180"/>
            <a:ext cx="6225551" cy="539139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en-US" dirty="0"/>
              <a:t>The actual configuration of the Remote Party 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F56BE-36E9-9C16-0573-8234C8D9F689}"/>
              </a:ext>
            </a:extLst>
          </p:cNvPr>
          <p:cNvSpPr txBox="1"/>
          <p:nvPr/>
        </p:nvSpPr>
        <p:spPr>
          <a:xfrm>
            <a:off x="838201" y="1690688"/>
            <a:ext cx="378243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SaasOneCS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"OneCS1"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"Remotes":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"Trolley1"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"Trolley2"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PickingStation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F6B14-89CD-7852-A417-173476AAD20D}"/>
              </a:ext>
            </a:extLst>
          </p:cNvPr>
          <p:cNvSpPr txBox="1"/>
          <p:nvPr/>
        </p:nvSpPr>
        <p:spPr>
          <a:xfrm>
            <a:off x="5253245" y="1758853"/>
            <a:ext cx="387049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SaasOneCS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"Local": 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"Name":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"Remotes": [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"Name": "Trolley1"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"Name": "Trolley2"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PickingStation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66D3FA9A-1ACF-0F0F-A825-F055FC6DDD64}"/>
              </a:ext>
            </a:extLst>
          </p:cNvPr>
          <p:cNvSpPr/>
          <p:nvPr/>
        </p:nvSpPr>
        <p:spPr>
          <a:xfrm>
            <a:off x="1060315" y="3287949"/>
            <a:ext cx="58366" cy="260701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D7396A28-FA73-8D35-4321-6D645A98FA48}"/>
              </a:ext>
            </a:extLst>
          </p:cNvPr>
          <p:cNvSpPr/>
          <p:nvPr/>
        </p:nvSpPr>
        <p:spPr>
          <a:xfrm>
            <a:off x="5253245" y="2097663"/>
            <a:ext cx="58366" cy="36576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12D657E-3F85-7693-2306-7CDBA691D24C}"/>
              </a:ext>
            </a:extLst>
          </p:cNvPr>
          <p:cNvSpPr/>
          <p:nvPr/>
        </p:nvSpPr>
        <p:spPr>
          <a:xfrm>
            <a:off x="8987555" y="2652139"/>
            <a:ext cx="272374" cy="72957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9A765-8C50-8FC6-1C65-47EDA54ED74A}"/>
              </a:ext>
            </a:extLst>
          </p:cNvPr>
          <p:cNvSpPr txBox="1"/>
          <p:nvPr/>
        </p:nvSpPr>
        <p:spPr>
          <a:xfrm>
            <a:off x="9224261" y="2832260"/>
            <a:ext cx="191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Domain Controller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D1D9BD-FC2F-C5A4-41E3-48156C379A9A}"/>
              </a:ext>
            </a:extLst>
          </p:cNvPr>
          <p:cNvSpPr txBox="1">
            <a:spLocks/>
          </p:cNvSpPr>
          <p:nvPr/>
        </p:nvSpPr>
        <p:spPr>
          <a:xfrm>
            <a:off x="5311612" y="5944614"/>
            <a:ext cx="5670616" cy="53913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"</a:t>
            </a:r>
            <a:r>
              <a:rPr lang="en-US" dirty="0" err="1"/>
              <a:t>EnvironmentName</a:t>
            </a:r>
            <a:r>
              <a:rPr lang="en-US" dirty="0"/>
              <a:t>" is also under control of the Remote definition.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653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690-E7B9-FB17-D3F9-CD95B931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5251" cy="1325563"/>
          </a:xfrm>
        </p:spPr>
        <p:txBody>
          <a:bodyPr/>
          <a:lstStyle/>
          <a:p>
            <a:r>
              <a:rPr lang="en-US" dirty="0" err="1"/>
              <a:t>Oups</a:t>
            </a:r>
            <a:r>
              <a:rPr lang="en-US" dirty="0"/>
              <a:t>! </a:t>
            </a:r>
            <a:r>
              <a:rPr lang="en-US" dirty="0" err="1"/>
              <a:t>LaToulousaine</a:t>
            </a:r>
            <a:r>
              <a:rPr lang="en-US" dirty="0"/>
              <a:t> is NOT in production yet!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88298F33-3702-CB79-CA00-2B1B2EB3E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494569"/>
              </p:ext>
            </p:extLst>
          </p:nvPr>
        </p:nvGraphicFramePr>
        <p:xfrm>
          <a:off x="4620639" y="4387432"/>
          <a:ext cx="7102812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1957">
                  <a:extLst>
                    <a:ext uri="{9D8B030D-6E8A-4147-A177-3AD203B41FA5}">
                      <a16:colId xmlns:a16="http://schemas.microsoft.com/office/drawing/2014/main" val="1002437713"/>
                    </a:ext>
                  </a:extLst>
                </a:gridCol>
                <a:gridCol w="3600855">
                  <a:extLst>
                    <a:ext uri="{9D8B030D-6E8A-4147-A177-3AD203B41FA5}">
                      <a16:colId xmlns:a16="http://schemas.microsoft.com/office/drawing/2014/main" val="2669333865"/>
                    </a:ext>
                  </a:extLst>
                </a:gridCol>
              </a:tblGrid>
              <a:tr h="2632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Party Full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680113"/>
                  </a:ext>
                </a:extLst>
              </a:tr>
              <a:tr h="2632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SaasOneCS</a:t>
                      </a:r>
                      <a:r>
                        <a:rPr lang="en-US" sz="1600" dirty="0"/>
                        <a:t>/Production/OneCS1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server n°1 of the </a:t>
                      </a:r>
                      <a:r>
                        <a:rPr lang="en-US" sz="1600" dirty="0" err="1"/>
                        <a:t>SaasOffer</a:t>
                      </a:r>
                      <a:r>
                        <a:rPr lang="en-US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81413"/>
                  </a:ext>
                </a:extLst>
              </a:tr>
              <a:tr h="2632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SaasOneCS</a:t>
                      </a:r>
                      <a:r>
                        <a:rPr lang="en-US" sz="1600" dirty="0"/>
                        <a:t>/Staging/</a:t>
                      </a:r>
                      <a:r>
                        <a:rPr lang="en-US" sz="1600" dirty="0" err="1"/>
                        <a:t>LaToulousaine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Host of the Domain in the </a:t>
                      </a:r>
                      <a:r>
                        <a:rPr lang="en-US" sz="1600" dirty="0" err="1"/>
                        <a:t>Saas</a:t>
                      </a:r>
                      <a:r>
                        <a:rPr lang="en-US" sz="1600" dirty="0"/>
                        <a:t> offer.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281902"/>
                  </a:ext>
                </a:extLst>
              </a:tr>
              <a:tr h="2632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LaToulousaine</a:t>
                      </a:r>
                      <a:r>
                        <a:rPr lang="en-US" sz="1600" dirty="0"/>
                        <a:t>/Staging/</a:t>
                      </a:r>
                      <a:r>
                        <a:rPr lang="en-US" sz="1600" dirty="0" err="1"/>
                        <a:t>LaToulousaine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controller of the customer domain.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232328"/>
                  </a:ext>
                </a:extLst>
              </a:tr>
              <a:tr h="757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LaToulousaine</a:t>
                      </a:r>
                      <a:r>
                        <a:rPr lang="en-US" sz="1600" dirty="0"/>
                        <a:t>/Staging/Trolley1</a:t>
                      </a:r>
                      <a:br>
                        <a:rPr lang="en-US" sz="1600" dirty="0"/>
                      </a:br>
                      <a:r>
                        <a:rPr lang="en-US" sz="1600" dirty="0" err="1"/>
                        <a:t>LaToulousaine</a:t>
                      </a:r>
                      <a:r>
                        <a:rPr lang="en-US" sz="1600" dirty="0"/>
                        <a:t>/Staging/Trolley2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customer’s agents.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5018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EF56BE-36E9-9C16-0573-8234C8D9F689}"/>
              </a:ext>
            </a:extLst>
          </p:cNvPr>
          <p:cNvSpPr txBox="1"/>
          <p:nvPr/>
        </p:nvSpPr>
        <p:spPr>
          <a:xfrm>
            <a:off x="838201" y="1544768"/>
            <a:ext cx="378243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SaasOneCS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"Environment": "Production"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"OneCS1"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"Environment": "Staging"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"Domain":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"Remotes": [ … 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F6B14-89CD-7852-A417-173476AAD20D}"/>
              </a:ext>
            </a:extLst>
          </p:cNvPr>
          <p:cNvSpPr txBox="1"/>
          <p:nvPr/>
        </p:nvSpPr>
        <p:spPr>
          <a:xfrm>
            <a:off x="6096000" y="1544768"/>
            <a:ext cx="387049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SaasOneCS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"Environment": "Staging"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"Domain": 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"Environment": "Staging"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"Local": 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"Name":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LaToulousaine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"Remotes": [ … 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4E13CAF-C52E-CDC4-F2EC-218FF7FDF560}"/>
              </a:ext>
            </a:extLst>
          </p:cNvPr>
          <p:cNvSpPr/>
          <p:nvPr/>
        </p:nvSpPr>
        <p:spPr>
          <a:xfrm>
            <a:off x="3988340" y="3103117"/>
            <a:ext cx="311286" cy="11284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CD21529-3AEE-6DC4-B3A4-36DD460C3AB7}"/>
              </a:ext>
            </a:extLst>
          </p:cNvPr>
          <p:cNvSpPr/>
          <p:nvPr/>
        </p:nvSpPr>
        <p:spPr>
          <a:xfrm rot="10800000">
            <a:off x="5784714" y="1704229"/>
            <a:ext cx="311286" cy="23230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C5BC6D-74F1-02F9-F999-C814C8A3B146}"/>
              </a:ext>
            </a:extLst>
          </p:cNvPr>
          <p:cNvCxnSpPr>
            <a:stCxn id="5" idx="1"/>
            <a:endCxn id="9" idx="1"/>
          </p:cNvCxnSpPr>
          <p:nvPr/>
        </p:nvCxnSpPr>
        <p:spPr>
          <a:xfrm flipV="1">
            <a:off x="4299626" y="2865737"/>
            <a:ext cx="1485088" cy="801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24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CAA5-AE8B-13AE-3860-23AA77D3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LaToulousaine</a:t>
            </a:r>
            <a:r>
              <a:rPr lang="en-US" dirty="0"/>
              <a:t> goes to London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14D5-3E2D-7E2E-F06E-5A1F413D3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may keep the single </a:t>
            </a:r>
            <a:r>
              <a:rPr lang="en-US" dirty="0" err="1"/>
              <a:t>LaToulousaine</a:t>
            </a:r>
            <a:r>
              <a:rPr lang="en-US" dirty="0"/>
              <a:t> domain and define the English Agents in them… </a:t>
            </a:r>
          </a:p>
          <a:p>
            <a:pPr lvl="1"/>
            <a:r>
              <a:rPr lang="en-US" dirty="0"/>
              <a:t>… and deal with “Trolley1” and “London_Trolley1”.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This less than ideal!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do better but this requires a small adjustment to the Domain notion.</a:t>
            </a:r>
          </a:p>
          <a:p>
            <a:pPr lvl="1"/>
            <a:r>
              <a:rPr lang="en-US" dirty="0" err="1"/>
              <a:t>LaToulousaine</a:t>
            </a:r>
            <a:r>
              <a:rPr lang="en-US" dirty="0"/>
              <a:t> domain must continue to exists: its logs are grouped under this root key, a repository exists for “</a:t>
            </a:r>
            <a:r>
              <a:rPr lang="en-US" dirty="0" err="1"/>
              <a:t>LaToulousaine</a:t>
            </a:r>
            <a:r>
              <a:rPr lang="en-US" dirty="0"/>
              <a:t>” (and may be a Stack), we earn money from “</a:t>
            </a:r>
            <a:r>
              <a:rPr lang="en-US" dirty="0" err="1"/>
              <a:t>LaToulousaine</a:t>
            </a:r>
            <a:r>
              <a:rPr lang="en-US" dirty="0"/>
              <a:t>”, </a:t>
            </a:r>
            <a:r>
              <a:rPr lang="en-US" dirty="0" err="1"/>
              <a:t>OneCS</a:t>
            </a:r>
            <a:r>
              <a:rPr lang="en-US" dirty="0"/>
              <a:t> must continue to have a “</a:t>
            </a:r>
            <a:r>
              <a:rPr lang="en-US" dirty="0" err="1"/>
              <a:t>LaToulousaine</a:t>
            </a:r>
            <a:r>
              <a:rPr lang="en-US" dirty="0"/>
              <a:t>” landing page with its users (no matter how much warehouses there are and where they are).</a:t>
            </a:r>
          </a:p>
        </p:txBody>
      </p:sp>
    </p:spTree>
    <p:extLst>
      <p:ext uri="{BB962C8B-B14F-4D97-AF65-F5344CB8AC3E}">
        <p14:creationId xmlns:p14="http://schemas.microsoft.com/office/powerpoint/2010/main" val="243840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2F0F-8616-38EC-EDA0-4EBA9260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“Extended Domain Name”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53221-6DCC-F2B1-538E-49199CB44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allow the </a:t>
            </a:r>
            <a:r>
              <a:rPr lang="en-US" dirty="0" err="1"/>
              <a:t>DomainName</a:t>
            </a:r>
            <a:r>
              <a:rPr lang="en-US" dirty="0"/>
              <a:t> to contain “/”.</a:t>
            </a:r>
          </a:p>
          <a:p>
            <a:r>
              <a:rPr lang="en-US" dirty="0"/>
              <a:t>“</a:t>
            </a:r>
            <a:r>
              <a:rPr lang="en-US" dirty="0" err="1"/>
              <a:t>LaToulousaine</a:t>
            </a:r>
            <a:r>
              <a:rPr lang="en-US" dirty="0"/>
              <a:t>/London” and “</a:t>
            </a:r>
            <a:r>
              <a:rPr lang="en-US" dirty="0" err="1"/>
              <a:t>LaToulousaine</a:t>
            </a:r>
            <a:r>
              <a:rPr lang="en-US" dirty="0"/>
              <a:t>/France/Toulouse” are valid domain names.</a:t>
            </a:r>
          </a:p>
          <a:p>
            <a:r>
              <a:rPr lang="en-US" dirty="0"/>
              <a:t>Everything that has been said about the fundamental triple Domain/Environment/Party is still true.</a:t>
            </a:r>
          </a:p>
          <a:p>
            <a:pPr lvl="1"/>
            <a:r>
              <a:rPr lang="en-US" dirty="0"/>
              <a:t>We don’t manage a tree of resources.</a:t>
            </a:r>
          </a:p>
          <a:p>
            <a:pPr lvl="1"/>
            <a:r>
              <a:rPr lang="en-US" dirty="0"/>
              <a:t>The 2-levels only architecture of the Application Identity is unchanged.</a:t>
            </a:r>
          </a:p>
          <a:p>
            <a:r>
              <a:rPr lang="en-US" dirty="0"/>
              <a:t>Only the “Full Path” of a Party must be redesigned: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Environment</a:t>
            </a:r>
            <a:r>
              <a:rPr lang="en-US" dirty="0"/>
              <a:t> is injected after the first part of the domain name.</a:t>
            </a:r>
          </a:p>
        </p:txBody>
      </p:sp>
    </p:spTree>
    <p:extLst>
      <p:ext uri="{BB962C8B-B14F-4D97-AF65-F5344CB8AC3E}">
        <p14:creationId xmlns:p14="http://schemas.microsoft.com/office/powerpoint/2010/main" val="1320783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4E8B-9831-25D5-4048-520F1F26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D/E/P Party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FBCC-C4FE-178F-C6A4-F5F4B3B0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7979"/>
          </a:xfrm>
        </p:spPr>
        <p:txBody>
          <a:bodyPr>
            <a:normAutofit/>
          </a:bodyPr>
          <a:lstStyle/>
          <a:p>
            <a:r>
              <a:rPr lang="en-US" dirty="0"/>
              <a:t>The logical identity is a triple of string “</a:t>
            </a:r>
            <a:r>
              <a:rPr lang="en-US" dirty="0" err="1"/>
              <a:t>DomainName</a:t>
            </a:r>
            <a:r>
              <a:rPr lang="en-US" dirty="0"/>
              <a:t>”, ”</a:t>
            </a:r>
            <a:r>
              <a:rPr lang="en-US" dirty="0" err="1"/>
              <a:t>EnvironmentName</a:t>
            </a:r>
            <a:r>
              <a:rPr lang="en-US" dirty="0"/>
              <a:t>”, “</a:t>
            </a:r>
            <a:r>
              <a:rPr lang="en-US" dirty="0" err="1"/>
              <a:t>PartyName</a:t>
            </a:r>
            <a:r>
              <a:rPr lang="en-US" dirty="0"/>
              <a:t>”.</a:t>
            </a:r>
          </a:p>
          <a:p>
            <a:r>
              <a:rPr lang="en-US" dirty="0"/>
              <a:t>Its full name is a </a:t>
            </a:r>
            <a:r>
              <a:rPr lang="en-US" dirty="0" err="1"/>
              <a:t>NormalizedPath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ultimately defaults to “</a:t>
            </a:r>
            <a:r>
              <a:rPr lang="en-US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Undefined/Development/Unknown”.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142BB9-7E7C-5474-04FE-CD0469B9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560791"/>
              </p:ext>
            </p:extLst>
          </p:nvPr>
        </p:nvGraphicFramePr>
        <p:xfrm>
          <a:off x="1198125" y="3239311"/>
          <a:ext cx="8977007" cy="2216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701">
                  <a:extLst>
                    <a:ext uri="{9D8B030D-6E8A-4147-A177-3AD203B41FA5}">
                      <a16:colId xmlns:a16="http://schemas.microsoft.com/office/drawing/2014/main" val="883587408"/>
                    </a:ext>
                  </a:extLst>
                </a:gridCol>
                <a:gridCol w="5418306">
                  <a:extLst>
                    <a:ext uri="{9D8B030D-6E8A-4147-A177-3AD203B41FA5}">
                      <a16:colId xmlns:a16="http://schemas.microsoft.com/office/drawing/2014/main" val="517308239"/>
                    </a:ext>
                  </a:extLst>
                </a:gridCol>
              </a:tblGrid>
              <a:tr h="2988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917829"/>
                  </a:ext>
                </a:extLst>
              </a:tr>
              <a:tr h="720197">
                <a:tc>
                  <a:txBody>
                    <a:bodyPr/>
                    <a:lstStyle/>
                    <a:p>
                      <a:r>
                        <a:rPr lang="en-US" dirty="0"/>
                        <a:t>D: </a:t>
                      </a:r>
                      <a:r>
                        <a:rPr lang="en-US" dirty="0" err="1"/>
                        <a:t>LaToulousaine</a:t>
                      </a:r>
                      <a:r>
                        <a:rPr lang="en-US" dirty="0"/>
                        <a:t>/France/Toulouse</a:t>
                      </a:r>
                    </a:p>
                    <a:p>
                      <a:r>
                        <a:rPr lang="en-US" dirty="0"/>
                        <a:t>E: Production</a:t>
                      </a:r>
                    </a:p>
                    <a:p>
                      <a:r>
                        <a:rPr lang="en-US" dirty="0"/>
                        <a:t>P: Trolley45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LaToulousaine</a:t>
                      </a:r>
                      <a:r>
                        <a:rPr lang="en-US" dirty="0"/>
                        <a:t>/Production/France/Toulouse/Trolley45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824639"/>
                  </a:ext>
                </a:extLst>
              </a:tr>
              <a:tr h="936257">
                <a:tc>
                  <a:txBody>
                    <a:bodyPr/>
                    <a:lstStyle/>
                    <a:p>
                      <a:r>
                        <a:rPr lang="en-US" dirty="0"/>
                        <a:t>D: </a:t>
                      </a:r>
                      <a:r>
                        <a:rPr lang="en-US" dirty="0" err="1"/>
                        <a:t>LaToulousaine</a:t>
                      </a:r>
                      <a:r>
                        <a:rPr lang="en-US" dirty="0"/>
                        <a:t>/London</a:t>
                      </a:r>
                    </a:p>
                    <a:p>
                      <a:r>
                        <a:rPr lang="en-US" dirty="0"/>
                        <a:t>E: Development</a:t>
                      </a:r>
                    </a:p>
                    <a:p>
                      <a:r>
                        <a:rPr lang="en-US" dirty="0"/>
                        <a:t>P: </a:t>
                      </a:r>
                      <a:r>
                        <a:rPr lang="en-US" dirty="0" err="1"/>
                        <a:t>RobotTrolley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LaToulousaine</a:t>
                      </a:r>
                      <a:r>
                        <a:rPr lang="en-US" dirty="0"/>
                        <a:t>/Development/London/</a:t>
                      </a:r>
                      <a:r>
                        <a:rPr lang="en-US" dirty="0" err="1"/>
                        <a:t>RobotTrolley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69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33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B2F6-6A3B-0600-9CA6-236A6AB6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and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752E-3F69-B30A-607A-3285A0B1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keys appear in the configuration.</a:t>
            </a:r>
          </a:p>
          <a:p>
            <a:r>
              <a:rPr lang="en-US" dirty="0"/>
              <a:t>At least one X509 certificate must be available per Party.</a:t>
            </a:r>
          </a:p>
          <a:p>
            <a:pPr lvl="1"/>
            <a:r>
              <a:rPr lang="en-US" dirty="0" err="1"/>
              <a:t>SaasOneCS</a:t>
            </a:r>
            <a:r>
              <a:rPr lang="en-US" dirty="0"/>
              <a:t>/Production/OneCS1 can work with a single certificate.</a:t>
            </a:r>
          </a:p>
          <a:p>
            <a:r>
              <a:rPr lang="en-US" dirty="0"/>
              <a:t>Keys are managed “by design” in a store by </a:t>
            </a:r>
            <a:r>
              <a:rPr lang="en-US" dirty="0" err="1"/>
              <a:t>CK.AppIdentity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simplest store is a folder with folders and/or files that contain the certificate files.</a:t>
            </a:r>
          </a:p>
          <a:p>
            <a:pPr lvl="1"/>
            <a:r>
              <a:rPr lang="en-US" dirty="0"/>
              <a:t>Stronger key store may be implemented later.</a:t>
            </a:r>
          </a:p>
          <a:p>
            <a:r>
              <a:rPr lang="en-US" dirty="0"/>
              <a:t>Any relationship between 2 parties can be protected with a dedicated pair of keys.</a:t>
            </a:r>
          </a:p>
        </p:txBody>
      </p:sp>
    </p:spTree>
    <p:extLst>
      <p:ext uri="{BB962C8B-B14F-4D97-AF65-F5344CB8AC3E}">
        <p14:creationId xmlns:p14="http://schemas.microsoft.com/office/powerpoint/2010/main" val="2945111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35EA-9815-CA8C-A80D-1857A5FD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A97AC-5D6A-7874-9EEB-5565D4A19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8392"/>
          </a:xfrm>
        </p:spPr>
        <p:txBody>
          <a:bodyPr/>
          <a:lstStyle/>
          <a:p>
            <a:r>
              <a:rPr lang="en-US" dirty="0"/>
              <a:t>Describing and configuring external services.</a:t>
            </a:r>
          </a:p>
          <a:p>
            <a:pPr lvl="1"/>
            <a:r>
              <a:rPr lang="en-US" dirty="0"/>
              <a:t>Package First…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D17C1F-A51E-C522-33E4-E7D2F26CB586}"/>
              </a:ext>
            </a:extLst>
          </p:cNvPr>
          <p:cNvSpPr txBox="1">
            <a:spLocks/>
          </p:cNvSpPr>
          <p:nvPr/>
        </p:nvSpPr>
        <p:spPr>
          <a:xfrm>
            <a:off x="838200" y="2714017"/>
            <a:ext cx="6749374" cy="377885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"Signature",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EnvironmentName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"Production",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CodeCenter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"Undefined"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GitOpenSource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"GitHub": 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"Organization": "Signature-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SecretToken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"45kKJDHldf57dsj87f6fefAsdjhfsdfzr654ZEd5zf"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"Undefined",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"GitHub": 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"Organization": "Signature-Code",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SecretToken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“Lkjdchbej236ecec6876edc3evqwx57d2455zefdaa"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D65CE2-9D81-5111-5961-A05FE0BFA74C}"/>
              </a:ext>
            </a:extLst>
          </p:cNvPr>
          <p:cNvSpPr txBox="1">
            <a:spLocks/>
          </p:cNvSpPr>
          <p:nvPr/>
        </p:nvSpPr>
        <p:spPr>
          <a:xfrm>
            <a:off x="7511374" y="3122579"/>
            <a:ext cx="4206144" cy="2529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“Undefined” is the reserved Domain name that means “external to the System”</a:t>
            </a:r>
          </a:p>
          <a:p>
            <a:r>
              <a:rPr lang="en-US" dirty="0"/>
              <a:t>We don’t need an “Address”: this remote is a </a:t>
            </a:r>
            <a:r>
              <a:rPr lang="en-US" dirty="0" err="1"/>
              <a:t>GitHubApp</a:t>
            </a:r>
            <a:r>
              <a:rPr lang="en-US" dirty="0"/>
              <a:t> because of the “GitHub” configuration key. </a:t>
            </a:r>
          </a:p>
          <a:p>
            <a:r>
              <a:rPr lang="en-US" dirty="0"/>
              <a:t>The package </a:t>
            </a:r>
            <a:r>
              <a:rPr lang="en-US" dirty="0" err="1"/>
              <a:t>CK.AppIdentity.GitHubApp</a:t>
            </a:r>
            <a:r>
              <a:rPr lang="en-US" dirty="0"/>
              <a:t> handles this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34365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245F-DD26-ADCC-6CD2-D5ED5F55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Configuration Model</a:t>
            </a:r>
          </a:p>
        </p:txBody>
      </p:sp>
      <p:pic>
        <p:nvPicPr>
          <p:cNvPr id="9" name="Content Placeholder 8" descr="Class diagram.">
            <a:extLst>
              <a:ext uri="{FF2B5EF4-FFF2-40B4-BE49-F238E27FC236}">
                <a16:creationId xmlns:a16="http://schemas.microsoft.com/office/drawing/2014/main" id="{EB82A400-7337-4C1F-868E-D34B84F5D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25" y="1585180"/>
            <a:ext cx="11794531" cy="4802187"/>
          </a:xfrm>
        </p:spPr>
      </p:pic>
    </p:spTree>
    <p:extLst>
      <p:ext uri="{BB962C8B-B14F-4D97-AF65-F5344CB8AC3E}">
        <p14:creationId xmlns:p14="http://schemas.microsoft.com/office/powerpoint/2010/main" val="2483408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BC01-7B97-621A-1FC3-D810DD84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Exploit the .Net Configuration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74851-0267-8A9E-EE42-41E103A0A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6"/>
          </a:xfrm>
        </p:spPr>
        <p:txBody>
          <a:bodyPr/>
          <a:lstStyle/>
          <a:p>
            <a:r>
              <a:rPr lang="en-US" sz="2800">
                <a:solidFill>
                  <a:srgbClr val="000000"/>
                </a:solidFill>
                <a:latin typeface="Consolas" panose="020B0609020204030204" pitchFamily="49" charset="0"/>
              </a:rPr>
              <a:t>ApplicationIdentityConfiguration </a:t>
            </a:r>
            <a:r>
              <a:rPr lang="en-US"/>
              <a:t>supports any .Net Configuration source.</a:t>
            </a:r>
            <a:br>
              <a:rPr lang="en-US"/>
            </a:br>
            <a:endParaRPr lang="en-US" sz="1400"/>
          </a:p>
          <a:p>
            <a:endParaRPr lang="en-US"/>
          </a:p>
          <a:p>
            <a:endParaRPr lang="en-US"/>
          </a:p>
          <a:p>
            <a:r>
              <a:rPr lang="en-US"/>
              <a:t>Provides 2 helpers and MutableConfigurationSection and ImmutableConfigurationSection to support direct manipulation code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48426-17BB-0C9E-781D-10055513B8B9}"/>
              </a:ext>
            </a:extLst>
          </p:cNvPr>
          <p:cNvSpPr txBox="1"/>
          <p:nvPr/>
        </p:nvSpPr>
        <p:spPr>
          <a:xfrm>
            <a:off x="1066803" y="4760763"/>
            <a:ext cx="106093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configuration = ApplicationIdentityConfiguration.Create( monitor, c =&gt;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c[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"DomainName"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"Test"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c[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"Local:Name"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"Listener"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c[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"Remotes:0:Name"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"Sender"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c[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"AllowFeatures"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"BlobChannel"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 );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B2343-7BBF-FDBA-3857-E5364B963659}"/>
              </a:ext>
            </a:extLst>
          </p:cNvPr>
          <p:cNvSpPr txBox="1"/>
          <p:nvPr/>
        </p:nvSpPr>
        <p:spPr>
          <a:xfrm>
            <a:off x="644770" y="2754585"/>
            <a:ext cx="111838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ApplicationIdentityConfiguration? Create( IActivityMonitor monitor,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				IConfigurationSection configuration,</a:t>
            </a: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						string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? defaultLocalName =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						string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? defaultEnvironmentName =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"Development"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5786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E005-AE23-CC8A-D9FD-5DE8B523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Runtime Model</a:t>
            </a:r>
            <a:endParaRPr lang="en-US" dirty="0"/>
          </a:p>
        </p:txBody>
      </p:sp>
      <p:pic>
        <p:nvPicPr>
          <p:cNvPr id="10" name="Content Placeholder 9" descr="Diagram&#10;&#10;Description automatically generated">
            <a:extLst>
              <a:ext uri="{FF2B5EF4-FFF2-40B4-BE49-F238E27FC236}">
                <a16:creationId xmlns:a16="http://schemas.microsoft.com/office/drawing/2014/main" id="{C7A97C5F-BEC2-106C-7C1F-260735E04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938" y="269631"/>
            <a:ext cx="4963777" cy="6223244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C3E3FC0-3C38-85FF-9917-A63D6C4B2A74}"/>
              </a:ext>
            </a:extLst>
          </p:cNvPr>
          <p:cNvSpPr txBox="1">
            <a:spLocks/>
          </p:cNvSpPr>
          <p:nvPr/>
        </p:nvSpPr>
        <p:spPr>
          <a:xfrm>
            <a:off x="117232" y="1825624"/>
            <a:ext cx="6541476" cy="46672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Root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ApplicationIdentityService</a:t>
            </a:r>
            <a:r>
              <a:rPr lang="en-US" dirty="0"/>
              <a:t> is an automatic hosted service singleton.</a:t>
            </a:r>
          </a:p>
          <a:p>
            <a:r>
              <a:rPr lang="en-US" dirty="0"/>
              <a:t>A Remote can define a Domain.</a:t>
            </a:r>
          </a:p>
          <a:p>
            <a:r>
              <a:rPr lang="en-US" dirty="0"/>
              <a:t>New Remotes can be added dynamically (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AddDynamicRemoteAsync</a:t>
            </a:r>
            <a:r>
              <a:rPr lang="en-US" dirty="0"/>
              <a:t>).</a:t>
            </a:r>
          </a:p>
          <a:p>
            <a:r>
              <a:rPr lang="en-US" dirty="0"/>
              <a:t>Only dynamic Remotes can be destroyed (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SetDestroyed</a:t>
            </a:r>
            <a:r>
              <a:rPr lang="en-US" dirty="0"/>
              <a:t> or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DestroyAsync</a:t>
            </a:r>
            <a:r>
              <a:rPr lang="en-US" dirty="0"/>
              <a:t>).</a:t>
            </a:r>
          </a:p>
          <a:p>
            <a:r>
              <a:rPr lang="en-US" dirty="0"/>
              <a:t>Thread safety</a:t>
            </a:r>
          </a:p>
          <a:p>
            <a:pPr lvl="1"/>
            <a:r>
              <a:rPr lang="en-US" dirty="0"/>
              <a:t>Once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InitializationTask</a:t>
            </a:r>
            <a:r>
              <a:rPr lang="en-US" dirty="0"/>
              <a:t> is resolved, everything is stable.</a:t>
            </a:r>
          </a:p>
          <a:p>
            <a:pPr lvl="1"/>
            <a:r>
              <a:rPr lang="en-US" dirty="0"/>
              <a:t>A background micro agent handles the dynamic Remotes mutations.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97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CD06-D47B-E95B-1EEA-8DBB232E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“Features”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983B-5F64-FFC1-70BD-79B40405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Developer uses Features.</a:t>
            </a:r>
          </a:p>
          <a:p>
            <a:r>
              <a:rPr lang="en-US" dirty="0"/>
              <a:t>Features are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IEnumerable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> available on:</a:t>
            </a:r>
          </a:p>
          <a:p>
            <a:pPr lvl="1"/>
            <a:r>
              <a:rPr lang="en-US" dirty="0"/>
              <a:t>The root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ApplicationIdentityService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Local and Remote parties (but not on the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DomainApplicationIdentity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AddFeature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feature )</a:t>
            </a:r>
            <a:r>
              <a:rPr lang="en-US" dirty="0"/>
              <a:t> and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RemoveFeature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feature 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/>
          </a:p>
          <a:p>
            <a:r>
              <a:rPr lang="en-US" dirty="0"/>
              <a:t>One can add and remove a Feature “from the outside”:</a:t>
            </a:r>
          </a:p>
          <a:p>
            <a:pPr lvl="1"/>
            <a:r>
              <a:rPr lang="en-US" dirty="0"/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AddFeature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feature )</a:t>
            </a:r>
          </a:p>
          <a:p>
            <a:pPr lvl="1"/>
            <a:r>
              <a:rPr lang="en-US" dirty="0"/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RemoveFeature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feature )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But Feature are primarily instantiated, configured, added to and removed from the relevant parties thanks to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ApplicationIdentityFeatureDriver</a:t>
            </a:r>
            <a:r>
              <a:rPr lang="en-US" dirty="0"/>
              <a:t> specialized services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543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EB0FE-B752-52E9-DFC1-C32DC228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Driver</a:t>
            </a:r>
          </a:p>
        </p:txBody>
      </p:sp>
      <p:pic>
        <p:nvPicPr>
          <p:cNvPr id="9" name="Content Placeholder 8" descr="Graphical user interface, text">
            <a:extLst>
              <a:ext uri="{FF2B5EF4-FFF2-40B4-BE49-F238E27FC236}">
                <a16:creationId xmlns:a16="http://schemas.microsoft.com/office/drawing/2014/main" id="{3CFA42ED-F5B9-C118-B2B2-15CE4E6B3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973" y="156674"/>
            <a:ext cx="7399243" cy="6544652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77EFC9A-B42F-2335-F286-66BC9143F1D7}"/>
              </a:ext>
            </a:extLst>
          </p:cNvPr>
          <p:cNvSpPr txBox="1">
            <a:spLocks/>
          </p:cNvSpPr>
          <p:nvPr/>
        </p:nvSpPr>
        <p:spPr>
          <a:xfrm>
            <a:off x="117232" y="1825624"/>
            <a:ext cx="4607168" cy="4667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Setup the whole service.</a:t>
            </a:r>
          </a:p>
          <a:p>
            <a:r>
              <a:rPr lang="en-US" sz="2400" dirty="0"/>
              <a:t>Setup new dynamic Remotes.</a:t>
            </a:r>
          </a:p>
          <a:p>
            <a:r>
              <a:rPr lang="en-US" sz="2400" dirty="0"/>
              <a:t>Teardown destroyed Remotes.</a:t>
            </a:r>
          </a:p>
          <a:p>
            <a:r>
              <a:rPr lang="en-US" dirty="0"/>
              <a:t>Teardown the whole service.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feature driver type name MUST be suffixed with '</a:t>
            </a:r>
            <a:r>
              <a:rPr lang="en-US" dirty="0" err="1"/>
              <a:t>FeatureDriver</a:t>
            </a:r>
            <a:r>
              <a:rPr lang="en-US" dirty="0"/>
              <a:t>'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498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F962-D950-EB5B-C8CD-82EC873A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Opt-In/Out and Allow/</a:t>
            </a:r>
            <a:r>
              <a:rPr lang="en-US" dirty="0" err="1"/>
              <a:t>DisallowFeatures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0683-E16F-BEF2-A1A6-603A2557D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4911"/>
          </a:xfrm>
        </p:spPr>
        <p:txBody>
          <a:bodyPr/>
          <a:lstStyle/>
          <a:p>
            <a:r>
              <a:rPr lang="en-US" dirty="0"/>
              <a:t>Features can be opt-in or opt-out.</a:t>
            </a:r>
          </a:p>
          <a:p>
            <a:pPr lvl="1"/>
            <a:r>
              <a:rPr lang="en-US" dirty="0"/>
              <a:t>This is provided when calling the base </a:t>
            </a:r>
            <a:r>
              <a:rPr lang="en-US" sz="1800" dirty="0" err="1">
                <a:latin typeface="Consolas" panose="020B0609020204030204" pitchFamily="49" charset="0"/>
              </a:rPr>
              <a:t>ApplicationIdentityFeatureDriver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constructor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.</a:t>
            </a:r>
          </a:p>
          <a:p>
            <a:pPr lvl="1"/>
            <a:endParaRPr lang="en-US" sz="24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lvl="1"/>
            <a:endParaRPr lang="en-US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Features can then be allowed or disallowed by the configuration.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BlobChannel</a:t>
            </a:r>
            <a:r>
              <a:rPr lang="en-US" dirty="0"/>
              <a:t> is an opt-in feature. To exchange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byte[]</a:t>
            </a:r>
            <a:r>
              <a:rPr lang="en-US" dirty="0"/>
              <a:t> it must be allowed.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786D5-8D89-BF31-3133-9EF6545D8B9B}"/>
              </a:ext>
            </a:extLst>
          </p:cNvPr>
          <p:cNvSpPr txBox="1"/>
          <p:nvPr/>
        </p:nvSpPr>
        <p:spPr>
          <a:xfrm>
            <a:off x="1521655" y="2961041"/>
            <a:ext cx="8412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ApplicationIdentityFeatureDriver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ApplicationIdentityService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s, 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isAllowedByDefault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endParaRPr lang="en-US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D8761A4-78FC-CB22-E1A6-B3ED78F917D8}"/>
              </a:ext>
            </a:extLst>
          </p:cNvPr>
          <p:cNvSpPr txBox="1">
            <a:spLocks/>
          </p:cNvSpPr>
          <p:nvPr/>
        </p:nvSpPr>
        <p:spPr>
          <a:xfrm>
            <a:off x="720968" y="4682479"/>
            <a:ext cx="3897924" cy="21989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"Test",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 "Name": "Sender" },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AllowFeatures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BlobChannel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"Target",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"Address": "tcp:127.0.0.1“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6BF118-345A-7326-4BCF-5CE27028026A}"/>
              </a:ext>
            </a:extLst>
          </p:cNvPr>
          <p:cNvSpPr txBox="1">
            <a:spLocks/>
          </p:cNvSpPr>
          <p:nvPr/>
        </p:nvSpPr>
        <p:spPr>
          <a:xfrm>
            <a:off x="6441829" y="4687451"/>
            <a:ext cx="4226170" cy="2198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": "Test",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"Local": { "Name": “Target" },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"Remotes": [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"Name": "Sender",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AllowFeatures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BlobChannel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13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9BD9-E7B8-0308-F846-C5AE6E73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TransportFeature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0C7C5-6DBE-8D49-F647-8952029E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1954" cy="2833921"/>
          </a:xfrm>
        </p:spPr>
        <p:txBody>
          <a:bodyPr>
            <a:normAutofit/>
          </a:bodyPr>
          <a:lstStyle/>
          <a:p>
            <a:r>
              <a:rPr lang="en-US" dirty="0"/>
              <a:t>Opt-out feature: available by default on all Remotes that are not in the domain “Undefined”</a:t>
            </a:r>
          </a:p>
          <a:p>
            <a:pPr lvl="1"/>
            <a:r>
              <a:rPr lang="en-US" dirty="0"/>
              <a:t>To remove it: </a:t>
            </a:r>
            <a:br>
              <a:rPr lang="en-US" dirty="0"/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DisallowFeatures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"Transport“</a:t>
            </a:r>
          </a:p>
          <a:p>
            <a:r>
              <a:rPr lang="en-US" dirty="0"/>
              <a:t>Transport is “on” by default but can be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SwithOff</a:t>
            </a:r>
            <a:r>
              <a:rPr lang="en-US" dirty="0"/>
              <a:t>/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SwitchOn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145D6F04-76EB-0D08-22E0-99122639C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154" y="194454"/>
            <a:ext cx="6164199" cy="44650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690184-9A00-DA38-F75D-7518FDA3E2C3}"/>
              </a:ext>
            </a:extLst>
          </p:cNvPr>
          <p:cNvSpPr txBox="1"/>
          <p:nvPr/>
        </p:nvSpPr>
        <p:spPr>
          <a:xfrm>
            <a:off x="838200" y="4830217"/>
            <a:ext cx="9419492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DisallowEviction</a:t>
            </a:r>
            <a:r>
              <a:rPr lang="en-US" sz="2800" dirty="0"/>
              <a:t> is false by default (like MQTT).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ReadyTask</a:t>
            </a:r>
            <a:r>
              <a:rPr lang="en-US" sz="2800" dirty="0"/>
              <a:t> can be awaited before using the Transport.</a:t>
            </a:r>
          </a:p>
        </p:txBody>
      </p:sp>
    </p:spTree>
    <p:extLst>
      <p:ext uri="{BB962C8B-B14F-4D97-AF65-F5344CB8AC3E}">
        <p14:creationId xmlns:p14="http://schemas.microsoft.com/office/powerpoint/2010/main" val="393517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16C2-5FE3-B18B-1F5B-429CD730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exchange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9622E-A74C-BCB9-B3FA-CB06EC5A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2477" cy="4351338"/>
          </a:xfrm>
        </p:spPr>
        <p:txBody>
          <a:bodyPr/>
          <a:lstStyle/>
          <a:p>
            <a:r>
              <a:rPr lang="en-US" dirty="0"/>
              <a:t>A Remote’s </a:t>
            </a:r>
            <a:r>
              <a:rPr lang="en-US" dirty="0" err="1"/>
              <a:t>TransportFeature</a:t>
            </a:r>
            <a:r>
              <a:rPr lang="en-US" dirty="0"/>
              <a:t> handles the transport to the other side.</a:t>
            </a:r>
          </a:p>
          <a:p>
            <a:pPr lvl="1"/>
            <a:r>
              <a:rPr lang="en-US" dirty="0"/>
              <a:t>Listener vs. Sender is automatically handled based on the configuration.</a:t>
            </a:r>
          </a:p>
          <a:p>
            <a:pPr lvl="1"/>
            <a:r>
              <a:rPr lang="en-US" dirty="0"/>
              <a:t>The transport technology can be specified. The default is “</a:t>
            </a:r>
            <a:r>
              <a:rPr lang="en-US" dirty="0" err="1"/>
              <a:t>tcp</a:t>
            </a:r>
            <a:r>
              <a:rPr lang="en-US" dirty="0"/>
              <a:t>”.</a:t>
            </a:r>
          </a:p>
          <a:p>
            <a:r>
              <a:rPr lang="en-US" dirty="0"/>
              <a:t>The </a:t>
            </a:r>
            <a:r>
              <a:rPr lang="en-US" dirty="0" err="1"/>
              <a:t>TransportFeatures</a:t>
            </a:r>
            <a:r>
              <a:rPr lang="en-US" dirty="0"/>
              <a:t> exposes the properties relevant to the communication but is not itself in charge of exchanging data.</a:t>
            </a:r>
          </a:p>
          <a:p>
            <a:r>
              <a:rPr lang="en-US" dirty="0"/>
              <a:t>Channels are Features that implements a protocol and exposes it to the developer.</a:t>
            </a:r>
          </a:p>
          <a:p>
            <a:r>
              <a:rPr lang="en-US" dirty="0"/>
              <a:t>Channels implementation provides:</a:t>
            </a:r>
          </a:p>
          <a:p>
            <a:pPr lvl="1"/>
            <a:r>
              <a:rPr lang="en-US" dirty="0"/>
              <a:t>A Protocol that can be in multiple versions.</a:t>
            </a:r>
          </a:p>
          <a:p>
            <a:pPr lvl="1"/>
            <a:r>
              <a:rPr lang="en-US" dirty="0"/>
              <a:t>A way to build and send, receive and parse </a:t>
            </a:r>
            <a:r>
              <a:rPr lang="en-US" dirty="0" err="1"/>
              <a:t>TransportMessage</a:t>
            </a:r>
            <a:r>
              <a:rPr lang="en-US" dirty="0"/>
              <a:t> objects.</a:t>
            </a:r>
          </a:p>
        </p:txBody>
      </p:sp>
    </p:spTree>
    <p:extLst>
      <p:ext uri="{BB962C8B-B14F-4D97-AF65-F5344CB8AC3E}">
        <p14:creationId xmlns:p14="http://schemas.microsoft.com/office/powerpoint/2010/main" val="857479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F961-5C07-CC54-4D89-C39917A7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TransportMessage</a:t>
            </a:r>
            <a:endParaRPr lang="en-US" dirty="0"/>
          </a:p>
        </p:txBody>
      </p:sp>
      <p:pic>
        <p:nvPicPr>
          <p:cNvPr id="9" name="Content Placeholder 8" descr="Graphical user interface">
            <a:extLst>
              <a:ext uri="{FF2B5EF4-FFF2-40B4-BE49-F238E27FC236}">
                <a16:creationId xmlns:a16="http://schemas.microsoft.com/office/drawing/2014/main" id="{8F2564D2-6F15-2301-1548-C78BCB939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851" y="127222"/>
            <a:ext cx="6684324" cy="5335732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66F694-1BE5-D7EE-ACC5-2723D274C19E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732477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Prefix-Length encoding</a:t>
            </a:r>
          </a:p>
          <a:p>
            <a:pPr lvl="1"/>
            <a:r>
              <a:rPr lang="en-US" dirty="0"/>
              <a:t>Single header byte</a:t>
            </a:r>
          </a:p>
          <a:p>
            <a:pPr lvl="1"/>
            <a:r>
              <a:rPr lang="en-US" dirty="0" err="1"/>
              <a:t>MessageLength</a:t>
            </a:r>
            <a:r>
              <a:rPr lang="en-US" dirty="0"/>
              <a:t> (0 to 4 bytes)</a:t>
            </a:r>
          </a:p>
          <a:p>
            <a:pPr lvl="1"/>
            <a:r>
              <a:rPr lang="en-US" dirty="0"/>
              <a:t>Payload (up to 2 GiB)</a:t>
            </a:r>
          </a:p>
          <a:p>
            <a:endParaRPr lang="en-US" dirty="0"/>
          </a:p>
          <a:p>
            <a:r>
              <a:rPr lang="en-US" dirty="0"/>
              <a:t>Header byte: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L0|L1|CD|R0|R1|P0|P1|P2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L0-L1: number of bytes of the message length.</a:t>
            </a:r>
          </a:p>
          <a:p>
            <a:pPr lvl="1"/>
            <a:r>
              <a:rPr lang="en-US" dirty="0"/>
              <a:t>CD: “Control/ Data” bit.</a:t>
            </a:r>
          </a:p>
          <a:p>
            <a:pPr lvl="1"/>
            <a:r>
              <a:rPr lang="en-US" dirty="0"/>
              <a:t>R0-R1: Reserved for future use.</a:t>
            </a:r>
          </a:p>
          <a:p>
            <a:pPr lvl="1"/>
            <a:r>
              <a:rPr lang="en-US" dirty="0"/>
              <a:t>P0-P2: Protocol number (0 to 7).</a:t>
            </a:r>
          </a:p>
          <a:p>
            <a:endParaRPr lang="en-US" dirty="0"/>
          </a:p>
          <a:p>
            <a:r>
              <a:rPr lang="en-US" dirty="0"/>
              <a:t>The Protocol Number defines the "type" of the message: the writer/serializer that has been used to write the payload and the reader/</a:t>
            </a:r>
            <a:r>
              <a:rPr lang="en-US" dirty="0" err="1"/>
              <a:t>deserializer</a:t>
            </a:r>
            <a:r>
              <a:rPr lang="en-US" dirty="0"/>
              <a:t> that must be used to read it back.</a:t>
            </a:r>
          </a:p>
        </p:txBody>
      </p:sp>
    </p:spTree>
    <p:extLst>
      <p:ext uri="{BB962C8B-B14F-4D97-AF65-F5344CB8AC3E}">
        <p14:creationId xmlns:p14="http://schemas.microsoft.com/office/powerpoint/2010/main" val="200001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278E-8E30-3459-41D7-7185BA86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8 protocols maximal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1B80D-91E5-6DC7-AB87-2CFAAF041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65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Only 8 protocols can be expressed.</a:t>
            </a:r>
          </a:p>
          <a:p>
            <a:pPr lvl="1"/>
            <a:r>
              <a:rPr lang="en-US" dirty="0"/>
              <a:t>The “0 Protocol” protocol is reserved: this is the protocol of </a:t>
            </a:r>
            <a:r>
              <a:rPr lang="en-US" dirty="0" err="1"/>
              <a:t>CK.AppIdentity.TransportLayer</a:t>
            </a:r>
            <a:r>
              <a:rPr lang="en-US" dirty="0"/>
              <a:t> itself that handles special messages used to negotiate, accept, reject incoming parties and outgoing connections.</a:t>
            </a:r>
          </a:p>
          <a:p>
            <a:pPr lvl="1"/>
            <a:r>
              <a:rPr lang="en-US" dirty="0"/>
              <a:t>This lets 7 possible protocols. </a:t>
            </a:r>
          </a:p>
          <a:p>
            <a:pPr lvl="1"/>
            <a:endParaRPr lang="en-US" dirty="0"/>
          </a:p>
          <a:p>
            <a:r>
              <a:rPr lang="en-US" dirty="0"/>
              <a:t>This limit applies to a Remote party pair: </a:t>
            </a:r>
          </a:p>
          <a:p>
            <a:pPr lvl="1"/>
            <a:r>
              <a:rPr lang="en-US" dirty="0"/>
              <a:t>There can be any number of possible protocols in an application</a:t>
            </a:r>
          </a:p>
          <a:p>
            <a:pPr lvl="1"/>
            <a:r>
              <a:rPr lang="en-US" dirty="0"/>
              <a:t>2 parties that start to interact initially negotiate the ones they can and want to use. </a:t>
            </a:r>
          </a:p>
          <a:p>
            <a:r>
              <a:rPr lang="en-US" dirty="0"/>
              <a:t>Any Transport between 2 parties can simultaneously support up to 7 different protocols.</a:t>
            </a:r>
          </a:p>
        </p:txBody>
      </p:sp>
    </p:spTree>
    <p:extLst>
      <p:ext uri="{BB962C8B-B14F-4D97-AF65-F5344CB8AC3E}">
        <p14:creationId xmlns:p14="http://schemas.microsoft.com/office/powerpoint/2010/main" val="1820346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56EA-A507-E17F-1FF5-0DDC0C51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messages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CC84568-F688-2F94-8756-D5862C7EDE2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5165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an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OutgoingMessageFactory</a:t>
            </a:r>
            <a:r>
              <a:rPr lang="en-US" dirty="0"/>
              <a:t> can </a:t>
            </a:r>
            <a:br>
              <a:rPr lang="en-US" dirty="0"/>
            </a:br>
            <a:r>
              <a:rPr lang="en-US" dirty="0"/>
              <a:t>create new messages: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Messages must be disposed once done with them</a:t>
            </a:r>
          </a:p>
          <a:p>
            <a:pPr lvl="1"/>
            <a:r>
              <a:rPr lang="en-US" dirty="0"/>
              <a:t>Allocated memory is reused.</a:t>
            </a:r>
          </a:p>
          <a:p>
            <a:r>
              <a:rPr lang="en-US" dirty="0"/>
              <a:t>Messages can be “Retained” when needed (reference counting)</a:t>
            </a:r>
          </a:p>
          <a:p>
            <a:r>
              <a:rPr lang="en-US" dirty="0" err="1"/>
              <a:t>CreateStatic</a:t>
            </a:r>
            <a:r>
              <a:rPr lang="en-US" dirty="0"/>
              <a:t> returns messages don’t need to be disposed.</a:t>
            </a:r>
          </a:p>
          <a:p>
            <a:pPr lvl="1"/>
            <a:r>
              <a:rPr lang="en-US" dirty="0"/>
              <a:t>Dispose()/Retain() calls are ignored.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1A3D9-3364-B380-BE27-B3376CE6CD06}"/>
              </a:ext>
            </a:extLst>
          </p:cNvPr>
          <p:cNvSpPr txBox="1"/>
          <p:nvPr/>
        </p:nvSpPr>
        <p:spPr>
          <a:xfrm>
            <a:off x="1078524" y="2715481"/>
            <a:ext cx="9448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TransportMessage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Create( Action&lt;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IBufferWriter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&gt;&gt; writer,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isControl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TransportMessage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Create( Action&lt;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MutableSequence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&gt;&gt; writer,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isControl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6" name="Content Placeholder 1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9C368B7-B971-1A32-863D-EFEC2CD1A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630" y="515815"/>
            <a:ext cx="5716130" cy="2047266"/>
          </a:xfrm>
        </p:spPr>
      </p:pic>
    </p:spTree>
    <p:extLst>
      <p:ext uri="{BB962C8B-B14F-4D97-AF65-F5344CB8AC3E}">
        <p14:creationId xmlns:p14="http://schemas.microsoft.com/office/powerpoint/2010/main" val="3573920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8A174E-C40C-EE9F-57EC-1C6C06A7372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8607669" cy="4516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an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IncomingMessageFactory</a:t>
            </a:r>
            <a:r>
              <a:rPr lang="en-US" dirty="0"/>
              <a:t> can read messages: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any asynchronous function that can fill a buffer with an exact count of bytes.</a:t>
            </a:r>
          </a:p>
          <a:p>
            <a:r>
              <a:rPr lang="en-US" dirty="0"/>
              <a:t>The developer never interacts directly with an </a:t>
            </a:r>
            <a:r>
              <a:rPr lang="en-US" dirty="0" err="1"/>
              <a:t>IncomingMessageFactory</a:t>
            </a:r>
            <a:r>
              <a:rPr lang="en-US" dirty="0"/>
              <a:t>.</a:t>
            </a:r>
          </a:p>
          <a:p>
            <a:r>
              <a:rPr lang="en-US" dirty="0"/>
              <a:t>Concrete Transport implementations provide the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exactReader</a:t>
            </a:r>
            <a:r>
              <a:rPr lang="en-US" dirty="0"/>
              <a:t> function.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D56D0-2F2C-42C4-3EEA-E4CCE70C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incoming messages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D2D2A67-F26C-B52C-0846-6487A7DF0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146641"/>
            <a:ext cx="2454795" cy="656471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FAAF37-5FFB-5FCF-739F-A7F6192E67D4}"/>
              </a:ext>
            </a:extLst>
          </p:cNvPr>
          <p:cNvSpPr txBox="1"/>
          <p:nvPr/>
        </p:nvSpPr>
        <p:spPr>
          <a:xfrm>
            <a:off x="993531" y="2329579"/>
            <a:ext cx="84523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Task&lt;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TransportMessage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ReadAsync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&lt;Memory&lt;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CancellationToken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ValueTask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exactReader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maxMessageLength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.MaxValue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CancellationToken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cancellation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43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EF7E-C184-9ED5-678F-E522EE78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</a:t>
            </a:r>
            <a:br>
              <a:rPr lang="en-US" dirty="0"/>
            </a:br>
            <a:r>
              <a:rPr lang="en-US" dirty="0"/>
              <a:t>Transports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56818D-148F-7DD5-0B72-C665916F8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95330"/>
            <a:ext cx="4446248" cy="4273825"/>
          </a:xfrm>
        </p:spPr>
        <p:txBody>
          <a:bodyPr>
            <a:normAutofit/>
          </a:bodyPr>
          <a:lstStyle/>
          <a:p>
            <a:r>
              <a:rPr lang="en-US" sz="2400" dirty="0"/>
              <a:t>3 classes to specialize.</a:t>
            </a:r>
          </a:p>
          <a:p>
            <a:r>
              <a:rPr lang="en-US" sz="2400" dirty="0"/>
              <a:t>Straight wrappers, no error management required.</a:t>
            </a:r>
          </a:p>
          <a:p>
            <a:r>
              <a:rPr lang="en-US" sz="2400" dirty="0"/>
              <a:t>Package First</a:t>
            </a:r>
          </a:p>
          <a:p>
            <a:endParaRPr lang="en-US" sz="2400" dirty="0"/>
          </a:p>
          <a:p>
            <a:r>
              <a:rPr lang="en-US" sz="2400" dirty="0"/>
              <a:t>Example of </a:t>
            </a:r>
            <a:r>
              <a:rPr lang="en-US" sz="2400" dirty="0" err="1"/>
              <a:t>TCPSocket</a:t>
            </a:r>
            <a:endParaRPr lang="en-US" sz="2400" dirty="0"/>
          </a:p>
          <a:p>
            <a:pPr lvl="1"/>
            <a:r>
              <a:rPr lang="en-US" sz="2000" dirty="0" err="1"/>
              <a:t>AddressProtocolName</a:t>
            </a:r>
            <a:r>
              <a:rPr lang="en-US" sz="2000" dirty="0"/>
              <a:t>: “</a:t>
            </a:r>
            <a:r>
              <a:rPr lang="en-US" sz="2000" dirty="0" err="1"/>
              <a:t>tcp</a:t>
            </a:r>
            <a:r>
              <a:rPr lang="en-US" sz="2000" dirty="0"/>
              <a:t>”</a:t>
            </a:r>
          </a:p>
          <a:p>
            <a:endParaRPr lang="en-US" sz="2400" dirty="0"/>
          </a:p>
          <a:p>
            <a:r>
              <a:rPr lang="en-US" sz="2400" dirty="0"/>
              <a:t>Developers don’t interact with Transports layer.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5B7E97A0-34C4-CC0C-12FC-6AFA8966F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65" y="90854"/>
            <a:ext cx="6812870" cy="67671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624A14-49A3-0F8D-AD90-36507C62CCDD}"/>
                  </a:ext>
                </a:extLst>
              </p14:cNvPr>
              <p14:cNvContentPartPr/>
              <p14:nvPr/>
            </p14:nvContentPartPr>
            <p14:xfrm>
              <a:off x="8249071" y="2795776"/>
              <a:ext cx="1032840" cy="57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624A14-49A3-0F8D-AD90-36507C62CC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95071" y="2687776"/>
                <a:ext cx="1140480" cy="27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7821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CBA-34FC-5769-694A-E657A805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Feature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AACCB99C-C551-6BC4-005D-BC5314B48110}"/>
              </a:ext>
            </a:extLst>
          </p:cNvPr>
          <p:cNvSpPr txBox="1">
            <a:spLocks/>
          </p:cNvSpPr>
          <p:nvPr/>
        </p:nvSpPr>
        <p:spPr>
          <a:xfrm>
            <a:off x="556592" y="1890023"/>
            <a:ext cx="5165782" cy="442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3 classes to specialize.</a:t>
            </a:r>
          </a:p>
          <a:p>
            <a:pPr lvl="1"/>
            <a:r>
              <a:rPr lang="en-US" sz="2000" dirty="0"/>
              <a:t>3 abstract methods.</a:t>
            </a:r>
          </a:p>
          <a:p>
            <a:pPr lvl="1"/>
            <a:endParaRPr lang="en-US" sz="2000" dirty="0"/>
          </a:p>
          <a:p>
            <a:r>
              <a:rPr lang="en-US" sz="2400" dirty="0"/>
              <a:t>Protocols can optionally be versioned.</a:t>
            </a:r>
          </a:p>
          <a:p>
            <a:pPr lvl="1"/>
            <a:r>
              <a:rPr lang="en-US" sz="2000" dirty="0"/>
              <a:t>Negotiation is automatic.</a:t>
            </a:r>
          </a:p>
          <a:p>
            <a:pPr lvl="1"/>
            <a:endParaRPr lang="en-US" sz="2000" dirty="0"/>
          </a:p>
          <a:p>
            <a:r>
              <a:rPr lang="en-US" sz="2400" dirty="0"/>
              <a:t>Driver’s type name must be suffixed by  "</a:t>
            </a:r>
            <a:r>
              <a:rPr lang="en-US" sz="2400" dirty="0" err="1"/>
              <a:t>ChannelFeatureDriver</a:t>
            </a:r>
            <a:r>
              <a:rPr lang="en-US" sz="2400" dirty="0"/>
              <a:t>“.</a:t>
            </a:r>
          </a:p>
        </p:txBody>
      </p:sp>
      <p:pic>
        <p:nvPicPr>
          <p:cNvPr id="10" name="Content Placeholder 9" descr="Diagram">
            <a:extLst>
              <a:ext uri="{FF2B5EF4-FFF2-40B4-BE49-F238E27FC236}">
                <a16:creationId xmlns:a16="http://schemas.microsoft.com/office/drawing/2014/main" id="{B9505869-E6FE-3131-7CB2-E37EF0D59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322" y="75482"/>
            <a:ext cx="6302438" cy="5410917"/>
          </a:xfrm>
        </p:spPr>
      </p:pic>
    </p:spTree>
    <p:extLst>
      <p:ext uri="{BB962C8B-B14F-4D97-AF65-F5344CB8AC3E}">
        <p14:creationId xmlns:p14="http://schemas.microsoft.com/office/powerpoint/2010/main" val="1174634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D18F-1304-001E-4845-8CF4F7B6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BlobChannel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CEFAF-0B14-02E7-656C-CF64B5F5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BlobChannel</a:t>
            </a:r>
            <a:r>
              <a:rPr lang="en-US" dirty="0"/>
              <a:t> is more a sample than a useful channel.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Using a Channel</a:t>
            </a:r>
          </a:p>
          <a:p>
            <a:pPr lvl="1"/>
            <a:r>
              <a:rPr lang="en-US" dirty="0" err="1">
                <a:hlinkClick r:id="rId2"/>
              </a:rPr>
              <a:t>CK.AppIdentity.BlobChannel.Tests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BasicExchangeTests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CK.AppIdentity.BlobChannel</a:t>
            </a:r>
            <a:r>
              <a:rPr lang="en-US" dirty="0"/>
              <a:t> implementation</a:t>
            </a:r>
          </a:p>
          <a:p>
            <a:pPr lvl="1"/>
            <a:r>
              <a:rPr lang="en-US" dirty="0" err="1">
                <a:hlinkClick r:id="rId3"/>
              </a:rPr>
              <a:t>BlobChannelFeatureDriver.cs</a:t>
            </a:r>
            <a:endParaRPr lang="en-US" dirty="0"/>
          </a:p>
          <a:p>
            <a:pPr lvl="1"/>
            <a:r>
              <a:rPr lang="en-US" dirty="0" err="1">
                <a:hlinkClick r:id="rId4"/>
              </a:rPr>
              <a:t>BlobChannelFeature.cs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BlobChannelFeature.Protocol.cs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74651-B1CD-A9F7-EE21-593DAEFC4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22" y="4391215"/>
            <a:ext cx="3276987" cy="132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87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0CD7-8283-9031-1738-32DC1DF8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F859C-4726-43EF-F0A8-B73939B70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Cris</a:t>
            </a:r>
            <a:r>
              <a:rPr lang="en-US" dirty="0"/>
              <a:t> feature (next slide).</a:t>
            </a:r>
          </a:p>
          <a:p>
            <a:r>
              <a:rPr lang="en-US" dirty="0"/>
              <a:t>Enlistment of new Parties: </a:t>
            </a:r>
            <a:r>
              <a:rPr lang="en-US" dirty="0" err="1"/>
              <a:t>AcceptUri</a:t>
            </a:r>
            <a:r>
              <a:rPr lang="en-US" dirty="0"/>
              <a:t> &amp; </a:t>
            </a:r>
            <a:r>
              <a:rPr lang="en-US" dirty="0" err="1"/>
              <a:t>UnknownRemote</a:t>
            </a:r>
            <a:endParaRPr lang="en-US" dirty="0"/>
          </a:p>
          <a:p>
            <a:r>
              <a:rPr lang="en-US" dirty="0"/>
              <a:t>Poco store (</a:t>
            </a:r>
            <a:r>
              <a:rPr lang="en-US" dirty="0">
                <a:hlinkClick r:id="rId2"/>
              </a:rPr>
              <a:t>https://github.com/microsoft/FASTER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KV or Log?</a:t>
            </a:r>
          </a:p>
          <a:p>
            <a:pPr lvl="1"/>
            <a:r>
              <a:rPr lang="en-US" dirty="0"/>
              <a:t>For the moment, we can live with a in-memory only store.</a:t>
            </a:r>
          </a:p>
          <a:p>
            <a:r>
              <a:rPr lang="en-US" dirty="0"/>
              <a:t>“X509Store” (</a:t>
            </a:r>
            <a:r>
              <a:rPr lang="en-US" dirty="0" err="1"/>
              <a:t>.Net</a:t>
            </a:r>
            <a:r>
              <a:rPr lang="en-US" dirty="0"/>
              <a:t> core or not?)</a:t>
            </a:r>
          </a:p>
          <a:p>
            <a:pPr lvl="1"/>
            <a:r>
              <a:rPr lang="en-US" dirty="0"/>
              <a:t>First step</a:t>
            </a:r>
          </a:p>
          <a:p>
            <a:pPr lvl="2"/>
            <a:r>
              <a:rPr lang="en-US" dirty="0"/>
              <a:t>The primary signing certificate that identifies the party.</a:t>
            </a:r>
          </a:p>
          <a:p>
            <a:pPr lvl="2"/>
            <a:r>
              <a:rPr lang="en-US" dirty="0"/>
              <a:t>Rolling it (or not?)</a:t>
            </a:r>
          </a:p>
          <a:p>
            <a:pPr lvl="1"/>
            <a:r>
              <a:rPr lang="en-US" dirty="0"/>
              <a:t>Other certificates</a:t>
            </a:r>
          </a:p>
          <a:p>
            <a:pPr lvl="2"/>
            <a:r>
              <a:rPr lang="en-US" dirty="0"/>
              <a:t>Name for them?</a:t>
            </a:r>
          </a:p>
          <a:p>
            <a:pPr lvl="2"/>
            <a:r>
              <a:rPr lang="en-US" dirty="0"/>
              <a:t>Rolling?</a:t>
            </a:r>
          </a:p>
          <a:p>
            <a:pPr lvl="2"/>
            <a:r>
              <a:rPr lang="en-US" dirty="0"/>
              <a:t>Orchard use the X509Store only for its primary certificate, others are on disk, optionally protected by a password.</a:t>
            </a:r>
          </a:p>
          <a:p>
            <a:pPr marL="914400" lvl="2" indent="0">
              <a:buNone/>
            </a:pPr>
            <a:r>
              <a:rPr lang="en-US" dirty="0">
                <a:hlinkClick r:id="rId3"/>
              </a:rPr>
              <a:t>https://github.com/OrchardCMS/OrchardCore/blob/main/src/OrchardCore.Modules/OrchardCore.OpenId/Services/OpenIdServerService.cs</a:t>
            </a:r>
            <a:endParaRPr lang="en-US" dirty="0"/>
          </a:p>
          <a:p>
            <a:pPr lvl="1"/>
            <a:r>
              <a:rPr lang="en-US" dirty="0"/>
              <a:t>How to generate TSL compliant certificates?</a:t>
            </a:r>
          </a:p>
          <a:p>
            <a:r>
              <a:rPr lang="en-US" dirty="0"/>
              <a:t>Provide a way to monitor the </a:t>
            </a:r>
            <a:r>
              <a:rPr lang="en-US" dirty="0" err="1"/>
              <a:t>TransportMessage</a:t>
            </a:r>
            <a:r>
              <a:rPr lang="en-US" dirty="0"/>
              <a:t> Retain/Dispose errors </a:t>
            </a:r>
          </a:p>
          <a:p>
            <a:pPr lvl="1"/>
            <a:r>
              <a:rPr lang="en-US" dirty="0"/>
              <a:t>Because ref counting sucks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39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BC4F-39D3-FAF0-AB9D-35A61EBB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Cris</a:t>
            </a:r>
            <a:r>
              <a:rPr lang="en-US" dirty="0"/>
              <a:t> feature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9E0310-D200-A432-CC9E-332FDFE41015}"/>
              </a:ext>
            </a:extLst>
          </p:cNvPr>
          <p:cNvSpPr txBox="1">
            <a:spLocks/>
          </p:cNvSpPr>
          <p:nvPr/>
        </p:nvSpPr>
        <p:spPr>
          <a:xfrm>
            <a:off x="838200" y="1562582"/>
            <a:ext cx="10515600" cy="4766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Common DI or 2 DI (one for the WebApp, one for </a:t>
            </a:r>
            <a:r>
              <a:rPr lang="en-US" dirty="0" err="1"/>
              <a:t>AppIdentity</a:t>
            </a:r>
            <a:r>
              <a:rPr lang="en-US" dirty="0"/>
              <a:t>)?</a:t>
            </a:r>
          </a:p>
          <a:p>
            <a:r>
              <a:rPr lang="en-US" dirty="0"/>
              <a:t>2 DI containers introduce the “Absolute Singletons” issue</a:t>
            </a:r>
          </a:p>
          <a:p>
            <a:pPr lvl="1"/>
            <a:r>
              <a:rPr lang="en-US" dirty="0"/>
              <a:t>Should the same instance of a singleton service be registered in both DI?</a:t>
            </a:r>
          </a:p>
          <a:p>
            <a:pPr lvl="1"/>
            <a:r>
              <a:rPr lang="en-US" dirty="0"/>
              <a:t>For all singleton services? May be for </a:t>
            </a:r>
            <a:r>
              <a:rPr lang="en-US" dirty="0" err="1"/>
              <a:t>IRealObject</a:t>
            </a:r>
            <a:r>
              <a:rPr lang="en-US" dirty="0"/>
              <a:t> only?</a:t>
            </a:r>
          </a:p>
          <a:p>
            <a:r>
              <a:rPr lang="en-US" dirty="0"/>
              <a:t>My preference: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CK-AppIdentity:Local:WebApplication</a:t>
            </a:r>
            <a:r>
              <a:rPr lang="en-US" dirty="0"/>
              <a:t> section that defines the WebApp as an “island” of the application.</a:t>
            </a:r>
          </a:p>
          <a:p>
            <a:pPr lvl="2"/>
            <a:r>
              <a:rPr lang="en-US" dirty="0"/>
              <a:t>DI of the app has no “Web” dependent services (“Process” services only).</a:t>
            </a:r>
          </a:p>
          <a:p>
            <a:pPr lvl="2"/>
            <a:r>
              <a:rPr lang="en-US" dirty="0"/>
              <a:t>The </a:t>
            </a:r>
            <a:r>
              <a:rPr lang="en-US" dirty="0" err="1"/>
              <a:t>WebApplicationBuilder.Services</a:t>
            </a:r>
            <a:r>
              <a:rPr lang="en-US" dirty="0"/>
              <a:t> is pre-configured with all the “process services” registrations.</a:t>
            </a:r>
          </a:p>
          <a:p>
            <a:pPr lvl="1"/>
            <a:r>
              <a:rPr lang="en-US" dirty="0"/>
              <a:t>Can we build the App DI without all the services that depends on the “Web” layer?</a:t>
            </a:r>
          </a:p>
          <a:p>
            <a:pPr lvl="2"/>
            <a:r>
              <a:rPr lang="en-US" dirty="0" err="1"/>
              <a:t>ScopedHttpContext</a:t>
            </a:r>
            <a:r>
              <a:rPr lang="en-US" dirty="0"/>
              <a:t>, </a:t>
            </a:r>
            <a:r>
              <a:rPr lang="en-US" dirty="0" err="1"/>
              <a:t>IAuthenticationService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Is the “Front” vs. “Process” distinction enough?</a:t>
            </a:r>
          </a:p>
          <a:p>
            <a:pPr lvl="2"/>
            <a:r>
              <a:rPr lang="en-US" dirty="0"/>
              <a:t>In such case, “Front” means “Web”… </a:t>
            </a:r>
          </a:p>
          <a:p>
            <a:pPr lvl="2"/>
            <a:r>
              <a:rPr lang="en-US" dirty="0"/>
              <a:t>This may be a first approach, but ideally services are tagged with more than a single “trait”.</a:t>
            </a:r>
          </a:p>
          <a:p>
            <a:pPr lvl="2"/>
            <a:r>
              <a:rPr lang="en-US" dirty="0"/>
              <a:t>Or we skip any service defined in “</a:t>
            </a:r>
            <a:r>
              <a:rPr lang="en-US" dirty="0" err="1"/>
              <a:t>Microsoft.AspNetCore</a:t>
            </a:r>
            <a:r>
              <a:rPr lang="en-US" dirty="0"/>
              <a:t>” namespace ? A list of regex on AQN?</a:t>
            </a:r>
          </a:p>
          <a:p>
            <a:pPr lvl="2"/>
            <a:r>
              <a:rPr lang="en-US" dirty="0"/>
              <a:t>Does a “list of regex on AQN” defines an “End Point”?</a:t>
            </a:r>
          </a:p>
          <a:p>
            <a:pPr lvl="3"/>
            <a:r>
              <a:rPr lang="en-US" dirty="0"/>
              <a:t>If yes, one should be able to “</a:t>
            </a:r>
            <a:r>
              <a:rPr lang="en-US" dirty="0" err="1"/>
              <a:t>ConfigureServices</a:t>
            </a:r>
            <a:r>
              <a:rPr lang="en-US" dirty="0"/>
              <a:t>” with or without a set of “End Points”…</a:t>
            </a:r>
          </a:p>
          <a:p>
            <a:pPr lvl="1"/>
            <a:r>
              <a:rPr lang="en-US" dirty="0"/>
              <a:t>Even if this is possible, we have yet to synchronize the singleton instances (or not)…</a:t>
            </a:r>
          </a:p>
          <a:p>
            <a:pPr lvl="1"/>
            <a:r>
              <a:rPr lang="en-US" dirty="0"/>
              <a:t>This may be the best way in terms of architecture BUT it’s not a short-term solution.</a:t>
            </a:r>
          </a:p>
          <a:p>
            <a:r>
              <a:rPr lang="en-US" dirty="0"/>
              <a:t>The other way is that the Application DI is the WebApp one (if the app is a WebApp) just like today.</a:t>
            </a:r>
          </a:p>
          <a:p>
            <a:pPr lvl="1"/>
            <a:r>
              <a:rPr lang="en-US" dirty="0"/>
              <a:t>But now services must be “hidden”/”overridden” in </a:t>
            </a:r>
            <a:r>
              <a:rPr lang="en-US" dirty="0" err="1"/>
              <a:t>AppIdentity</a:t>
            </a:r>
            <a:r>
              <a:rPr lang="en-US" dirty="0"/>
              <a:t> services, at least for the </a:t>
            </a:r>
            <a:r>
              <a:rPr lang="en-US" dirty="0" err="1"/>
              <a:t>CrisExecutor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a command handler relies on a “Web” singleton or scoped service, we are doomed (will fail at runtime).</a:t>
            </a:r>
          </a:p>
          <a:p>
            <a:pPr lvl="1"/>
            <a:r>
              <a:rPr lang="en-US" dirty="0"/>
              <a:t>But </a:t>
            </a:r>
            <a:r>
              <a:rPr lang="en-US" dirty="0" err="1"/>
              <a:t>CK.Cris.Executor</a:t>
            </a:r>
            <a:r>
              <a:rPr lang="en-US" dirty="0"/>
              <a:t> do its job (</a:t>
            </a:r>
            <a:r>
              <a:rPr lang="en-US" dirty="0" err="1"/>
              <a:t>CommandValidator</a:t>
            </a:r>
            <a:r>
              <a:rPr lang="en-US" dirty="0"/>
              <a:t>, </a:t>
            </a:r>
            <a:r>
              <a:rPr lang="en-US" dirty="0" err="1"/>
              <a:t>RawCommandExecutor</a:t>
            </a:r>
            <a:r>
              <a:rPr lang="en-US" dirty="0"/>
              <a:t>) based on an explicit </a:t>
            </a:r>
            <a:r>
              <a:rPr lang="en-US" dirty="0" err="1"/>
              <a:t>IServiceProvider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can provide a </a:t>
            </a:r>
            <a:r>
              <a:rPr lang="en-US" dirty="0" err="1"/>
              <a:t>IServiceProvider</a:t>
            </a:r>
            <a:r>
              <a:rPr lang="en-US" dirty="0"/>
              <a:t> that hides/replaces some services for the command handling.</a:t>
            </a: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This is not ideal, but it should work if not too many “Web” services are concerned and we can provide a replacement for the services at stake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67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FAF5-98A2-D125-4496-C05967A7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questions &amp;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C559C-F4C7-F864-231C-921ED15BE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Internalize </a:t>
            </a:r>
            <a:r>
              <a:rPr lang="en-US" dirty="0" err="1"/>
              <a:t>TransportMessage</a:t>
            </a:r>
            <a:endParaRPr lang="en-US" dirty="0"/>
          </a:p>
          <a:p>
            <a:pPr lvl="1"/>
            <a:r>
              <a:rPr lang="en-US" dirty="0"/>
              <a:t>Differentiate </a:t>
            </a:r>
            <a:r>
              <a:rPr lang="en-US" dirty="0" err="1"/>
              <a:t>IOutgoingTransportMessage</a:t>
            </a:r>
            <a:r>
              <a:rPr lang="en-US" dirty="0"/>
              <a:t> and </a:t>
            </a:r>
            <a:r>
              <a:rPr lang="en-US" dirty="0" err="1"/>
              <a:t>IIncomingTransportMessage</a:t>
            </a:r>
            <a:endParaRPr lang="en-US" dirty="0"/>
          </a:p>
          <a:p>
            <a:pPr lvl="1"/>
            <a:r>
              <a:rPr lang="en-US" dirty="0"/>
              <a:t>Assume the outgoing message mutability: Freeze and </a:t>
            </a:r>
            <a:r>
              <a:rPr lang="en-US" dirty="0" err="1"/>
              <a:t>IsFrozen</a:t>
            </a:r>
            <a:endParaRPr lang="en-US" dirty="0"/>
          </a:p>
          <a:p>
            <a:r>
              <a:rPr lang="en-US" dirty="0"/>
              <a:t>Add a “Layer” API on the </a:t>
            </a:r>
            <a:r>
              <a:rPr lang="en-US" dirty="0" err="1"/>
              <a:t>TransportMessage</a:t>
            </a:r>
            <a:endParaRPr lang="en-US" dirty="0"/>
          </a:p>
          <a:p>
            <a:r>
              <a:rPr lang="en-US" dirty="0"/>
              <a:t>Implements the “</a:t>
            </a:r>
            <a:r>
              <a:rPr lang="en-US" dirty="0" err="1"/>
              <a:t>BigMessage</a:t>
            </a:r>
            <a:r>
              <a:rPr lang="en-US" dirty="0"/>
              <a:t>” slicing (0 Protocol).</a:t>
            </a:r>
          </a:p>
          <a:p>
            <a:r>
              <a:rPr lang="en-US" dirty="0"/>
              <a:t>Should “Response” channel be renamed “</a:t>
            </a:r>
            <a:r>
              <a:rPr lang="en-US" dirty="0" err="1"/>
              <a:t>HighPriority</a:t>
            </a:r>
            <a:r>
              <a:rPr lang="en-US" dirty="0"/>
              <a:t>”?</a:t>
            </a:r>
          </a:p>
          <a:p>
            <a:pPr lvl="1"/>
            <a:r>
              <a:rPr lang="en-US" dirty="0"/>
              <a:t>Responses would use it but the “</a:t>
            </a:r>
            <a:r>
              <a:rPr lang="en-US" dirty="0" err="1"/>
              <a:t>CancelCurrentBigMessage</a:t>
            </a:r>
            <a:r>
              <a:rPr lang="en-US" dirty="0"/>
              <a:t>” would also use it (</a:t>
            </a:r>
            <a:r>
              <a:rPr lang="en-US"/>
              <a:t>and it is </a:t>
            </a:r>
            <a:r>
              <a:rPr lang="en-US" dirty="0"/>
              <a:t>not a response).</a:t>
            </a:r>
          </a:p>
        </p:txBody>
      </p:sp>
    </p:spTree>
    <p:extLst>
      <p:ext uri="{BB962C8B-B14F-4D97-AF65-F5344CB8AC3E}">
        <p14:creationId xmlns:p14="http://schemas.microsoft.com/office/powerpoint/2010/main" val="47929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5945</TotalTime>
  <Words>4414</Words>
  <Application>Microsoft Office PowerPoint</Application>
  <PresentationFormat>Widescreen</PresentationFormat>
  <Paragraphs>570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Courier New</vt:lpstr>
      <vt:lpstr>Segoe UI</vt:lpstr>
      <vt:lpstr>Times New Roman</vt:lpstr>
      <vt:lpstr>Wingdings</vt:lpstr>
      <vt:lpstr>Office Theme</vt:lpstr>
      <vt:lpstr>CK-AppIdentity</vt:lpstr>
      <vt:lpstr>Primary Objectives</vt:lpstr>
      <vt:lpstr>Secondary Objectives</vt:lpstr>
      <vt:lpstr>DomainName/EnvironmentName/PartyName</vt:lpstr>
      <vt:lpstr>A simple Agent.</vt:lpstr>
      <vt:lpstr>The SignatureBox.</vt:lpstr>
      <vt:lpstr>Simplifications</vt:lpstr>
      <vt:lpstr>What we have so far: a warehouse.</vt:lpstr>
      <vt:lpstr>OneCS (can reach the SignatureBox).</vt:lpstr>
      <vt:lpstr>OneCS (cannot reach the SignatureBox).</vt:lpstr>
      <vt:lpstr>LaToulousaine is actually a SaaS customer…</vt:lpstr>
      <vt:lpstr>LaToulousaine in SaaS is hosted by OneCS1</vt:lpstr>
      <vt:lpstr>Oups! LaToulousaine is NOT in production yet!</vt:lpstr>
      <vt:lpstr>LaToulousaine goes to London</vt:lpstr>
      <vt:lpstr>The “Extended Domain Name”</vt:lpstr>
      <vt:lpstr>The final D/E/P Party identity</vt:lpstr>
      <vt:lpstr>Security and privacy</vt:lpstr>
      <vt:lpstr>Other uses…</vt:lpstr>
      <vt:lpstr>A simple Configuration Model</vt:lpstr>
      <vt:lpstr>Exploit the .Net Configuration model</vt:lpstr>
      <vt:lpstr>Runtime Model</vt:lpstr>
      <vt:lpstr>The “Features”</vt:lpstr>
      <vt:lpstr>Feature Driver</vt:lpstr>
      <vt:lpstr>Opt-In/Out and Allow/DisallowFeatures</vt:lpstr>
      <vt:lpstr>The TransportFeature</vt:lpstr>
      <vt:lpstr>The exchange Channels</vt:lpstr>
      <vt:lpstr>TransportMessage</vt:lpstr>
      <vt:lpstr>The 8 protocols maximal count</vt:lpstr>
      <vt:lpstr>Creating new messages</vt:lpstr>
      <vt:lpstr>Reading incoming messages</vt:lpstr>
      <vt:lpstr>Implementing Transports</vt:lpstr>
      <vt:lpstr>Channel Feature</vt:lpstr>
      <vt:lpstr>The BlobChannel</vt:lpstr>
      <vt:lpstr>Roadmap</vt:lpstr>
      <vt:lpstr>Cris feature</vt:lpstr>
      <vt:lpstr>Other questions &amp; 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CK-AppIdentity</dc:title>
  <dc:creator>Olivier Spinelli</dc:creator>
  <cp:lastModifiedBy>Olivier Spinelli</cp:lastModifiedBy>
  <cp:revision>27</cp:revision>
  <dcterms:created xsi:type="dcterms:W3CDTF">2023-03-08T10:35:35Z</dcterms:created>
  <dcterms:modified xsi:type="dcterms:W3CDTF">2023-04-24T15:40:11Z</dcterms:modified>
</cp:coreProperties>
</file>