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9" r:id="rId4"/>
    <p:sldId id="258" r:id="rId5"/>
    <p:sldId id="296" r:id="rId6"/>
    <p:sldId id="295" r:id="rId7"/>
    <p:sldId id="262" r:id="rId8"/>
    <p:sldId id="264" r:id="rId9"/>
    <p:sldId id="269" r:id="rId10"/>
    <p:sldId id="265" r:id="rId11"/>
    <p:sldId id="263" r:id="rId12"/>
    <p:sldId id="266" r:id="rId13"/>
    <p:sldId id="267" r:id="rId14"/>
    <p:sldId id="268" r:id="rId15"/>
    <p:sldId id="270" r:id="rId16"/>
    <p:sldId id="271" r:id="rId17"/>
    <p:sldId id="303" r:id="rId18"/>
    <p:sldId id="274" r:id="rId19"/>
    <p:sldId id="275" r:id="rId20"/>
    <p:sldId id="304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7" r:id="rId37"/>
    <p:sldId id="298" r:id="rId38"/>
    <p:sldId id="299" r:id="rId39"/>
    <p:sldId id="300" r:id="rId40"/>
    <p:sldId id="301" r:id="rId41"/>
    <p:sldId id="302" r:id="rId42"/>
    <p:sldId id="291" r:id="rId43"/>
    <p:sldId id="292" r:id="rId44"/>
    <p:sldId id="294" r:id="rId45"/>
    <p:sldId id="293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2" autoAdjust="0"/>
  </p:normalViewPr>
  <p:slideViewPr>
    <p:cSldViewPr snapToGrid="0">
      <p:cViewPr varScale="1">
        <p:scale>
          <a:sx n="71" d="100"/>
          <a:sy n="71" d="100"/>
        </p:scale>
        <p:origin x="389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6/26/2023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customXml" Target="../ink/ink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1815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r>
              <a:rPr lang="en-US" dirty="0" err="1"/>
              <a:t>DomainName</a:t>
            </a:r>
            <a:r>
              <a:rPr lang="en-US" dirty="0"/>
              <a:t> can be a path.</a:t>
            </a:r>
          </a:p>
          <a:p>
            <a:r>
              <a:rPr lang="en-US" dirty="0" err="1"/>
              <a:t>PartyName</a:t>
            </a:r>
            <a:r>
              <a:rPr lang="en-US" dirty="0"/>
              <a:t> is usually prefixed by ‘$’.</a:t>
            </a:r>
          </a:p>
          <a:p>
            <a:r>
              <a:rPr lang="en-US" dirty="0" err="1"/>
              <a:t>EnvironmentName</a:t>
            </a:r>
            <a:r>
              <a:rPr lang="en-US" dirty="0"/>
              <a:t> is always prefixed by ‘#’.</a:t>
            </a:r>
          </a:p>
          <a:p>
            <a:r>
              <a:rPr lang="en-US" dirty="0"/>
              <a:t>The triple can be expressed as a simple </a:t>
            </a:r>
            <a:r>
              <a:rPr lang="en-US" dirty="0" err="1"/>
              <a:t>FullName</a:t>
            </a:r>
            <a:r>
              <a:rPr lang="en-US" dirty="0"/>
              <a:t> string.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FullName</a:t>
            </a:r>
            <a:r>
              <a:rPr lang="en-US" dirty="0"/>
              <a:t> is </a:t>
            </a:r>
            <a:r>
              <a:rPr lang="en-US" dirty="0" err="1">
                <a:sym typeface="Wingdings" panose="05000000000000000000" pitchFamily="2" charset="2"/>
              </a:rPr>
              <a:t>a</a:t>
            </a:r>
            <a:r>
              <a:rPr lang="en-US" sz="4400" dirty="0" err="1">
                <a:sym typeface="Wingdings" panose="05000000000000000000" pitchFamily="2" charset="2"/>
              </a:rPr>
              <a:t>utodescriptive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50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  <a:p>
            <a:r>
              <a:rPr lang="en-US" dirty="0" err="1"/>
              <a:t>EnvironmentName</a:t>
            </a:r>
            <a:r>
              <a:rPr lang="en-US" dirty="0"/>
              <a:t> (#Development by default) can appear everywhere in the path, as well as the $</a:t>
            </a:r>
            <a:r>
              <a:rPr lang="en-US" dirty="0" err="1"/>
              <a:t>PartyName</a:t>
            </a:r>
            <a:r>
              <a:rPr lang="en-US" dirty="0"/>
              <a:t> (with the ‘$’ prefix)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1710566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2277097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0" y="3791813"/>
            <a:ext cx="242459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OrganizationController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4301844"/>
            <a:ext cx="226777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3249230"/>
            <a:ext cx="917713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2763180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Naming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960"/>
            <a:ext cx="10515600" cy="4907915"/>
          </a:xfrm>
        </p:spPr>
        <p:txBody>
          <a:bodyPr>
            <a:normAutofit/>
          </a:bodyPr>
          <a:lstStyle/>
          <a:p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127 characters.</a:t>
            </a:r>
          </a:p>
          <a:p>
            <a:pPr lvl="1"/>
            <a:r>
              <a:rPr lang="en-US" dirty="0"/>
              <a:t>Defaults to “Undefined”.</a:t>
            </a:r>
          </a:p>
          <a:p>
            <a:r>
              <a:rPr lang="en-US" dirty="0" err="1"/>
              <a:t>PartyName</a:t>
            </a:r>
            <a:endParaRPr lang="en-US" dirty="0"/>
          </a:p>
          <a:p>
            <a:pPr lvl="1"/>
            <a:r>
              <a:rPr lang="en-US" dirty="0"/>
              <a:t>Cannot be longer than 31 characters.</a:t>
            </a:r>
          </a:p>
          <a:p>
            <a:pPr lvl="1"/>
            <a:r>
              <a:rPr lang="en-US" dirty="0"/>
              <a:t>Can start or not with ‘$’. Always start with a ‘$’ when used in a </a:t>
            </a:r>
            <a:r>
              <a:rPr lang="en-US" dirty="0" err="1"/>
              <a:t>FullName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Defaults to “Unknown”</a:t>
            </a:r>
          </a:p>
          <a:p>
            <a:r>
              <a:rPr lang="en-US" dirty="0" err="1"/>
              <a:t>EnvironmentName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31 characters (including the leading ‘#’).</a:t>
            </a:r>
          </a:p>
          <a:p>
            <a:pPr lvl="1"/>
            <a:r>
              <a:rPr lang="en-US" dirty="0"/>
              <a:t>Defaults to ‘#Development’.</a:t>
            </a:r>
          </a:p>
          <a:p>
            <a:r>
              <a:rPr lang="en-US" dirty="0" err="1"/>
              <a:t>FullName’s</a:t>
            </a:r>
            <a:r>
              <a:rPr lang="en-US" dirty="0"/>
              <a:t> max length is 192 characters.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B32FE4-91CF-4187-B129-4798A78FA9B5}"/>
              </a:ext>
            </a:extLst>
          </p:cNvPr>
          <p:cNvSpPr txBox="1"/>
          <p:nvPr/>
        </p:nvSpPr>
        <p:spPr>
          <a:xfrm>
            <a:off x="769855" y="2841961"/>
            <a:ext cx="6932262" cy="31085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/$Trolley1/#Production",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814662" y="360607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party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507808"/>
            <a:ext cx="6223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CentralLogwer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7887" y="230314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ends its logs to a central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any Remote can be in Domain and Environment independent of its group of “Remotes”.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4204" y="1310648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9883" y="2758354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3517" y="2187822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9683517" y="3508645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party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12000" y="1833428"/>
            <a:ext cx="493099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503427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379960" y="405305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485748" y="44053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0183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363960" y="418991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567028" y="45908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6954B0-C49D-9584-2334-B41D9ADC5FD7}"/>
              </a:ext>
            </a:extLst>
          </p:cNvPr>
          <p:cNvSpPr txBox="1"/>
          <p:nvPr/>
        </p:nvSpPr>
        <p:spPr>
          <a:xfrm>
            <a:off x="838201" y="2949401"/>
            <a:ext cx="50342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</a:t>
            </a:r>
            <a:endParaRPr lang="en-US" b="1" dirty="0"/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F8AEE13-D867-21FE-1D37-650A6B41E59E}"/>
              </a:ext>
            </a:extLst>
          </p:cNvPr>
          <p:cNvSpPr txBox="1"/>
          <p:nvPr/>
        </p:nvSpPr>
        <p:spPr>
          <a:xfrm>
            <a:off x="671575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54837" y="1690688"/>
            <a:ext cx="534792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$OneCS1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9AEF489-966C-6867-522A-1DFE4893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2" y="4847862"/>
            <a:ext cx="6903718" cy="1805832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the </a:t>
            </a:r>
            <a:br>
              <a:rPr lang="en-US" dirty="0"/>
            </a:br>
            <a:r>
              <a:rPr lang="en-US" dirty="0"/>
              <a:t>“Domain Controller”.</a:t>
            </a:r>
          </a:p>
          <a:p>
            <a:r>
              <a:rPr lang="en-US" dirty="0"/>
              <a:t>It is a </a:t>
            </a:r>
            <a:r>
              <a:rPr lang="en-US" b="1" dirty="0"/>
              <a:t>Local Party</a:t>
            </a:r>
            <a:r>
              <a:rPr lang="en-US" dirty="0"/>
              <a:t> like its host “</a:t>
            </a:r>
            <a:r>
              <a:rPr lang="en-US" dirty="0" err="1"/>
              <a:t>SaasOneCS</a:t>
            </a:r>
            <a:r>
              <a:rPr lang="en-US" dirty="0"/>
              <a:t>/$OneCS1”</a:t>
            </a:r>
          </a:p>
          <a:p>
            <a:pPr lvl="1"/>
            <a:r>
              <a:rPr lang="en-US" dirty="0"/>
              <a:t>The previous autonomous application 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now hosted.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621B1-1DCC-0779-5BE9-1D9091CDB19A}"/>
              </a:ext>
            </a:extLst>
          </p:cNvPr>
          <p:cNvSpPr/>
          <p:nvPr/>
        </p:nvSpPr>
        <p:spPr>
          <a:xfrm>
            <a:off x="6793041" y="1690688"/>
            <a:ext cx="4733364" cy="3754874"/>
          </a:xfrm>
          <a:custGeom>
            <a:avLst/>
            <a:gdLst>
              <a:gd name="connsiteX0" fmla="*/ 0 w 4733364"/>
              <a:gd name="connsiteY0" fmla="*/ 0 h 3754874"/>
              <a:gd name="connsiteX1" fmla="*/ 544337 w 4733364"/>
              <a:gd name="connsiteY1" fmla="*/ 0 h 3754874"/>
              <a:gd name="connsiteX2" fmla="*/ 994006 w 4733364"/>
              <a:gd name="connsiteY2" fmla="*/ 0 h 3754874"/>
              <a:gd name="connsiteX3" fmla="*/ 1680344 w 4733364"/>
              <a:gd name="connsiteY3" fmla="*/ 0 h 3754874"/>
              <a:gd name="connsiteX4" fmla="*/ 2224681 w 4733364"/>
              <a:gd name="connsiteY4" fmla="*/ 0 h 3754874"/>
              <a:gd name="connsiteX5" fmla="*/ 2769018 w 4733364"/>
              <a:gd name="connsiteY5" fmla="*/ 0 h 3754874"/>
              <a:gd name="connsiteX6" fmla="*/ 3455356 w 4733364"/>
              <a:gd name="connsiteY6" fmla="*/ 0 h 3754874"/>
              <a:gd name="connsiteX7" fmla="*/ 3952359 w 4733364"/>
              <a:gd name="connsiteY7" fmla="*/ 0 h 3754874"/>
              <a:gd name="connsiteX8" fmla="*/ 4733364 w 4733364"/>
              <a:gd name="connsiteY8" fmla="*/ 0 h 3754874"/>
              <a:gd name="connsiteX9" fmla="*/ 4733364 w 4733364"/>
              <a:gd name="connsiteY9" fmla="*/ 611508 h 3754874"/>
              <a:gd name="connsiteX10" fmla="*/ 4733364 w 4733364"/>
              <a:gd name="connsiteY10" fmla="*/ 1072821 h 3754874"/>
              <a:gd name="connsiteX11" fmla="*/ 4733364 w 4733364"/>
              <a:gd name="connsiteY11" fmla="*/ 1609232 h 3754874"/>
              <a:gd name="connsiteX12" fmla="*/ 4733364 w 4733364"/>
              <a:gd name="connsiteY12" fmla="*/ 2183191 h 3754874"/>
              <a:gd name="connsiteX13" fmla="*/ 4733364 w 4733364"/>
              <a:gd name="connsiteY13" fmla="*/ 2606955 h 3754874"/>
              <a:gd name="connsiteX14" fmla="*/ 4733364 w 4733364"/>
              <a:gd name="connsiteY14" fmla="*/ 3143366 h 3754874"/>
              <a:gd name="connsiteX15" fmla="*/ 4733364 w 4733364"/>
              <a:gd name="connsiteY15" fmla="*/ 3754874 h 3754874"/>
              <a:gd name="connsiteX16" fmla="*/ 4141694 w 4733364"/>
              <a:gd name="connsiteY16" fmla="*/ 3754874 h 3754874"/>
              <a:gd name="connsiteX17" fmla="*/ 3455356 w 4733364"/>
              <a:gd name="connsiteY17" fmla="*/ 3754874 h 3754874"/>
              <a:gd name="connsiteX18" fmla="*/ 2863685 w 4733364"/>
              <a:gd name="connsiteY18" fmla="*/ 3754874 h 3754874"/>
              <a:gd name="connsiteX19" fmla="*/ 2414016 w 4733364"/>
              <a:gd name="connsiteY19" fmla="*/ 3754874 h 3754874"/>
              <a:gd name="connsiteX20" fmla="*/ 1917012 w 4733364"/>
              <a:gd name="connsiteY20" fmla="*/ 3754874 h 3754874"/>
              <a:gd name="connsiteX21" fmla="*/ 1230675 w 4733364"/>
              <a:gd name="connsiteY21" fmla="*/ 3754874 h 3754874"/>
              <a:gd name="connsiteX22" fmla="*/ 639004 w 4733364"/>
              <a:gd name="connsiteY22" fmla="*/ 3754874 h 3754874"/>
              <a:gd name="connsiteX23" fmla="*/ 0 w 4733364"/>
              <a:gd name="connsiteY23" fmla="*/ 3754874 h 3754874"/>
              <a:gd name="connsiteX24" fmla="*/ 0 w 4733364"/>
              <a:gd name="connsiteY24" fmla="*/ 3218463 h 3754874"/>
              <a:gd name="connsiteX25" fmla="*/ 0 w 4733364"/>
              <a:gd name="connsiteY25" fmla="*/ 2794699 h 3754874"/>
              <a:gd name="connsiteX26" fmla="*/ 0 w 4733364"/>
              <a:gd name="connsiteY26" fmla="*/ 2370935 h 3754874"/>
              <a:gd name="connsiteX27" fmla="*/ 0 w 4733364"/>
              <a:gd name="connsiteY27" fmla="*/ 1796975 h 3754874"/>
              <a:gd name="connsiteX28" fmla="*/ 0 w 4733364"/>
              <a:gd name="connsiteY28" fmla="*/ 1335662 h 3754874"/>
              <a:gd name="connsiteX29" fmla="*/ 0 w 4733364"/>
              <a:gd name="connsiteY29" fmla="*/ 724154 h 3754874"/>
              <a:gd name="connsiteX30" fmla="*/ 0 w 4733364"/>
              <a:gd name="connsiteY30" fmla="*/ 0 h 3754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733364" h="3754874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49522" y="123515"/>
                  <a:pt x="4685277" y="353000"/>
                  <a:pt x="4733364" y="611508"/>
                </a:cubicBezTo>
                <a:cubicBezTo>
                  <a:pt x="4781451" y="870016"/>
                  <a:pt x="4679557" y="972846"/>
                  <a:pt x="4733364" y="1072821"/>
                </a:cubicBezTo>
                <a:cubicBezTo>
                  <a:pt x="4787171" y="1172796"/>
                  <a:pt x="4697483" y="1382836"/>
                  <a:pt x="4733364" y="1609232"/>
                </a:cubicBezTo>
                <a:cubicBezTo>
                  <a:pt x="4769245" y="1835628"/>
                  <a:pt x="4697524" y="2027386"/>
                  <a:pt x="4733364" y="2183191"/>
                </a:cubicBezTo>
                <a:cubicBezTo>
                  <a:pt x="4769204" y="2338996"/>
                  <a:pt x="4727974" y="2427041"/>
                  <a:pt x="4733364" y="2606955"/>
                </a:cubicBezTo>
                <a:cubicBezTo>
                  <a:pt x="4738754" y="2786869"/>
                  <a:pt x="4733228" y="2965049"/>
                  <a:pt x="4733364" y="3143366"/>
                </a:cubicBezTo>
                <a:cubicBezTo>
                  <a:pt x="4733500" y="3321683"/>
                  <a:pt x="4668483" y="3520497"/>
                  <a:pt x="4733364" y="3754874"/>
                </a:cubicBezTo>
                <a:cubicBezTo>
                  <a:pt x="4525963" y="3774907"/>
                  <a:pt x="4436615" y="3711015"/>
                  <a:pt x="4141694" y="3754874"/>
                </a:cubicBezTo>
                <a:cubicBezTo>
                  <a:pt x="3846773" y="3798733"/>
                  <a:pt x="3793273" y="3675467"/>
                  <a:pt x="3455356" y="3754874"/>
                </a:cubicBezTo>
                <a:cubicBezTo>
                  <a:pt x="3117439" y="3834281"/>
                  <a:pt x="3117900" y="3743300"/>
                  <a:pt x="2863685" y="3754874"/>
                </a:cubicBezTo>
                <a:cubicBezTo>
                  <a:pt x="2609470" y="3766448"/>
                  <a:pt x="2551397" y="3712888"/>
                  <a:pt x="2414016" y="3754874"/>
                </a:cubicBezTo>
                <a:cubicBezTo>
                  <a:pt x="2276635" y="3796860"/>
                  <a:pt x="2026307" y="3697298"/>
                  <a:pt x="1917012" y="3754874"/>
                </a:cubicBezTo>
                <a:cubicBezTo>
                  <a:pt x="1807717" y="3812450"/>
                  <a:pt x="1498914" y="3753701"/>
                  <a:pt x="1230675" y="3754874"/>
                </a:cubicBezTo>
                <a:cubicBezTo>
                  <a:pt x="962436" y="3756047"/>
                  <a:pt x="901520" y="3748643"/>
                  <a:pt x="639004" y="3754874"/>
                </a:cubicBezTo>
                <a:cubicBezTo>
                  <a:pt x="376488" y="3761105"/>
                  <a:pt x="174782" y="3752861"/>
                  <a:pt x="0" y="3754874"/>
                </a:cubicBezTo>
                <a:cubicBezTo>
                  <a:pt x="-53902" y="3605730"/>
                  <a:pt x="60600" y="3338802"/>
                  <a:pt x="0" y="3218463"/>
                </a:cubicBezTo>
                <a:cubicBezTo>
                  <a:pt x="-60600" y="3098124"/>
                  <a:pt x="43054" y="2892626"/>
                  <a:pt x="0" y="2794699"/>
                </a:cubicBezTo>
                <a:cubicBezTo>
                  <a:pt x="-43054" y="2696772"/>
                  <a:pt x="46355" y="2470556"/>
                  <a:pt x="0" y="2370935"/>
                </a:cubicBezTo>
                <a:cubicBezTo>
                  <a:pt x="-46355" y="2271314"/>
                  <a:pt x="20903" y="1997827"/>
                  <a:pt x="0" y="1796975"/>
                </a:cubicBezTo>
                <a:cubicBezTo>
                  <a:pt x="-20903" y="1596123"/>
                  <a:pt x="31988" y="1460266"/>
                  <a:pt x="0" y="1335662"/>
                </a:cubicBezTo>
                <a:cubicBezTo>
                  <a:pt x="-31988" y="1211058"/>
                  <a:pt x="37542" y="864533"/>
                  <a:pt x="0" y="724154"/>
                </a:cubicBezTo>
                <a:cubicBezTo>
                  <a:pt x="-37542" y="583775"/>
                  <a:pt x="7023" y="181575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72FE9D-A494-0880-7478-23B8F8658432}"/>
              </a:ext>
            </a:extLst>
          </p:cNvPr>
          <p:cNvSpPr/>
          <p:nvPr/>
        </p:nvSpPr>
        <p:spPr>
          <a:xfrm>
            <a:off x="1075765" y="2549562"/>
            <a:ext cx="4733364" cy="1161826"/>
          </a:xfrm>
          <a:custGeom>
            <a:avLst/>
            <a:gdLst>
              <a:gd name="connsiteX0" fmla="*/ 0 w 4733364"/>
              <a:gd name="connsiteY0" fmla="*/ 0 h 1161826"/>
              <a:gd name="connsiteX1" fmla="*/ 544337 w 4733364"/>
              <a:gd name="connsiteY1" fmla="*/ 0 h 1161826"/>
              <a:gd name="connsiteX2" fmla="*/ 994006 w 4733364"/>
              <a:gd name="connsiteY2" fmla="*/ 0 h 1161826"/>
              <a:gd name="connsiteX3" fmla="*/ 1680344 w 4733364"/>
              <a:gd name="connsiteY3" fmla="*/ 0 h 1161826"/>
              <a:gd name="connsiteX4" fmla="*/ 2224681 w 4733364"/>
              <a:gd name="connsiteY4" fmla="*/ 0 h 1161826"/>
              <a:gd name="connsiteX5" fmla="*/ 2769018 w 4733364"/>
              <a:gd name="connsiteY5" fmla="*/ 0 h 1161826"/>
              <a:gd name="connsiteX6" fmla="*/ 3455356 w 4733364"/>
              <a:gd name="connsiteY6" fmla="*/ 0 h 1161826"/>
              <a:gd name="connsiteX7" fmla="*/ 3952359 w 4733364"/>
              <a:gd name="connsiteY7" fmla="*/ 0 h 1161826"/>
              <a:gd name="connsiteX8" fmla="*/ 4733364 w 4733364"/>
              <a:gd name="connsiteY8" fmla="*/ 0 h 1161826"/>
              <a:gd name="connsiteX9" fmla="*/ 4733364 w 4733364"/>
              <a:gd name="connsiteY9" fmla="*/ 604150 h 1161826"/>
              <a:gd name="connsiteX10" fmla="*/ 4733364 w 4733364"/>
              <a:gd name="connsiteY10" fmla="*/ 1161826 h 1161826"/>
              <a:gd name="connsiteX11" fmla="*/ 4141694 w 4733364"/>
              <a:gd name="connsiteY11" fmla="*/ 1161826 h 1161826"/>
              <a:gd name="connsiteX12" fmla="*/ 3597357 w 4733364"/>
              <a:gd name="connsiteY12" fmla="*/ 1161826 h 1161826"/>
              <a:gd name="connsiteX13" fmla="*/ 2911019 w 4733364"/>
              <a:gd name="connsiteY13" fmla="*/ 1161826 h 1161826"/>
              <a:gd name="connsiteX14" fmla="*/ 2224681 w 4733364"/>
              <a:gd name="connsiteY14" fmla="*/ 1161826 h 1161826"/>
              <a:gd name="connsiteX15" fmla="*/ 1727678 w 4733364"/>
              <a:gd name="connsiteY15" fmla="*/ 1161826 h 1161826"/>
              <a:gd name="connsiteX16" fmla="*/ 1136007 w 4733364"/>
              <a:gd name="connsiteY16" fmla="*/ 1161826 h 1161826"/>
              <a:gd name="connsiteX17" fmla="*/ 0 w 4733364"/>
              <a:gd name="connsiteY17" fmla="*/ 1161826 h 1161826"/>
              <a:gd name="connsiteX18" fmla="*/ 0 w 4733364"/>
              <a:gd name="connsiteY18" fmla="*/ 580913 h 1161826"/>
              <a:gd name="connsiteX19" fmla="*/ 0 w 4733364"/>
              <a:gd name="connsiteY19" fmla="*/ 0 h 1161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733364" h="1161826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74937" y="182907"/>
                  <a:pt x="4683414" y="437336"/>
                  <a:pt x="4733364" y="604150"/>
                </a:cubicBezTo>
                <a:cubicBezTo>
                  <a:pt x="4783314" y="770964"/>
                  <a:pt x="4731225" y="909997"/>
                  <a:pt x="4733364" y="1161826"/>
                </a:cubicBezTo>
                <a:cubicBezTo>
                  <a:pt x="4455532" y="1228628"/>
                  <a:pt x="4325425" y="1122304"/>
                  <a:pt x="4141694" y="1161826"/>
                </a:cubicBezTo>
                <a:cubicBezTo>
                  <a:pt x="3957963" y="1201348"/>
                  <a:pt x="3720866" y="1126498"/>
                  <a:pt x="3597357" y="1161826"/>
                </a:cubicBezTo>
                <a:cubicBezTo>
                  <a:pt x="3473848" y="1197154"/>
                  <a:pt x="3108827" y="1156187"/>
                  <a:pt x="2911019" y="1161826"/>
                </a:cubicBezTo>
                <a:cubicBezTo>
                  <a:pt x="2713211" y="1167465"/>
                  <a:pt x="2425949" y="1113687"/>
                  <a:pt x="2224681" y="1161826"/>
                </a:cubicBezTo>
                <a:cubicBezTo>
                  <a:pt x="2023413" y="1209965"/>
                  <a:pt x="1839854" y="1107588"/>
                  <a:pt x="1727678" y="1161826"/>
                </a:cubicBezTo>
                <a:cubicBezTo>
                  <a:pt x="1615502" y="1216064"/>
                  <a:pt x="1259688" y="1124550"/>
                  <a:pt x="1136007" y="1161826"/>
                </a:cubicBezTo>
                <a:cubicBezTo>
                  <a:pt x="1012326" y="1199102"/>
                  <a:pt x="275734" y="1027589"/>
                  <a:pt x="0" y="1161826"/>
                </a:cubicBezTo>
                <a:cubicBezTo>
                  <a:pt x="-5849" y="889776"/>
                  <a:pt x="16710" y="837427"/>
                  <a:pt x="0" y="580913"/>
                </a:cubicBezTo>
                <a:cubicBezTo>
                  <a:pt x="-16710" y="324399"/>
                  <a:pt x="27932" y="254347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599FD8-2975-8A4A-4073-614F1B8AB184}"/>
              </a:ext>
            </a:extLst>
          </p:cNvPr>
          <p:cNvSpPr/>
          <p:nvPr/>
        </p:nvSpPr>
        <p:spPr>
          <a:xfrm>
            <a:off x="5589977" y="2806656"/>
            <a:ext cx="1280160" cy="86106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Change!!!</a:t>
            </a:r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1B4665-DD00-73E6-923E-6E295A7ABC7E}"/>
              </a:ext>
            </a:extLst>
          </p:cNvPr>
          <p:cNvSpPr txBox="1"/>
          <p:nvPr/>
        </p:nvSpPr>
        <p:spPr>
          <a:xfrm>
            <a:off x="5953052" y="1690688"/>
            <a:ext cx="595375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1A3BB-C45C-40DE-67C0-50F9948E66FE}"/>
              </a:ext>
            </a:extLst>
          </p:cNvPr>
          <p:cNvSpPr txBox="1"/>
          <p:nvPr/>
        </p:nvSpPr>
        <p:spPr>
          <a:xfrm>
            <a:off x="605123" y="1692425"/>
            <a:ext cx="534792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#Production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by simply using the </a:t>
            </a:r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DomainName</a:t>
            </a:r>
            <a:r>
              <a:rPr lang="en-US" dirty="0"/>
              <a:t> can be a path.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F5718A-75F5-2836-EB73-22530B20A975}"/>
              </a:ext>
            </a:extLst>
          </p:cNvPr>
          <p:cNvSpPr txBox="1"/>
          <p:nvPr/>
        </p:nvSpPr>
        <p:spPr>
          <a:xfrm>
            <a:off x="654837" y="1690688"/>
            <a:ext cx="678945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/France/$France",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/London/$London",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052A3A-EBF7-3C28-4E2D-D46F44ACBE03}"/>
              </a:ext>
            </a:extLst>
          </p:cNvPr>
          <p:cNvSpPr txBox="1"/>
          <p:nvPr/>
        </p:nvSpPr>
        <p:spPr>
          <a:xfrm>
            <a:off x="6280824" y="1690688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"$France",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8426AA-A61E-323E-1908-225D6883F628}"/>
              </a:ext>
            </a:extLst>
          </p:cNvPr>
          <p:cNvSpPr txBox="1"/>
          <p:nvPr/>
        </p:nvSpPr>
        <p:spPr>
          <a:xfrm>
            <a:off x="6280824" y="3759063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"$London",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8348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(signing key)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External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“External” and “Undefined” are the reserved Domain names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EB0D-75FE-A9E7-AE5D-1A00BE2CB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D3F96-4E3A-A64D-A143-5E0F643AB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173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supports any </a:t>
            </a:r>
            <a:r>
              <a:rPr lang="en-US" dirty="0" err="1"/>
              <a:t>.Net</a:t>
            </a:r>
            <a:r>
              <a:rPr lang="en-US" dirty="0"/>
              <a:t> Configuration source.</a:t>
            </a:r>
            <a:br>
              <a:rPr lang="en-US" dirty="0"/>
            </a:b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Provides 2 helpers and </a:t>
            </a:r>
            <a:r>
              <a:rPr lang="en-US" b="1" dirty="0" err="1"/>
              <a:t>MutableConfigurationSection</a:t>
            </a:r>
            <a:r>
              <a:rPr lang="en-US" dirty="0"/>
              <a:t> and </a:t>
            </a:r>
            <a:r>
              <a:rPr lang="en-US" b="1" dirty="0" err="1"/>
              <a:t>ImmutableConfigurationSection</a:t>
            </a:r>
            <a:r>
              <a:rPr lang="en-US" dirty="0"/>
              <a:t> to support direct manipulation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981811" y="4895700"/>
            <a:ext cx="1060938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ApplicationIdentityConfiguration.Create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monitor, c =&gt;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FullName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"Test/$Listener"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"Remotes:0:PartyName"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AllowFeatures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BlobChannel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/>
          </a:p>
          <a:p>
            <a:r>
              <a:rPr lang="en-US" dirty="0"/>
              <a:t>One can only add a Feature “from the outside”: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lvl="1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ym typeface="Wingdings" panose="05000000000000000000" pitchFamily="2" charset="2"/>
              </a:rPr>
              <a:t> </a:t>
            </a: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FA01833-99FE-B7AE-E0AD-029E63353E39}"/>
              </a:ext>
            </a:extLst>
          </p:cNvPr>
          <p:cNvSpPr/>
          <p:nvPr/>
        </p:nvSpPr>
        <p:spPr>
          <a:xfrm>
            <a:off x="6684661" y="2153920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  <p:sp>
        <p:nvSpPr>
          <p:cNvPr id="3" name="Star: 6 Points 2">
            <a:extLst>
              <a:ext uri="{FF2B5EF4-FFF2-40B4-BE49-F238E27FC236}">
                <a16:creationId xmlns:a16="http://schemas.microsoft.com/office/drawing/2014/main" id="{D5A5D772-160E-343F-FF5F-6DE7C09F6603}"/>
              </a:ext>
            </a:extLst>
          </p:cNvPr>
          <p:cNvSpPr/>
          <p:nvPr/>
        </p:nvSpPr>
        <p:spPr>
          <a:xfrm>
            <a:off x="2051701" y="60753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967DF75-EF55-D3BE-2790-7398E3AE6458}"/>
              </a:ext>
            </a:extLst>
          </p:cNvPr>
          <p:cNvSpPr/>
          <p:nvPr/>
        </p:nvSpPr>
        <p:spPr>
          <a:xfrm>
            <a:off x="7353300" y="146641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AF23AD5-4669-6BB8-3F80-414BA1D47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74" y="142035"/>
            <a:ext cx="4298052" cy="4724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7392EC-8AF7-DB6B-E725-643E95A9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User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84768-E9B2-29E2-8DA2-81195578C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880" y="1825624"/>
            <a:ext cx="9032240" cy="446341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(from </a:t>
            </a:r>
            <a:r>
              <a:rPr lang="en-US" dirty="0" err="1"/>
              <a:t>CK.Auth.Cris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IAuthenticationInfo</a:t>
            </a:r>
            <a:r>
              <a:rPr lang="en-US" dirty="0"/>
              <a:t> service is the key</a:t>
            </a:r>
          </a:p>
          <a:p>
            <a:pPr lvl="1"/>
            <a:r>
              <a:rPr lang="en-US" dirty="0"/>
              <a:t>This is a “Ubiquitous Endpoint” service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This service is resolved and secured by the Endpoint</a:t>
            </a:r>
          </a:p>
          <a:p>
            <a:pPr lvl="1"/>
            <a:r>
              <a:rPr lang="en-US" dirty="0"/>
              <a:t>The global “Web” endpoint uses an encrypted token.</a:t>
            </a:r>
          </a:p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cannot be fooled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ActorId</a:t>
            </a:r>
            <a:r>
              <a:rPr lang="en-US" dirty="0"/>
              <a:t>, </a:t>
            </a:r>
            <a:r>
              <a:rPr lang="en-US" dirty="0" err="1"/>
              <a:t>DeviceId</a:t>
            </a:r>
            <a:r>
              <a:rPr lang="en-US" dirty="0"/>
              <a:t> and </a:t>
            </a:r>
            <a:r>
              <a:rPr lang="en-US" dirty="0" err="1"/>
              <a:t>ActualActorId</a:t>
            </a:r>
            <a:r>
              <a:rPr lang="en-US" dirty="0"/>
              <a:t> are checked against the secured </a:t>
            </a:r>
            <a:r>
              <a:rPr lang="en-US" dirty="0" err="1"/>
              <a:t>IAuthenticationInfo</a:t>
            </a:r>
            <a:r>
              <a:rPr lang="en-US" dirty="0"/>
              <a:t> service.</a:t>
            </a:r>
          </a:p>
        </p:txBody>
      </p:sp>
    </p:spTree>
    <p:extLst>
      <p:ext uri="{BB962C8B-B14F-4D97-AF65-F5344CB8AC3E}">
        <p14:creationId xmlns:p14="http://schemas.microsoft.com/office/powerpoint/2010/main" val="35239507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98CC-396A-8454-36E2-A15EC4E6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C601-D62B-370A-E39E-2DF1FE41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“$Trolley1” can send an Authenticated Command to “$Box” in the name of (Alice,3712).</a:t>
            </a:r>
          </a:p>
          <a:p>
            <a:r>
              <a:rPr lang="en-US" dirty="0"/>
              <a:t>“$Trolley1” must provide a proof to “$Box” that Alice is the “real” Alice (otherwise the Authenticated Command will be rejected).</a:t>
            </a:r>
          </a:p>
          <a:p>
            <a:r>
              <a:rPr lang="en-US" dirty="0"/>
              <a:t>“$Trolley1” must first obtain this proof by:</a:t>
            </a:r>
          </a:p>
          <a:p>
            <a:pPr lvl="1"/>
            <a:r>
              <a:rPr lang="en-US" dirty="0"/>
              <a:t>Let Alice logins herself into a “Central User Directory” shared with “$Box”</a:t>
            </a:r>
          </a:p>
          <a:p>
            <a:pPr lvl="1"/>
            <a:r>
              <a:rPr lang="en-US" dirty="0"/>
              <a:t>The proof must be Alice’s </a:t>
            </a:r>
            <a:r>
              <a:rPr lang="en-US" dirty="0" err="1"/>
              <a:t>IAuthenticationInfo</a:t>
            </a:r>
            <a:r>
              <a:rPr lang="en-US" dirty="0"/>
              <a:t> and a digital signature.</a:t>
            </a:r>
          </a:p>
          <a:p>
            <a:pPr lvl="1"/>
            <a:r>
              <a:rPr lang="en-US" dirty="0"/>
              <a:t>“$Box” can verify that the signature has been generated by the “Central User Directory” for “$Trolley1” and that the </a:t>
            </a:r>
            <a:r>
              <a:rPr lang="en-US" dirty="0" err="1"/>
              <a:t>IAuthenticationInfo</a:t>
            </a:r>
            <a:r>
              <a:rPr lang="en-US" dirty="0"/>
              <a:t> has not been tampered.</a:t>
            </a:r>
          </a:p>
        </p:txBody>
      </p:sp>
    </p:spTree>
    <p:extLst>
      <p:ext uri="{BB962C8B-B14F-4D97-AF65-F5344CB8AC3E}">
        <p14:creationId xmlns:p14="http://schemas.microsoft.com/office/powerpoint/2010/main" val="9738746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BFFE-4E3A-2E51-3538-8811F1401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(2/2)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4F95B-3516-EFB7-2D85-F2244EED8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When “$Trolley1” sends a Command in the name of Alice to “$Box”…</a:t>
            </a:r>
          </a:p>
          <a:p>
            <a:pPr lvl="1"/>
            <a:r>
              <a:rPr lang="en-US" dirty="0"/>
              <a:t>it also sends the proof.</a:t>
            </a:r>
          </a:p>
          <a:p>
            <a:r>
              <a:rPr lang="en-US" dirty="0"/>
              <a:t>“$Box” </a:t>
            </a:r>
            <a:r>
              <a:rPr lang="en-US" dirty="0" err="1"/>
              <a:t>AppIdentity’s</a:t>
            </a:r>
            <a:r>
              <a:rPr lang="en-US" dirty="0"/>
              <a:t> endpoint receives the command and the proof.</a:t>
            </a:r>
          </a:p>
          <a:p>
            <a:pPr lvl="1"/>
            <a:r>
              <a:rPr lang="en-US" dirty="0"/>
              <a:t>It builds a “</a:t>
            </a:r>
            <a:r>
              <a:rPr lang="en-US" dirty="0" err="1"/>
              <a:t>ScopedData</a:t>
            </a:r>
            <a:r>
              <a:rPr lang="en-US" dirty="0"/>
              <a:t>” with the proof and the fact that it is “$Trolley1” that sent the command.</a:t>
            </a:r>
          </a:p>
          <a:p>
            <a:pPr lvl="1"/>
            <a:r>
              <a:rPr lang="en-US" dirty="0"/>
              <a:t>Its Endpoint is configured to resolve the </a:t>
            </a:r>
            <a:r>
              <a:rPr lang="en-US" dirty="0" err="1"/>
              <a:t>IAuthenticationInfo</a:t>
            </a:r>
            <a:r>
              <a:rPr lang="en-US" dirty="0"/>
              <a:t> service by:</a:t>
            </a:r>
          </a:p>
          <a:p>
            <a:pPr lvl="2"/>
            <a:r>
              <a:rPr lang="en-US" dirty="0"/>
              <a:t>Accessing the </a:t>
            </a:r>
            <a:r>
              <a:rPr lang="en-US" dirty="0" err="1"/>
              <a:t>ScopedData’s</a:t>
            </a:r>
            <a:r>
              <a:rPr lang="en-US" dirty="0"/>
              <a:t> proof and sender.</a:t>
            </a:r>
          </a:p>
          <a:p>
            <a:pPr lvl="2"/>
            <a:r>
              <a:rPr lang="en-US" dirty="0"/>
              <a:t>Verifying the signature and on success, returns the </a:t>
            </a:r>
            <a:r>
              <a:rPr lang="en-US" dirty="0" err="1"/>
              <a:t>IAuthenticationInfo</a:t>
            </a:r>
            <a:r>
              <a:rPr lang="en-US" dirty="0"/>
              <a:t>.</a:t>
            </a:r>
          </a:p>
          <a:p>
            <a:r>
              <a:rPr lang="en-US" dirty="0"/>
              <a:t>“$Box” validates and executes the command</a:t>
            </a:r>
          </a:p>
          <a:p>
            <a:pPr lvl="1"/>
            <a:r>
              <a:rPr lang="en-US" dirty="0"/>
              <a:t>Commands are executed in the background by runners in a scoped service container parametrized with the </a:t>
            </a:r>
            <a:r>
              <a:rPr lang="en-US" dirty="0" err="1"/>
              <a:t>ScopedData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any service involved in the validation or execution of the command requires the </a:t>
            </a:r>
            <a:r>
              <a:rPr lang="en-US" dirty="0" err="1"/>
              <a:t>IAuthenticationInfo</a:t>
            </a:r>
            <a:r>
              <a:rPr lang="en-US" dirty="0"/>
              <a:t>, it is resolved.</a:t>
            </a:r>
          </a:p>
          <a:p>
            <a:pPr lvl="1"/>
            <a:r>
              <a:rPr lang="en-US" dirty="0"/>
              <a:t>Command execution outcomes (Validation result, events and result) are sent back to “$Trolley1”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1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D4AF-53E9-FC4C-72A8-AAC9BDA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</a:t>
            </a:r>
            <a:r>
              <a:rPr lang="en-US" dirty="0" err="1"/>
              <a:t>PartyAuthenticationToken</a:t>
            </a:r>
            <a:r>
              <a:rPr lang="en-US" dirty="0"/>
              <a:t>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F5DD-D01F-FADF-46B5-1C37122F4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Contains at least (</a:t>
            </a:r>
            <a:r>
              <a:rPr lang="en-US" dirty="0" err="1"/>
              <a:t>OpenId</a:t>
            </a:r>
            <a:r>
              <a:rPr lang="en-US" dirty="0"/>
              <a:t> compliant)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sub</a:t>
            </a:r>
            <a:r>
              <a:rPr lang="en-US" dirty="0"/>
              <a:t>ject: the </a:t>
            </a:r>
            <a:r>
              <a:rPr lang="en-US" dirty="0" err="1"/>
              <a:t>IAuthenticationInfo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with its </a:t>
            </a:r>
            <a:r>
              <a:rPr lang="en-US" dirty="0" err="1"/>
              <a:t>CriticalExpires</a:t>
            </a:r>
            <a:r>
              <a:rPr lang="en-US" dirty="0"/>
              <a:t> and </a:t>
            </a:r>
            <a:r>
              <a:rPr lang="en-US" b="1" dirty="0"/>
              <a:t>Exp</a:t>
            </a:r>
            <a:r>
              <a:rPr lang="en-US" dirty="0"/>
              <a:t>ires dates).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iss</a:t>
            </a:r>
            <a:r>
              <a:rPr lang="en-US" dirty="0"/>
              <a:t>uer: the “Central User Directory” identity full name.</a:t>
            </a:r>
          </a:p>
          <a:p>
            <a:pPr lvl="1"/>
            <a:r>
              <a:rPr lang="en-US" b="1" dirty="0"/>
              <a:t>alg</a:t>
            </a:r>
            <a:r>
              <a:rPr lang="en-US" dirty="0"/>
              <a:t>orithm and key size should be decided and fixed (best practice – may be overridden later).</a:t>
            </a:r>
          </a:p>
          <a:p>
            <a:r>
              <a:rPr lang="en-US" dirty="0"/>
              <a:t>Options (more </a:t>
            </a:r>
            <a:r>
              <a:rPr lang="en-US" dirty="0" err="1"/>
              <a:t>Oauth</a:t>
            </a:r>
            <a:r>
              <a:rPr lang="en-US" dirty="0"/>
              <a:t> than </a:t>
            </a:r>
            <a:r>
              <a:rPr lang="en-US" dirty="0" err="1"/>
              <a:t>OpenId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aud</a:t>
            </a:r>
            <a:r>
              <a:rPr lang="en-US" dirty="0"/>
              <a:t>ience: the “$Box” identity full name.</a:t>
            </a:r>
          </a:p>
          <a:p>
            <a:pPr lvl="1"/>
            <a:r>
              <a:rPr lang="en-US" dirty="0"/>
              <a:t>“client” or “origin”: the “$Trolley1” identity full name to which the token has been delivered.</a:t>
            </a:r>
          </a:p>
          <a:p>
            <a:r>
              <a:rPr lang="en-US" dirty="0"/>
              <a:t>Open questions</a:t>
            </a:r>
          </a:p>
          <a:p>
            <a:pPr lvl="1"/>
            <a:r>
              <a:rPr lang="en-US" dirty="0"/>
              <a:t>“issued at” (</a:t>
            </a:r>
            <a:r>
              <a:rPr lang="en-US" b="1" dirty="0" err="1"/>
              <a:t>iat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“not before” (</a:t>
            </a:r>
            <a:r>
              <a:rPr lang="en-US" b="1" dirty="0" err="1"/>
              <a:t>nbf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Key identifier (</a:t>
            </a:r>
            <a:r>
              <a:rPr lang="en-US" b="1" dirty="0"/>
              <a:t>kid</a:t>
            </a:r>
            <a:r>
              <a:rPr lang="en-US" dirty="0"/>
              <a:t>) or not.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56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A6962-B8F6-250D-79FF-D57BEC59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3217C-4B1B-5541-FF3F-6319629D1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468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Context: Alice’s application ($Trolley1) is NOT a full backend with a User store.</a:t>
            </a:r>
          </a:p>
          <a:p>
            <a:pPr lvl="1"/>
            <a:r>
              <a:rPr lang="en-US" dirty="0"/>
              <a:t>It cannot “log” anybody, it is a basic “agent”, a “satellite software”</a:t>
            </a:r>
          </a:p>
          <a:p>
            <a:pPr lvl="1"/>
            <a:r>
              <a:rPr lang="en-US" dirty="0" err="1"/>
              <a:t>CK.AspNet.Auth</a:t>
            </a:r>
            <a:r>
              <a:rPr lang="en-US" dirty="0"/>
              <a:t> cannot be used: it is dedicated to the “</a:t>
            </a:r>
            <a:r>
              <a:rPr lang="en-US" dirty="0" err="1"/>
              <a:t>CentralUserRepository</a:t>
            </a:r>
            <a:r>
              <a:rPr lang="en-US" dirty="0"/>
              <a:t>”.</a:t>
            </a:r>
          </a:p>
          <a:p>
            <a:r>
              <a:rPr lang="en-US" dirty="0"/>
              <a:t>Best: the front app uses </a:t>
            </a:r>
            <a:r>
              <a:rPr lang="en-US" dirty="0" err="1"/>
              <a:t>wfa</a:t>
            </a:r>
            <a:r>
              <a:rPr lang="en-US" dirty="0"/>
              <a:t> (</a:t>
            </a:r>
            <a:r>
              <a:rPr lang="en-US" dirty="0" err="1"/>
              <a:t>js</a:t>
            </a:r>
            <a:r>
              <a:rPr lang="en-US" dirty="0"/>
              <a:t>) and everything works…</a:t>
            </a:r>
          </a:p>
          <a:p>
            <a:pPr lvl="1"/>
            <a:r>
              <a:rPr lang="en-US" dirty="0"/>
              <a:t>Its backend acts as if </a:t>
            </a:r>
            <a:r>
              <a:rPr lang="en-US" dirty="0" err="1"/>
              <a:t>CK.AspNet.Auth</a:t>
            </a:r>
            <a:r>
              <a:rPr lang="en-US" dirty="0"/>
              <a:t> was used.</a:t>
            </a:r>
          </a:p>
          <a:p>
            <a:pPr lvl="1"/>
            <a:r>
              <a:rPr lang="en-US" dirty="0"/>
              <a:t>We “just” need a middleware that handles these routes</a:t>
            </a:r>
          </a:p>
          <a:p>
            <a:pPr lvl="2"/>
            <a:r>
              <a:rPr lang="en-US" dirty="0"/>
              <a:t>/.</a:t>
            </a:r>
            <a:r>
              <a:rPr lang="en-US" dirty="0" err="1"/>
              <a:t>webFront</a:t>
            </a:r>
            <a:endParaRPr lang="en-US" dirty="0"/>
          </a:p>
          <a:p>
            <a:pPr lvl="3"/>
            <a:r>
              <a:rPr lang="en-US" dirty="0"/>
              <a:t>/token</a:t>
            </a:r>
          </a:p>
          <a:p>
            <a:pPr lvl="3"/>
            <a:r>
              <a:rPr lang="en-US" dirty="0"/>
              <a:t>/c</a:t>
            </a:r>
          </a:p>
          <a:p>
            <a:pPr lvl="4"/>
            <a:r>
              <a:rPr lang="en-US" dirty="0"/>
              <a:t>/refresh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basicLogin</a:t>
            </a:r>
            <a:endParaRPr lang="en-US" dirty="0"/>
          </a:p>
          <a:p>
            <a:pPr lvl="4"/>
            <a:r>
              <a:rPr lang="en-US" dirty="0"/>
              <a:t>/</a:t>
            </a:r>
            <a:r>
              <a:rPr lang="en-US" dirty="0" err="1"/>
              <a:t>startLogin</a:t>
            </a:r>
            <a:endParaRPr lang="en-US" dirty="0"/>
          </a:p>
          <a:p>
            <a:pPr lvl="4"/>
            <a:r>
              <a:rPr lang="en-US" dirty="0"/>
              <a:t>/logout</a:t>
            </a:r>
          </a:p>
          <a:p>
            <a:pPr lvl="4"/>
            <a:r>
              <a:rPr lang="en-US" dirty="0"/>
              <a:t>/impersonate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unsafeDirectLogin</a:t>
            </a:r>
            <a:r>
              <a:rPr lang="en-US" dirty="0"/>
              <a:t> =&gt; 403 Forbidden</a:t>
            </a:r>
          </a:p>
          <a:p>
            <a:pPr lvl="4"/>
            <a:endParaRPr lang="en-US" dirty="0"/>
          </a:p>
          <a:p>
            <a:r>
              <a:rPr lang="en-US" dirty="0"/>
              <a:t>It seems far easier to say than to implement this </a:t>
            </a:r>
            <a:r>
              <a:rPr lang="en-US" dirty="0">
                <a:sym typeface="Wingdings" panose="05000000000000000000" pitchFamily="2" charset="2"/>
              </a:rPr>
              <a:t>.</a:t>
            </a: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1E99E08-01ED-CE53-82EC-87974EE22779}"/>
              </a:ext>
            </a:extLst>
          </p:cNvPr>
          <p:cNvSpPr/>
          <p:nvPr/>
        </p:nvSpPr>
        <p:spPr>
          <a:xfrm>
            <a:off x="5618480" y="3738880"/>
            <a:ext cx="406400" cy="145288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83523983-9D55-A483-47C8-7C4E0AEA468A}"/>
              </a:ext>
            </a:extLst>
          </p:cNvPr>
          <p:cNvSpPr/>
          <p:nvPr/>
        </p:nvSpPr>
        <p:spPr>
          <a:xfrm>
            <a:off x="6024880" y="2697163"/>
            <a:ext cx="2682240" cy="1813560"/>
          </a:xfrm>
          <a:prstGeom prst="bentUpArrow">
            <a:avLst>
              <a:gd name="adj1" fmla="val 5392"/>
              <a:gd name="adj2" fmla="val 25000"/>
              <a:gd name="adj3" fmla="val 22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38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3CFE8-B3DD-1DE3-9BE3-65A7A511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51F6E-6D6D-6002-23CE-8ADA16FF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“Use the standard Luke!”</a:t>
            </a:r>
          </a:p>
          <a:p>
            <a:pPr lvl="1"/>
            <a:r>
              <a:rPr lang="en-US" dirty="0"/>
              <a:t>The backend has only OIDC authentication bound to the “Central User Repository” and then use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1219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9903</TotalTime>
  <Words>5001</Words>
  <Application>Microsoft Office PowerPoint</Application>
  <PresentationFormat>Widescreen</PresentationFormat>
  <Paragraphs>650</Paragraphs>
  <Slides>45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Calibri</vt:lpstr>
      <vt:lpstr>Calibri Light</vt:lpstr>
      <vt:lpstr>Consolas</vt:lpstr>
      <vt:lpstr>Courier New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DomainName/PartyName/EnvironmentName</vt:lpstr>
      <vt:lpstr>A FullName is autodescriptive</vt:lpstr>
      <vt:lpstr>Naming constraints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LaToulousaine goes to London!</vt:lpstr>
      <vt:lpstr>Security and privacy</vt:lpstr>
      <vt:lpstr>Other uses…</vt:lpstr>
      <vt:lpstr>PowerPoint Presentation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  <vt:lpstr>Handling User Authentication</vt:lpstr>
      <vt:lpstr>User and Commands through Parties (1/2)</vt:lpstr>
      <vt:lpstr>User and Commands through Parties (2/2) </vt:lpstr>
      <vt:lpstr>The “PartyAuthenticationToken”</vt:lpstr>
      <vt:lpstr>How Alice gets her Token? (1/2)</vt:lpstr>
      <vt:lpstr>How Alice gets her Token? (2/2)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37</cp:revision>
  <dcterms:created xsi:type="dcterms:W3CDTF">2023-03-08T10:35:35Z</dcterms:created>
  <dcterms:modified xsi:type="dcterms:W3CDTF">2023-06-26T15:26:36Z</dcterms:modified>
</cp:coreProperties>
</file>