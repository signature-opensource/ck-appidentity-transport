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ink/ink2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9" r:id="rId4"/>
    <p:sldId id="258" r:id="rId5"/>
    <p:sldId id="296" r:id="rId6"/>
    <p:sldId id="295" r:id="rId7"/>
    <p:sldId id="262" r:id="rId8"/>
    <p:sldId id="264" r:id="rId9"/>
    <p:sldId id="269" r:id="rId10"/>
    <p:sldId id="265" r:id="rId11"/>
    <p:sldId id="263" r:id="rId12"/>
    <p:sldId id="266" r:id="rId13"/>
    <p:sldId id="267" r:id="rId14"/>
    <p:sldId id="268" r:id="rId15"/>
    <p:sldId id="270" r:id="rId16"/>
    <p:sldId id="271" r:id="rId17"/>
    <p:sldId id="30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281" r:id="rId27"/>
    <p:sldId id="288" r:id="rId28"/>
    <p:sldId id="283" r:id="rId29"/>
    <p:sldId id="304" r:id="rId30"/>
    <p:sldId id="284" r:id="rId31"/>
    <p:sldId id="285" r:id="rId32"/>
    <p:sldId id="286" r:id="rId33"/>
    <p:sldId id="287" r:id="rId34"/>
    <p:sldId id="289" r:id="rId35"/>
    <p:sldId id="290" r:id="rId36"/>
    <p:sldId id="297" r:id="rId37"/>
    <p:sldId id="298" r:id="rId38"/>
    <p:sldId id="299" r:id="rId39"/>
    <p:sldId id="300" r:id="rId40"/>
    <p:sldId id="301" r:id="rId41"/>
    <p:sldId id="302" r:id="rId42"/>
    <p:sldId id="291" r:id="rId43"/>
    <p:sldId id="292" r:id="rId44"/>
    <p:sldId id="294" r:id="rId45"/>
    <p:sldId id="293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12" autoAdjust="0"/>
  </p:normalViewPr>
  <p:slideViewPr>
    <p:cSldViewPr snapToGrid="0">
      <p:cViewPr varScale="1">
        <p:scale>
          <a:sx n="75" d="100"/>
          <a:sy n="75" d="100"/>
        </p:scale>
        <p:origin x="946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4T17:00:42.1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14 170,'51'0,"662"-22,-623 9,108-29,-25 4,-13 14,227-6,165 30,-231 3,1036-3,-1268 4,0 4,-1 4,0 4,-2 3,143 52,-172-48,-39-15,-1-1,1 0,0-1,0-1,1-1,22 2,267-7,48 4,-313 3,-38-3,-13 0,-63 4,-1-3,-139-10,133 1,0-4,0-4,1-3,-137-47,139 36,-97-21,160 46,-1 1,1-1,0 2,0 0,-1 1,1 0,0 0,-18 6,-11 5,-44 18,40-13,41-15,-37 14,0-2,-1-1,0-3,-58 7,-369 7,105-10,-11 0,307-16,26 0,1 2,-41 6,70-5,0 2,0-1,0 1,1 1,-1 0,1 1,0 0,0 0,1 1,0 1,-13 10,7-4,0-1,-1-1,-1 0,0-1,0-1,-29 10,-119 26,137-39,13-1,0 1,0 0,0 1,1 1,-15 9,19-9,-1-1,-1 0,1-1,-1-1,0 0,0 0,-1-1,-19 2,-3-4,0-1,0-2,-36-7,-106-24,100 16,-88-7,110 19,-18 0,-142-26,182 22,0 1,-69-3,86 10,-1 0,1 2,0 0,0 1,0 0,0 2,-30 11,-33 23,-20 9,86-43,1 0,-1-1,0-1,0 0,-25 1,35-4,-1 0,0 0,0-1,1 0,-1 0,0 0,1-1,-1 1,1-1,0 0,-1 0,1-1,0 1,0-1,1 0,-1 0,0 0,1-1,0 1,-5-7,-1-3,1 0,0-1,1 0,-11-28,17 39,0 0,0 0,0 0,0 0,0 0,1 0,-1 0,1-1,0 1,0 0,0 0,0 0,2-6,-1 7,0 1,0-1,0 1,0-1,1 1,-1-1,0 1,1-1,-1 1,1 0,0 0,-1 0,1 0,0 0,0 0,0 1,-1-1,1 1,0-1,0 1,0-1,0 1,0 0,0 0,2 0,34 0,-1 2,0 1,62 13,-27-3,39 5,121 17,-167-28,102-3,-144-4,0-2,-1-1,1-1,-1 0,0-2,0 0,35-17,-39 16,0 1,1 1,0 0,-1 2,1 0,1 1,-1 0,37 4,-20-2,624 3,-598 1,-1 3,1 2,105 32,-110-26,12 3,15 5,1-4,140 15,-208-35,0 0,0-1,0-1,0-1,-1 0,22-9,-9 4,89-26,199-32,-252 61,114 6,-77 2,738-2,-822 1,-1 1,34 7,21 4,-22-13,-1-1,1-3,96-20,-52 7,-77 14,1 1,0 0,-1 1,1 1,0 1,0 1,31 6,-26-2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6/28/2023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one-bit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 we greatly simplify the implementation and the understandability of the Transport layer. The protocol simply 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6/28/2023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6/28/2023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6/28/2023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6/28/2023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customXml" Target="../ink/ink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chardCMS/OrchardCore/blob/main/src/OrchardCore.Modules/OrchardCore.OpenId/Services/OpenIdServerService.cs" TargetMode="External"/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61815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r>
              <a:rPr lang="en-US" dirty="0" err="1"/>
              <a:t>DomainName</a:t>
            </a:r>
            <a:r>
              <a:rPr lang="en-US" dirty="0"/>
              <a:t> can be a path.</a:t>
            </a:r>
          </a:p>
          <a:p>
            <a:r>
              <a:rPr lang="en-US" dirty="0" err="1"/>
              <a:t>PartyName</a:t>
            </a:r>
            <a:r>
              <a:rPr lang="en-US" dirty="0"/>
              <a:t> is usually prefixed by ‘$’.</a:t>
            </a:r>
          </a:p>
          <a:p>
            <a:r>
              <a:rPr lang="en-US" dirty="0" err="1"/>
              <a:t>EnvironmentName</a:t>
            </a:r>
            <a:r>
              <a:rPr lang="en-US" dirty="0"/>
              <a:t> is always prefixed by ‘#’.</a:t>
            </a:r>
          </a:p>
          <a:p>
            <a:r>
              <a:rPr lang="en-US" dirty="0"/>
              <a:t>The triple can be expressed as a simple </a:t>
            </a:r>
            <a:r>
              <a:rPr lang="en-US" dirty="0" err="1"/>
              <a:t>FullName</a:t>
            </a:r>
            <a:r>
              <a:rPr lang="en-US" dirty="0"/>
              <a:t> string.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927C-777D-268C-16A2-B3306014A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FullName</a:t>
            </a:r>
            <a:r>
              <a:rPr lang="en-US" dirty="0"/>
              <a:t> is </a:t>
            </a:r>
            <a:r>
              <a:rPr lang="en-US" dirty="0" err="1">
                <a:sym typeface="Wingdings" panose="05000000000000000000" pitchFamily="2" charset="2"/>
              </a:rPr>
              <a:t>a</a:t>
            </a:r>
            <a:r>
              <a:rPr lang="en-US" sz="4400" dirty="0" err="1">
                <a:sym typeface="Wingdings" panose="05000000000000000000" pitchFamily="2" charset="2"/>
              </a:rPr>
              <a:t>utodescriptive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A43F27-2891-C95D-8D95-547B77B8E326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515600" cy="50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/France/Albi/$Trolley1</a:t>
            </a:r>
          </a:p>
          <a:p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/France/$France </a:t>
            </a:r>
          </a:p>
          <a:p>
            <a:endParaRPr lang="en-US" dirty="0"/>
          </a:p>
          <a:p>
            <a:r>
              <a:rPr lang="en-US" dirty="0" err="1"/>
              <a:t>EnvironmentName</a:t>
            </a:r>
            <a:r>
              <a:rPr lang="en-US" dirty="0"/>
              <a:t> (#Development by default) can appear everywhere in the path, as well as the $</a:t>
            </a:r>
            <a:r>
              <a:rPr lang="en-US" dirty="0" err="1"/>
              <a:t>PartyName</a:t>
            </a:r>
            <a:r>
              <a:rPr lang="en-US" dirty="0"/>
              <a:t> (with the ‘$’ prefix)</a:t>
            </a:r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70B939-629E-BFFF-DF85-51D4519AE2AA}"/>
              </a:ext>
            </a:extLst>
          </p:cNvPr>
          <p:cNvSpPr/>
          <p:nvPr/>
        </p:nvSpPr>
        <p:spPr>
          <a:xfrm>
            <a:off x="3389243" y="1710566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Organization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7D80DD-D821-CDBB-5A0E-A5FB1BFD8EB6}"/>
              </a:ext>
            </a:extLst>
          </p:cNvPr>
          <p:cNvSpPr/>
          <p:nvPr/>
        </p:nvSpPr>
        <p:spPr>
          <a:xfrm>
            <a:off x="4426226" y="2277097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BC1F60-B3CF-6B05-A7A4-6F0CE2975DB8}"/>
              </a:ext>
            </a:extLst>
          </p:cNvPr>
          <p:cNvSpPr/>
          <p:nvPr/>
        </p:nvSpPr>
        <p:spPr>
          <a:xfrm>
            <a:off x="5703400" y="3791813"/>
            <a:ext cx="242459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OrganizationController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D35029E-2AD2-A595-0B00-90E8008C62C8}"/>
              </a:ext>
            </a:extLst>
          </p:cNvPr>
          <p:cNvSpPr/>
          <p:nvPr/>
        </p:nvSpPr>
        <p:spPr>
          <a:xfrm>
            <a:off x="5673587" y="4301844"/>
            <a:ext cx="226777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WorkspaceController</a:t>
            </a:r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02BCC7-3C5F-72DC-7E0C-BD1F18556D35}"/>
              </a:ext>
            </a:extLst>
          </p:cNvPr>
          <p:cNvSpPr/>
          <p:nvPr/>
        </p:nvSpPr>
        <p:spPr>
          <a:xfrm>
            <a:off x="6582189" y="3249230"/>
            <a:ext cx="917713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Party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55E74FA-E835-CAC6-1B66-C39B8A12F111}"/>
              </a:ext>
            </a:extLst>
          </p:cNvPr>
          <p:cNvSpPr/>
          <p:nvPr/>
        </p:nvSpPr>
        <p:spPr>
          <a:xfrm>
            <a:off x="5059017" y="2763180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719144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0854-8165-18FB-913C-8F639193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69487" cy="1325563"/>
          </a:xfrm>
        </p:spPr>
        <p:txBody>
          <a:bodyPr/>
          <a:lstStyle/>
          <a:p>
            <a:r>
              <a:rPr lang="en-US" dirty="0"/>
              <a:t>Naming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CDE-EC1E-2983-5189-AA8561DE5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4960"/>
            <a:ext cx="10515600" cy="4907915"/>
          </a:xfrm>
        </p:spPr>
        <p:txBody>
          <a:bodyPr>
            <a:normAutofit/>
          </a:bodyPr>
          <a:lstStyle/>
          <a:p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127 characters.</a:t>
            </a:r>
          </a:p>
          <a:p>
            <a:pPr lvl="1"/>
            <a:r>
              <a:rPr lang="en-US" dirty="0"/>
              <a:t>Defaults to “Undefined”.</a:t>
            </a:r>
          </a:p>
          <a:p>
            <a:r>
              <a:rPr lang="en-US" dirty="0" err="1"/>
              <a:t>PartyName</a:t>
            </a:r>
            <a:endParaRPr lang="en-US" dirty="0"/>
          </a:p>
          <a:p>
            <a:pPr lvl="1"/>
            <a:r>
              <a:rPr lang="en-US" dirty="0"/>
              <a:t>Cannot be longer than 31 characters.</a:t>
            </a:r>
          </a:p>
          <a:p>
            <a:pPr lvl="1"/>
            <a:r>
              <a:rPr lang="en-US" dirty="0"/>
              <a:t>Can start or not with ‘$’. Always start with a ‘$’ when used in a </a:t>
            </a:r>
            <a:r>
              <a:rPr lang="en-US" dirty="0" err="1"/>
              <a:t>FullName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Defaults to “Unknown”</a:t>
            </a:r>
          </a:p>
          <a:p>
            <a:r>
              <a:rPr lang="en-US" dirty="0" err="1"/>
              <a:t>EnvironmentName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31 characters (including the leading ‘#’).</a:t>
            </a:r>
          </a:p>
          <a:p>
            <a:pPr lvl="1"/>
            <a:r>
              <a:rPr lang="en-US" dirty="0"/>
              <a:t>Defaults to ‘#Development’.</a:t>
            </a:r>
          </a:p>
          <a:p>
            <a:r>
              <a:rPr lang="en-US" dirty="0" err="1"/>
              <a:t>FullName’s</a:t>
            </a:r>
            <a:r>
              <a:rPr lang="en-US" dirty="0"/>
              <a:t> max length is 192 characters.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8071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B32FE4-91CF-4187-B129-4798A78FA9B5}"/>
              </a:ext>
            </a:extLst>
          </p:cNvPr>
          <p:cNvSpPr txBox="1"/>
          <p:nvPr/>
        </p:nvSpPr>
        <p:spPr>
          <a:xfrm>
            <a:off x="769855" y="2841961"/>
            <a:ext cx="6932262" cy="31085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/$Trolley1/#Production",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814662" y="3606072"/>
            <a:ext cx="5857974" cy="273062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party reachable from this party</a:t>
            </a:r>
            <a:r>
              <a:rPr lang="en-US" sz="2000" dirty="0"/>
              <a:t>.</a:t>
            </a:r>
          </a:p>
          <a:p>
            <a:r>
              <a:rPr lang="en-US" sz="2400" dirty="0"/>
              <a:t>Environment names start with a #.</a:t>
            </a:r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507808"/>
            <a:ext cx="6223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CentralLogwer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7887" y="230314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ends its logs to a central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“#Development”)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any Remote can be in Domain and Environment independent of its group of “Remotes”.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54204" y="1310648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9883" y="2758354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3517" y="2187822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9683517" y="3508645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party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12000" y="1833428"/>
            <a:ext cx="493099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503427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379960" y="405305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485748" y="44053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0183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363960" y="418991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567028" y="45908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6954B0-C49D-9584-2334-B41D9ADC5FD7}"/>
              </a:ext>
            </a:extLst>
          </p:cNvPr>
          <p:cNvSpPr txBox="1"/>
          <p:nvPr/>
        </p:nvSpPr>
        <p:spPr>
          <a:xfrm>
            <a:off x="838201" y="2949401"/>
            <a:ext cx="503427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</a:t>
            </a:r>
            <a:endParaRPr lang="en-US" b="1" dirty="0"/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9F8AEE13-D867-21FE-1D37-650A6B41E59E}"/>
              </a:ext>
            </a:extLst>
          </p:cNvPr>
          <p:cNvSpPr txBox="1"/>
          <p:nvPr/>
        </p:nvSpPr>
        <p:spPr>
          <a:xfrm>
            <a:off x="671575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654837" y="1690688"/>
            <a:ext cx="534792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$OneCS1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9AEF489-966C-6867-522A-1DFE4893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962" y="4847862"/>
            <a:ext cx="6903718" cy="1805832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the </a:t>
            </a:r>
            <a:br>
              <a:rPr lang="en-US" dirty="0"/>
            </a:br>
            <a:r>
              <a:rPr lang="en-US" dirty="0"/>
              <a:t>“Domain Controller”.</a:t>
            </a:r>
          </a:p>
          <a:p>
            <a:r>
              <a:rPr lang="en-US" dirty="0"/>
              <a:t>It is a </a:t>
            </a:r>
            <a:r>
              <a:rPr lang="en-US" b="1" dirty="0"/>
              <a:t>Local Party</a:t>
            </a:r>
            <a:r>
              <a:rPr lang="en-US" dirty="0"/>
              <a:t> like its host “</a:t>
            </a:r>
            <a:r>
              <a:rPr lang="en-US" dirty="0" err="1"/>
              <a:t>SaasOneCS</a:t>
            </a:r>
            <a:r>
              <a:rPr lang="en-US" dirty="0"/>
              <a:t>/$OneCS1”</a:t>
            </a:r>
          </a:p>
          <a:p>
            <a:pPr lvl="1"/>
            <a:r>
              <a:rPr lang="en-US" dirty="0"/>
              <a:t>The previous autonomous application 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now hosted.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6621B1-1DCC-0779-5BE9-1D9091CDB19A}"/>
              </a:ext>
            </a:extLst>
          </p:cNvPr>
          <p:cNvSpPr/>
          <p:nvPr/>
        </p:nvSpPr>
        <p:spPr>
          <a:xfrm>
            <a:off x="6793041" y="1690688"/>
            <a:ext cx="4733364" cy="3754874"/>
          </a:xfrm>
          <a:custGeom>
            <a:avLst/>
            <a:gdLst>
              <a:gd name="connsiteX0" fmla="*/ 0 w 4733364"/>
              <a:gd name="connsiteY0" fmla="*/ 0 h 3754874"/>
              <a:gd name="connsiteX1" fmla="*/ 544337 w 4733364"/>
              <a:gd name="connsiteY1" fmla="*/ 0 h 3754874"/>
              <a:gd name="connsiteX2" fmla="*/ 994006 w 4733364"/>
              <a:gd name="connsiteY2" fmla="*/ 0 h 3754874"/>
              <a:gd name="connsiteX3" fmla="*/ 1680344 w 4733364"/>
              <a:gd name="connsiteY3" fmla="*/ 0 h 3754874"/>
              <a:gd name="connsiteX4" fmla="*/ 2224681 w 4733364"/>
              <a:gd name="connsiteY4" fmla="*/ 0 h 3754874"/>
              <a:gd name="connsiteX5" fmla="*/ 2769018 w 4733364"/>
              <a:gd name="connsiteY5" fmla="*/ 0 h 3754874"/>
              <a:gd name="connsiteX6" fmla="*/ 3455356 w 4733364"/>
              <a:gd name="connsiteY6" fmla="*/ 0 h 3754874"/>
              <a:gd name="connsiteX7" fmla="*/ 3952359 w 4733364"/>
              <a:gd name="connsiteY7" fmla="*/ 0 h 3754874"/>
              <a:gd name="connsiteX8" fmla="*/ 4733364 w 4733364"/>
              <a:gd name="connsiteY8" fmla="*/ 0 h 3754874"/>
              <a:gd name="connsiteX9" fmla="*/ 4733364 w 4733364"/>
              <a:gd name="connsiteY9" fmla="*/ 611508 h 3754874"/>
              <a:gd name="connsiteX10" fmla="*/ 4733364 w 4733364"/>
              <a:gd name="connsiteY10" fmla="*/ 1072821 h 3754874"/>
              <a:gd name="connsiteX11" fmla="*/ 4733364 w 4733364"/>
              <a:gd name="connsiteY11" fmla="*/ 1609232 h 3754874"/>
              <a:gd name="connsiteX12" fmla="*/ 4733364 w 4733364"/>
              <a:gd name="connsiteY12" fmla="*/ 2183191 h 3754874"/>
              <a:gd name="connsiteX13" fmla="*/ 4733364 w 4733364"/>
              <a:gd name="connsiteY13" fmla="*/ 2606955 h 3754874"/>
              <a:gd name="connsiteX14" fmla="*/ 4733364 w 4733364"/>
              <a:gd name="connsiteY14" fmla="*/ 3143366 h 3754874"/>
              <a:gd name="connsiteX15" fmla="*/ 4733364 w 4733364"/>
              <a:gd name="connsiteY15" fmla="*/ 3754874 h 3754874"/>
              <a:gd name="connsiteX16" fmla="*/ 4141694 w 4733364"/>
              <a:gd name="connsiteY16" fmla="*/ 3754874 h 3754874"/>
              <a:gd name="connsiteX17" fmla="*/ 3455356 w 4733364"/>
              <a:gd name="connsiteY17" fmla="*/ 3754874 h 3754874"/>
              <a:gd name="connsiteX18" fmla="*/ 2863685 w 4733364"/>
              <a:gd name="connsiteY18" fmla="*/ 3754874 h 3754874"/>
              <a:gd name="connsiteX19" fmla="*/ 2414016 w 4733364"/>
              <a:gd name="connsiteY19" fmla="*/ 3754874 h 3754874"/>
              <a:gd name="connsiteX20" fmla="*/ 1917012 w 4733364"/>
              <a:gd name="connsiteY20" fmla="*/ 3754874 h 3754874"/>
              <a:gd name="connsiteX21" fmla="*/ 1230675 w 4733364"/>
              <a:gd name="connsiteY21" fmla="*/ 3754874 h 3754874"/>
              <a:gd name="connsiteX22" fmla="*/ 639004 w 4733364"/>
              <a:gd name="connsiteY22" fmla="*/ 3754874 h 3754874"/>
              <a:gd name="connsiteX23" fmla="*/ 0 w 4733364"/>
              <a:gd name="connsiteY23" fmla="*/ 3754874 h 3754874"/>
              <a:gd name="connsiteX24" fmla="*/ 0 w 4733364"/>
              <a:gd name="connsiteY24" fmla="*/ 3218463 h 3754874"/>
              <a:gd name="connsiteX25" fmla="*/ 0 w 4733364"/>
              <a:gd name="connsiteY25" fmla="*/ 2794699 h 3754874"/>
              <a:gd name="connsiteX26" fmla="*/ 0 w 4733364"/>
              <a:gd name="connsiteY26" fmla="*/ 2370935 h 3754874"/>
              <a:gd name="connsiteX27" fmla="*/ 0 w 4733364"/>
              <a:gd name="connsiteY27" fmla="*/ 1796975 h 3754874"/>
              <a:gd name="connsiteX28" fmla="*/ 0 w 4733364"/>
              <a:gd name="connsiteY28" fmla="*/ 1335662 h 3754874"/>
              <a:gd name="connsiteX29" fmla="*/ 0 w 4733364"/>
              <a:gd name="connsiteY29" fmla="*/ 724154 h 3754874"/>
              <a:gd name="connsiteX30" fmla="*/ 0 w 4733364"/>
              <a:gd name="connsiteY30" fmla="*/ 0 h 3754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733364" h="3754874" extrusionOk="0">
                <a:moveTo>
                  <a:pt x="0" y="0"/>
                </a:moveTo>
                <a:cubicBezTo>
                  <a:pt x="229468" y="-50895"/>
                  <a:pt x="294370" y="35903"/>
                  <a:pt x="544337" y="0"/>
                </a:cubicBezTo>
                <a:cubicBezTo>
                  <a:pt x="794304" y="-35903"/>
                  <a:pt x="820079" y="34170"/>
                  <a:pt x="994006" y="0"/>
                </a:cubicBezTo>
                <a:cubicBezTo>
                  <a:pt x="1167933" y="-34170"/>
                  <a:pt x="1374133" y="58138"/>
                  <a:pt x="1680344" y="0"/>
                </a:cubicBezTo>
                <a:cubicBezTo>
                  <a:pt x="1986555" y="-58138"/>
                  <a:pt x="2046752" y="42581"/>
                  <a:pt x="2224681" y="0"/>
                </a:cubicBezTo>
                <a:cubicBezTo>
                  <a:pt x="2402610" y="-42581"/>
                  <a:pt x="2583036" y="36101"/>
                  <a:pt x="2769018" y="0"/>
                </a:cubicBezTo>
                <a:cubicBezTo>
                  <a:pt x="2955000" y="-36101"/>
                  <a:pt x="3247585" y="49086"/>
                  <a:pt x="3455356" y="0"/>
                </a:cubicBezTo>
                <a:cubicBezTo>
                  <a:pt x="3663127" y="-49086"/>
                  <a:pt x="3818168" y="55487"/>
                  <a:pt x="3952359" y="0"/>
                </a:cubicBezTo>
                <a:cubicBezTo>
                  <a:pt x="4086550" y="-55487"/>
                  <a:pt x="4361088" y="71153"/>
                  <a:pt x="4733364" y="0"/>
                </a:cubicBezTo>
                <a:cubicBezTo>
                  <a:pt x="4749522" y="123515"/>
                  <a:pt x="4685277" y="353000"/>
                  <a:pt x="4733364" y="611508"/>
                </a:cubicBezTo>
                <a:cubicBezTo>
                  <a:pt x="4781451" y="870016"/>
                  <a:pt x="4679557" y="972846"/>
                  <a:pt x="4733364" y="1072821"/>
                </a:cubicBezTo>
                <a:cubicBezTo>
                  <a:pt x="4787171" y="1172796"/>
                  <a:pt x="4697483" y="1382836"/>
                  <a:pt x="4733364" y="1609232"/>
                </a:cubicBezTo>
                <a:cubicBezTo>
                  <a:pt x="4769245" y="1835628"/>
                  <a:pt x="4697524" y="2027386"/>
                  <a:pt x="4733364" y="2183191"/>
                </a:cubicBezTo>
                <a:cubicBezTo>
                  <a:pt x="4769204" y="2338996"/>
                  <a:pt x="4727974" y="2427041"/>
                  <a:pt x="4733364" y="2606955"/>
                </a:cubicBezTo>
                <a:cubicBezTo>
                  <a:pt x="4738754" y="2786869"/>
                  <a:pt x="4733228" y="2965049"/>
                  <a:pt x="4733364" y="3143366"/>
                </a:cubicBezTo>
                <a:cubicBezTo>
                  <a:pt x="4733500" y="3321683"/>
                  <a:pt x="4668483" y="3520497"/>
                  <a:pt x="4733364" y="3754874"/>
                </a:cubicBezTo>
                <a:cubicBezTo>
                  <a:pt x="4525963" y="3774907"/>
                  <a:pt x="4436615" y="3711015"/>
                  <a:pt x="4141694" y="3754874"/>
                </a:cubicBezTo>
                <a:cubicBezTo>
                  <a:pt x="3846773" y="3798733"/>
                  <a:pt x="3793273" y="3675467"/>
                  <a:pt x="3455356" y="3754874"/>
                </a:cubicBezTo>
                <a:cubicBezTo>
                  <a:pt x="3117439" y="3834281"/>
                  <a:pt x="3117900" y="3743300"/>
                  <a:pt x="2863685" y="3754874"/>
                </a:cubicBezTo>
                <a:cubicBezTo>
                  <a:pt x="2609470" y="3766448"/>
                  <a:pt x="2551397" y="3712888"/>
                  <a:pt x="2414016" y="3754874"/>
                </a:cubicBezTo>
                <a:cubicBezTo>
                  <a:pt x="2276635" y="3796860"/>
                  <a:pt x="2026307" y="3697298"/>
                  <a:pt x="1917012" y="3754874"/>
                </a:cubicBezTo>
                <a:cubicBezTo>
                  <a:pt x="1807717" y="3812450"/>
                  <a:pt x="1498914" y="3753701"/>
                  <a:pt x="1230675" y="3754874"/>
                </a:cubicBezTo>
                <a:cubicBezTo>
                  <a:pt x="962436" y="3756047"/>
                  <a:pt x="901520" y="3748643"/>
                  <a:pt x="639004" y="3754874"/>
                </a:cubicBezTo>
                <a:cubicBezTo>
                  <a:pt x="376488" y="3761105"/>
                  <a:pt x="174782" y="3752861"/>
                  <a:pt x="0" y="3754874"/>
                </a:cubicBezTo>
                <a:cubicBezTo>
                  <a:pt x="-53902" y="3605730"/>
                  <a:pt x="60600" y="3338802"/>
                  <a:pt x="0" y="3218463"/>
                </a:cubicBezTo>
                <a:cubicBezTo>
                  <a:pt x="-60600" y="3098124"/>
                  <a:pt x="43054" y="2892626"/>
                  <a:pt x="0" y="2794699"/>
                </a:cubicBezTo>
                <a:cubicBezTo>
                  <a:pt x="-43054" y="2696772"/>
                  <a:pt x="46355" y="2470556"/>
                  <a:pt x="0" y="2370935"/>
                </a:cubicBezTo>
                <a:cubicBezTo>
                  <a:pt x="-46355" y="2271314"/>
                  <a:pt x="20903" y="1997827"/>
                  <a:pt x="0" y="1796975"/>
                </a:cubicBezTo>
                <a:cubicBezTo>
                  <a:pt x="-20903" y="1596123"/>
                  <a:pt x="31988" y="1460266"/>
                  <a:pt x="0" y="1335662"/>
                </a:cubicBezTo>
                <a:cubicBezTo>
                  <a:pt x="-31988" y="1211058"/>
                  <a:pt x="37542" y="864533"/>
                  <a:pt x="0" y="724154"/>
                </a:cubicBezTo>
                <a:cubicBezTo>
                  <a:pt x="-37542" y="583775"/>
                  <a:pt x="7023" y="181575"/>
                  <a:pt x="0" y="0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72FE9D-A494-0880-7478-23B8F8658432}"/>
              </a:ext>
            </a:extLst>
          </p:cNvPr>
          <p:cNvSpPr/>
          <p:nvPr/>
        </p:nvSpPr>
        <p:spPr>
          <a:xfrm>
            <a:off x="1075765" y="2549562"/>
            <a:ext cx="4733364" cy="1161826"/>
          </a:xfrm>
          <a:custGeom>
            <a:avLst/>
            <a:gdLst>
              <a:gd name="connsiteX0" fmla="*/ 0 w 4733364"/>
              <a:gd name="connsiteY0" fmla="*/ 0 h 1161826"/>
              <a:gd name="connsiteX1" fmla="*/ 544337 w 4733364"/>
              <a:gd name="connsiteY1" fmla="*/ 0 h 1161826"/>
              <a:gd name="connsiteX2" fmla="*/ 994006 w 4733364"/>
              <a:gd name="connsiteY2" fmla="*/ 0 h 1161826"/>
              <a:gd name="connsiteX3" fmla="*/ 1680344 w 4733364"/>
              <a:gd name="connsiteY3" fmla="*/ 0 h 1161826"/>
              <a:gd name="connsiteX4" fmla="*/ 2224681 w 4733364"/>
              <a:gd name="connsiteY4" fmla="*/ 0 h 1161826"/>
              <a:gd name="connsiteX5" fmla="*/ 2769018 w 4733364"/>
              <a:gd name="connsiteY5" fmla="*/ 0 h 1161826"/>
              <a:gd name="connsiteX6" fmla="*/ 3455356 w 4733364"/>
              <a:gd name="connsiteY6" fmla="*/ 0 h 1161826"/>
              <a:gd name="connsiteX7" fmla="*/ 3952359 w 4733364"/>
              <a:gd name="connsiteY7" fmla="*/ 0 h 1161826"/>
              <a:gd name="connsiteX8" fmla="*/ 4733364 w 4733364"/>
              <a:gd name="connsiteY8" fmla="*/ 0 h 1161826"/>
              <a:gd name="connsiteX9" fmla="*/ 4733364 w 4733364"/>
              <a:gd name="connsiteY9" fmla="*/ 604150 h 1161826"/>
              <a:gd name="connsiteX10" fmla="*/ 4733364 w 4733364"/>
              <a:gd name="connsiteY10" fmla="*/ 1161826 h 1161826"/>
              <a:gd name="connsiteX11" fmla="*/ 4141694 w 4733364"/>
              <a:gd name="connsiteY11" fmla="*/ 1161826 h 1161826"/>
              <a:gd name="connsiteX12" fmla="*/ 3597357 w 4733364"/>
              <a:gd name="connsiteY12" fmla="*/ 1161826 h 1161826"/>
              <a:gd name="connsiteX13" fmla="*/ 2911019 w 4733364"/>
              <a:gd name="connsiteY13" fmla="*/ 1161826 h 1161826"/>
              <a:gd name="connsiteX14" fmla="*/ 2224681 w 4733364"/>
              <a:gd name="connsiteY14" fmla="*/ 1161826 h 1161826"/>
              <a:gd name="connsiteX15" fmla="*/ 1727678 w 4733364"/>
              <a:gd name="connsiteY15" fmla="*/ 1161826 h 1161826"/>
              <a:gd name="connsiteX16" fmla="*/ 1136007 w 4733364"/>
              <a:gd name="connsiteY16" fmla="*/ 1161826 h 1161826"/>
              <a:gd name="connsiteX17" fmla="*/ 0 w 4733364"/>
              <a:gd name="connsiteY17" fmla="*/ 1161826 h 1161826"/>
              <a:gd name="connsiteX18" fmla="*/ 0 w 4733364"/>
              <a:gd name="connsiteY18" fmla="*/ 580913 h 1161826"/>
              <a:gd name="connsiteX19" fmla="*/ 0 w 4733364"/>
              <a:gd name="connsiteY19" fmla="*/ 0 h 1161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733364" h="1161826" extrusionOk="0">
                <a:moveTo>
                  <a:pt x="0" y="0"/>
                </a:moveTo>
                <a:cubicBezTo>
                  <a:pt x="229468" y="-50895"/>
                  <a:pt x="294370" y="35903"/>
                  <a:pt x="544337" y="0"/>
                </a:cubicBezTo>
                <a:cubicBezTo>
                  <a:pt x="794304" y="-35903"/>
                  <a:pt x="820079" y="34170"/>
                  <a:pt x="994006" y="0"/>
                </a:cubicBezTo>
                <a:cubicBezTo>
                  <a:pt x="1167933" y="-34170"/>
                  <a:pt x="1374133" y="58138"/>
                  <a:pt x="1680344" y="0"/>
                </a:cubicBezTo>
                <a:cubicBezTo>
                  <a:pt x="1986555" y="-58138"/>
                  <a:pt x="2046752" y="42581"/>
                  <a:pt x="2224681" y="0"/>
                </a:cubicBezTo>
                <a:cubicBezTo>
                  <a:pt x="2402610" y="-42581"/>
                  <a:pt x="2583036" y="36101"/>
                  <a:pt x="2769018" y="0"/>
                </a:cubicBezTo>
                <a:cubicBezTo>
                  <a:pt x="2955000" y="-36101"/>
                  <a:pt x="3247585" y="49086"/>
                  <a:pt x="3455356" y="0"/>
                </a:cubicBezTo>
                <a:cubicBezTo>
                  <a:pt x="3663127" y="-49086"/>
                  <a:pt x="3818168" y="55487"/>
                  <a:pt x="3952359" y="0"/>
                </a:cubicBezTo>
                <a:cubicBezTo>
                  <a:pt x="4086550" y="-55487"/>
                  <a:pt x="4361088" y="71153"/>
                  <a:pt x="4733364" y="0"/>
                </a:cubicBezTo>
                <a:cubicBezTo>
                  <a:pt x="4774937" y="182907"/>
                  <a:pt x="4683414" y="437336"/>
                  <a:pt x="4733364" y="604150"/>
                </a:cubicBezTo>
                <a:cubicBezTo>
                  <a:pt x="4783314" y="770964"/>
                  <a:pt x="4731225" y="909997"/>
                  <a:pt x="4733364" y="1161826"/>
                </a:cubicBezTo>
                <a:cubicBezTo>
                  <a:pt x="4455532" y="1228628"/>
                  <a:pt x="4325425" y="1122304"/>
                  <a:pt x="4141694" y="1161826"/>
                </a:cubicBezTo>
                <a:cubicBezTo>
                  <a:pt x="3957963" y="1201348"/>
                  <a:pt x="3720866" y="1126498"/>
                  <a:pt x="3597357" y="1161826"/>
                </a:cubicBezTo>
                <a:cubicBezTo>
                  <a:pt x="3473848" y="1197154"/>
                  <a:pt x="3108827" y="1156187"/>
                  <a:pt x="2911019" y="1161826"/>
                </a:cubicBezTo>
                <a:cubicBezTo>
                  <a:pt x="2713211" y="1167465"/>
                  <a:pt x="2425949" y="1113687"/>
                  <a:pt x="2224681" y="1161826"/>
                </a:cubicBezTo>
                <a:cubicBezTo>
                  <a:pt x="2023413" y="1209965"/>
                  <a:pt x="1839854" y="1107588"/>
                  <a:pt x="1727678" y="1161826"/>
                </a:cubicBezTo>
                <a:cubicBezTo>
                  <a:pt x="1615502" y="1216064"/>
                  <a:pt x="1259688" y="1124550"/>
                  <a:pt x="1136007" y="1161826"/>
                </a:cubicBezTo>
                <a:cubicBezTo>
                  <a:pt x="1012326" y="1199102"/>
                  <a:pt x="275734" y="1027589"/>
                  <a:pt x="0" y="1161826"/>
                </a:cubicBezTo>
                <a:cubicBezTo>
                  <a:pt x="-5849" y="889776"/>
                  <a:pt x="16710" y="837427"/>
                  <a:pt x="0" y="580913"/>
                </a:cubicBezTo>
                <a:cubicBezTo>
                  <a:pt x="-16710" y="324399"/>
                  <a:pt x="27932" y="254347"/>
                  <a:pt x="0" y="0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599FD8-2975-8A4A-4073-614F1B8AB184}"/>
              </a:ext>
            </a:extLst>
          </p:cNvPr>
          <p:cNvSpPr/>
          <p:nvPr/>
        </p:nvSpPr>
        <p:spPr>
          <a:xfrm>
            <a:off x="5589977" y="2806656"/>
            <a:ext cx="1280160" cy="86106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Change!!!</a:t>
            </a:r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1B4665-DD00-73E6-923E-6E295A7ABC7E}"/>
              </a:ext>
            </a:extLst>
          </p:cNvPr>
          <p:cNvSpPr txBox="1"/>
          <p:nvPr/>
        </p:nvSpPr>
        <p:spPr>
          <a:xfrm>
            <a:off x="5953052" y="1690688"/>
            <a:ext cx="595375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#Staging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D1A3BB-C45C-40DE-67C0-50F9948E66FE}"/>
              </a:ext>
            </a:extLst>
          </p:cNvPr>
          <p:cNvSpPr txBox="1"/>
          <p:nvPr/>
        </p:nvSpPr>
        <p:spPr>
          <a:xfrm>
            <a:off x="605123" y="1692425"/>
            <a:ext cx="534792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/$OneCS1/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#Production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#Staging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by simply using the </a:t>
            </a:r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DomainName</a:t>
            </a:r>
            <a:r>
              <a:rPr lang="en-US" dirty="0"/>
              <a:t> can be a path.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F5718A-75F5-2836-EB73-22530B20A975}"/>
              </a:ext>
            </a:extLst>
          </p:cNvPr>
          <p:cNvSpPr txBox="1"/>
          <p:nvPr/>
        </p:nvSpPr>
        <p:spPr>
          <a:xfrm>
            <a:off x="654837" y="1690688"/>
            <a:ext cx="678945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/$OneCS1",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/France/$France",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/London/$London",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052A3A-EBF7-3C28-4E2D-D46F44ACBE03}"/>
              </a:ext>
            </a:extLst>
          </p:cNvPr>
          <p:cNvSpPr txBox="1"/>
          <p:nvPr/>
        </p:nvSpPr>
        <p:spPr>
          <a:xfrm>
            <a:off x="6280824" y="1690688"/>
            <a:ext cx="5613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"$France",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8426AA-A61E-323E-1908-225D6883F628}"/>
              </a:ext>
            </a:extLst>
          </p:cNvPr>
          <p:cNvSpPr txBox="1"/>
          <p:nvPr/>
        </p:nvSpPr>
        <p:spPr>
          <a:xfrm>
            <a:off x="6280824" y="3759063"/>
            <a:ext cx="5613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"$London",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8348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(signing key)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"External"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"External/$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“External” and “Undefined” are the reserved Domain names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385" y="117700"/>
            <a:ext cx="3022899" cy="1689586"/>
          </a:xfrm>
        </p:spPr>
        <p:txBody>
          <a:bodyPr>
            <a:normAutofit/>
          </a:bodyPr>
          <a:lstStyle/>
          <a:p>
            <a:pPr algn="r"/>
            <a:r>
              <a:rPr lang="en-US" sz="4000" dirty="0"/>
              <a:t>Configuration Model</a:t>
            </a:r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64CAB341-0F45-EBF0-5542-74F695DF9C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284" y="193508"/>
            <a:ext cx="8655296" cy="6664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Exploit the </a:t>
            </a:r>
            <a:r>
              <a:rPr lang="en-US" dirty="0" err="1"/>
              <a:t>.Net</a:t>
            </a:r>
            <a:r>
              <a:rPr lang="en-US" dirty="0"/>
              <a:t> Configuration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supports any </a:t>
            </a:r>
            <a:r>
              <a:rPr lang="en-US" dirty="0" err="1"/>
              <a:t>.Net</a:t>
            </a:r>
            <a:r>
              <a:rPr lang="en-US" dirty="0"/>
              <a:t> Configuration source.</a:t>
            </a:r>
            <a:br>
              <a:rPr lang="en-US" dirty="0"/>
            </a:br>
            <a:endParaRPr lang="en-US" sz="1400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Provides 2 helpers and </a:t>
            </a:r>
            <a:r>
              <a:rPr lang="en-US" b="1" dirty="0" err="1"/>
              <a:t>MutableConfigurationSection</a:t>
            </a:r>
            <a:r>
              <a:rPr lang="en-US" dirty="0"/>
              <a:t> and </a:t>
            </a:r>
            <a:r>
              <a:rPr lang="en-US" b="1" dirty="0" err="1"/>
              <a:t>ImmutableConfigurationSection</a:t>
            </a:r>
            <a:r>
              <a:rPr lang="en-US" dirty="0"/>
              <a:t> to support direct manipulation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981811" y="4895700"/>
            <a:ext cx="1060938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 =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ApplicationIdentityConfiguration.Create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monitor, c =&gt;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FullName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"Test/$Listener"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"Remotes:0:PartyName"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AllowFeatures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BlobChannel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Create(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IActivityMonitor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monitor,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						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IConfigurationSection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defaultLocalName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defaultEnvironmentName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"#Development"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7C3DD65C-4947-6B81-85B3-712677F2FF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7803" y="0"/>
            <a:ext cx="43721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Developer uses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 all parties.</a:t>
            </a:r>
          </a:p>
          <a:p>
            <a:r>
              <a:rPr lang="en-US" dirty="0"/>
              <a:t>Features can only be added: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But Feature are primarily instantiated, configured and added to the relevant parties thanks to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specialized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8B97A891-FB41-8020-AA4F-F29FF2B4EC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528" y="249293"/>
            <a:ext cx="7337819" cy="6243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"Test/$Sender",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"Test/$Target"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14:cNvPr>
              <p14:cNvContentPartPr/>
              <p14:nvPr/>
            </p14:nvContentPartPr>
            <p14:xfrm>
              <a:off x="7101000" y="3347750"/>
              <a:ext cx="2017080" cy="19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7360" y="3240110"/>
                <a:ext cx="2124720" cy="4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(not External)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1900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Transport:</a:t>
            </a:r>
          </a:p>
          <a:p>
            <a:pPr lvl="1"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ym typeface="Wingdings" panose="05000000000000000000" pitchFamily="2" charset="2"/>
              </a:rPr>
              <a:t> </a:t>
            </a:r>
            <a:r>
              <a:rPr lang="en-US" sz="2800" dirty="0"/>
              <a:t>At least one connection has been established </a:t>
            </a:r>
            <a:r>
              <a:rPr lang="en-US" sz="2800" b="1" dirty="0"/>
              <a:t>recently</a:t>
            </a:r>
            <a:r>
              <a:rPr lang="en-US" sz="2800" dirty="0"/>
              <a:t> with the other side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076ECA5-B2D7-A3E2-AE20-A7CA20368183}"/>
              </a:ext>
            </a:extLst>
          </p:cNvPr>
          <p:cNvSpPr/>
          <p:nvPr/>
        </p:nvSpPr>
        <p:spPr>
          <a:xfrm>
            <a:off x="4765638" y="4346089"/>
            <a:ext cx="7067774" cy="24912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63B52CF8-3FE6-8853-772F-8B675D4EA7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2636" y="-31709"/>
            <a:ext cx="6915472" cy="68690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588" y="2299414"/>
            <a:ext cx="4484048" cy="4558586"/>
          </a:xfrm>
        </p:spPr>
        <p:txBody>
          <a:bodyPr>
            <a:normAutofit fontScale="92500" lnSpcReduction="20000"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</a:t>
            </a:r>
          </a:p>
          <a:p>
            <a:pPr lvl="2"/>
            <a:r>
              <a:rPr lang="en-US" sz="1600" dirty="0"/>
              <a:t>“</a:t>
            </a:r>
            <a:r>
              <a:rPr lang="en-US" sz="1600" dirty="0" err="1"/>
              <a:t>tcp</a:t>
            </a:r>
            <a:r>
              <a:rPr lang="en-US" sz="1600" dirty="0"/>
              <a:t>”</a:t>
            </a:r>
          </a:p>
          <a:p>
            <a:pPr lvl="1"/>
            <a:r>
              <a:rPr lang="en-US" sz="2000" dirty="0" err="1"/>
              <a:t>DefaultListeningAddress</a:t>
            </a:r>
            <a:r>
              <a:rPr lang="en-US" sz="2000" dirty="0"/>
              <a:t>:</a:t>
            </a:r>
          </a:p>
          <a:p>
            <a:pPr lvl="2"/>
            <a:r>
              <a:rPr lang="en-US" sz="1600" dirty="0"/>
              <a:t>new </a:t>
            </a:r>
            <a:r>
              <a:rPr lang="en-US" sz="1600" dirty="0" err="1"/>
              <a:t>IPEndpoint</a:t>
            </a:r>
            <a:r>
              <a:rPr lang="en-US" sz="1600" dirty="0"/>
              <a:t>(IPAddress.Any,37120)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  <a:endParaRPr lang="en-US" sz="20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7894068" y="2881837"/>
              <a:ext cx="1032840" cy="576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40068" y="2773837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DEB0D-75FE-A9E7-AE5D-1A00BE2CB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UNSTABLE REMAINDER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D3F96-4E3A-A64D-A143-5E0F643AB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7173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FA01833-99FE-B7AE-E0AD-029E63353E39}"/>
              </a:ext>
            </a:extLst>
          </p:cNvPr>
          <p:cNvSpPr/>
          <p:nvPr/>
        </p:nvSpPr>
        <p:spPr>
          <a:xfrm>
            <a:off x="6684661" y="2153920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  <p:sp>
        <p:nvSpPr>
          <p:cNvPr id="3" name="Star: 6 Points 2">
            <a:extLst>
              <a:ext uri="{FF2B5EF4-FFF2-40B4-BE49-F238E27FC236}">
                <a16:creationId xmlns:a16="http://schemas.microsoft.com/office/drawing/2014/main" id="{D5A5D772-160E-343F-FF5F-6DE7C09F6603}"/>
              </a:ext>
            </a:extLst>
          </p:cNvPr>
          <p:cNvSpPr/>
          <p:nvPr/>
        </p:nvSpPr>
        <p:spPr>
          <a:xfrm>
            <a:off x="2051701" y="60753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967DF75-EF55-D3BE-2790-7398E3AE6458}"/>
              </a:ext>
            </a:extLst>
          </p:cNvPr>
          <p:cNvSpPr/>
          <p:nvPr/>
        </p:nvSpPr>
        <p:spPr>
          <a:xfrm>
            <a:off x="7353300" y="146641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DAF23AD5-4669-6BB8-3F80-414BA1D47C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6974" y="142035"/>
            <a:ext cx="4298052" cy="47248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7392EC-8AF7-DB6B-E725-643E95A95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User Authentication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84768-E9B2-29E2-8DA2-81195578C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880" y="1825624"/>
            <a:ext cx="9032240" cy="446341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(from </a:t>
            </a:r>
            <a:r>
              <a:rPr lang="en-US" dirty="0" err="1"/>
              <a:t>CK.Auth.Cris</a:t>
            </a:r>
            <a:r>
              <a:rPr lang="en-US" dirty="0"/>
              <a:t>)</a:t>
            </a:r>
          </a:p>
          <a:p>
            <a:r>
              <a:rPr lang="en-US" dirty="0"/>
              <a:t>The </a:t>
            </a:r>
            <a:r>
              <a:rPr lang="en-US" dirty="0" err="1"/>
              <a:t>IAuthenticationInfo</a:t>
            </a:r>
            <a:r>
              <a:rPr lang="en-US" dirty="0"/>
              <a:t> service is the key</a:t>
            </a:r>
          </a:p>
          <a:p>
            <a:pPr lvl="1"/>
            <a:r>
              <a:rPr lang="en-US" dirty="0"/>
              <a:t>This is a “Ubiquitous Endpoint” service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This service is resolved and secured by the Endpoint</a:t>
            </a:r>
          </a:p>
          <a:p>
            <a:pPr lvl="1"/>
            <a:r>
              <a:rPr lang="en-US" dirty="0"/>
              <a:t>The global “Web” endpoint uses an encrypted token.</a:t>
            </a:r>
          </a:p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cannot be fooled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ActorId</a:t>
            </a:r>
            <a:r>
              <a:rPr lang="en-US" dirty="0"/>
              <a:t>, </a:t>
            </a:r>
            <a:r>
              <a:rPr lang="en-US" dirty="0" err="1"/>
              <a:t>DeviceId</a:t>
            </a:r>
            <a:r>
              <a:rPr lang="en-US" dirty="0"/>
              <a:t> and </a:t>
            </a:r>
            <a:r>
              <a:rPr lang="en-US" dirty="0" err="1"/>
              <a:t>ActualActorId</a:t>
            </a:r>
            <a:r>
              <a:rPr lang="en-US" dirty="0"/>
              <a:t> are checked against the secured </a:t>
            </a:r>
            <a:r>
              <a:rPr lang="en-US" dirty="0" err="1"/>
              <a:t>IAuthenticationInfo</a:t>
            </a:r>
            <a:r>
              <a:rPr lang="en-US" dirty="0"/>
              <a:t> service.</a:t>
            </a:r>
          </a:p>
        </p:txBody>
      </p:sp>
    </p:spTree>
    <p:extLst>
      <p:ext uri="{BB962C8B-B14F-4D97-AF65-F5344CB8AC3E}">
        <p14:creationId xmlns:p14="http://schemas.microsoft.com/office/powerpoint/2010/main" val="35239507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698CC-396A-8454-36E2-A15EC4E6F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1C601-D62B-370A-E39E-2DF1FE415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“$Trolley1” can send an Authenticated Command to “$Box” in the name of (Alice,3712).</a:t>
            </a:r>
          </a:p>
          <a:p>
            <a:r>
              <a:rPr lang="en-US" dirty="0"/>
              <a:t>“$Trolley1” must provide a proof to “$Box” that Alice is the “real” Alice (otherwise the Authenticated Command will be rejected).</a:t>
            </a:r>
          </a:p>
          <a:p>
            <a:r>
              <a:rPr lang="en-US" dirty="0"/>
              <a:t>“$Trolley1” must first obtain this proof by:</a:t>
            </a:r>
          </a:p>
          <a:p>
            <a:pPr lvl="1"/>
            <a:r>
              <a:rPr lang="en-US" dirty="0"/>
              <a:t>Let Alice logins herself into a “Central User Directory” shared with “$Box”</a:t>
            </a:r>
          </a:p>
          <a:p>
            <a:pPr lvl="1"/>
            <a:r>
              <a:rPr lang="en-US" dirty="0"/>
              <a:t>The proof must be Alice’s </a:t>
            </a:r>
            <a:r>
              <a:rPr lang="en-US" dirty="0" err="1"/>
              <a:t>IAuthenticationInfo</a:t>
            </a:r>
            <a:r>
              <a:rPr lang="en-US" dirty="0"/>
              <a:t> and a digital signature.</a:t>
            </a:r>
          </a:p>
          <a:p>
            <a:pPr lvl="1"/>
            <a:r>
              <a:rPr lang="en-US" dirty="0"/>
              <a:t>“$Box” can verify that the signature has been generated by the “Central User Directory” for “$Trolley1” and that the </a:t>
            </a:r>
            <a:r>
              <a:rPr lang="en-US" dirty="0" err="1"/>
              <a:t>IAuthenticationInfo</a:t>
            </a:r>
            <a:r>
              <a:rPr lang="en-US" dirty="0"/>
              <a:t> has not been tampered.</a:t>
            </a:r>
          </a:p>
        </p:txBody>
      </p:sp>
    </p:spTree>
    <p:extLst>
      <p:ext uri="{BB962C8B-B14F-4D97-AF65-F5344CB8AC3E}">
        <p14:creationId xmlns:p14="http://schemas.microsoft.com/office/powerpoint/2010/main" val="9738746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CBFFE-4E3A-2E51-3538-8811F1401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(2/2)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4F95B-3516-EFB7-2D85-F2244EED8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When “$Trolley1” sends a Command in the name of Alice to “$Box”…</a:t>
            </a:r>
          </a:p>
          <a:p>
            <a:pPr lvl="1"/>
            <a:r>
              <a:rPr lang="en-US" dirty="0"/>
              <a:t>it also sends the proof.</a:t>
            </a:r>
          </a:p>
          <a:p>
            <a:r>
              <a:rPr lang="en-US" dirty="0"/>
              <a:t>“$Box” </a:t>
            </a:r>
            <a:r>
              <a:rPr lang="en-US" dirty="0" err="1"/>
              <a:t>AppIdentity’s</a:t>
            </a:r>
            <a:r>
              <a:rPr lang="en-US" dirty="0"/>
              <a:t> endpoint receives the command and the proof.</a:t>
            </a:r>
          </a:p>
          <a:p>
            <a:pPr lvl="1"/>
            <a:r>
              <a:rPr lang="en-US" dirty="0"/>
              <a:t>It builds a “</a:t>
            </a:r>
            <a:r>
              <a:rPr lang="en-US" dirty="0" err="1"/>
              <a:t>ScopedData</a:t>
            </a:r>
            <a:r>
              <a:rPr lang="en-US" dirty="0"/>
              <a:t>” with the proof and the fact that it is “$Trolley1” that sent the command.</a:t>
            </a:r>
          </a:p>
          <a:p>
            <a:pPr lvl="1"/>
            <a:r>
              <a:rPr lang="en-US" dirty="0"/>
              <a:t>Its Endpoint is configured to resolve the </a:t>
            </a:r>
            <a:r>
              <a:rPr lang="en-US" dirty="0" err="1"/>
              <a:t>IAuthenticationInfo</a:t>
            </a:r>
            <a:r>
              <a:rPr lang="en-US" dirty="0"/>
              <a:t> service by:</a:t>
            </a:r>
          </a:p>
          <a:p>
            <a:pPr lvl="2"/>
            <a:r>
              <a:rPr lang="en-US" dirty="0"/>
              <a:t>Accessing the </a:t>
            </a:r>
            <a:r>
              <a:rPr lang="en-US" dirty="0" err="1"/>
              <a:t>ScopedData’s</a:t>
            </a:r>
            <a:r>
              <a:rPr lang="en-US" dirty="0"/>
              <a:t> proof and sender.</a:t>
            </a:r>
          </a:p>
          <a:p>
            <a:pPr lvl="2"/>
            <a:r>
              <a:rPr lang="en-US" dirty="0"/>
              <a:t>Verifying the signature and on success, returns the </a:t>
            </a:r>
            <a:r>
              <a:rPr lang="en-US" dirty="0" err="1"/>
              <a:t>IAuthenticationInfo</a:t>
            </a:r>
            <a:r>
              <a:rPr lang="en-US" dirty="0"/>
              <a:t>.</a:t>
            </a:r>
          </a:p>
          <a:p>
            <a:r>
              <a:rPr lang="en-US" dirty="0"/>
              <a:t>“$Box” validates and executes the command</a:t>
            </a:r>
          </a:p>
          <a:p>
            <a:pPr lvl="1"/>
            <a:r>
              <a:rPr lang="en-US" dirty="0"/>
              <a:t>Commands are executed in the background by runners in a scoped service container parametrized with the </a:t>
            </a:r>
            <a:r>
              <a:rPr lang="en-US" dirty="0" err="1"/>
              <a:t>ScopedData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any service involved in the validation or execution of the command requires the </a:t>
            </a:r>
            <a:r>
              <a:rPr lang="en-US" dirty="0" err="1"/>
              <a:t>IAuthenticationInfo</a:t>
            </a:r>
            <a:r>
              <a:rPr lang="en-US" dirty="0"/>
              <a:t>, it is resolved.</a:t>
            </a:r>
          </a:p>
          <a:p>
            <a:pPr lvl="1"/>
            <a:r>
              <a:rPr lang="en-US" dirty="0"/>
              <a:t>Command execution outcomes (Validation result, events and result) are sent back to “$Trolley1”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531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D4AF-53E9-FC4C-72A8-AAC9BDA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</a:t>
            </a:r>
            <a:r>
              <a:rPr lang="en-US" dirty="0" err="1"/>
              <a:t>PartyAuthenticationToken</a:t>
            </a:r>
            <a:r>
              <a:rPr lang="en-US" dirty="0"/>
              <a:t>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8F5DD-D01F-FADF-46B5-1C37122F4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Contains at least (</a:t>
            </a:r>
            <a:r>
              <a:rPr lang="en-US" dirty="0" err="1"/>
              <a:t>OpenId</a:t>
            </a:r>
            <a:r>
              <a:rPr lang="en-US" dirty="0"/>
              <a:t> compliant)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sub</a:t>
            </a:r>
            <a:r>
              <a:rPr lang="en-US" dirty="0"/>
              <a:t>ject: the </a:t>
            </a:r>
            <a:r>
              <a:rPr lang="en-US" dirty="0" err="1"/>
              <a:t>IAuthenticationInfo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with its </a:t>
            </a:r>
            <a:r>
              <a:rPr lang="en-US" dirty="0" err="1"/>
              <a:t>CriticalExpires</a:t>
            </a:r>
            <a:r>
              <a:rPr lang="en-US" dirty="0"/>
              <a:t> and </a:t>
            </a:r>
            <a:r>
              <a:rPr lang="en-US" b="1" dirty="0"/>
              <a:t>Exp</a:t>
            </a:r>
            <a:r>
              <a:rPr lang="en-US" dirty="0"/>
              <a:t>ires dates).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iss</a:t>
            </a:r>
            <a:r>
              <a:rPr lang="en-US" dirty="0"/>
              <a:t>uer: the “Central User Directory” identity full name.</a:t>
            </a:r>
          </a:p>
          <a:p>
            <a:pPr lvl="1"/>
            <a:r>
              <a:rPr lang="en-US" b="1" dirty="0"/>
              <a:t>alg</a:t>
            </a:r>
            <a:r>
              <a:rPr lang="en-US" dirty="0"/>
              <a:t>orithm and key size should be decided and fixed (best practice – may be overridden later).</a:t>
            </a:r>
          </a:p>
          <a:p>
            <a:r>
              <a:rPr lang="en-US" dirty="0"/>
              <a:t>Options (more </a:t>
            </a:r>
            <a:r>
              <a:rPr lang="en-US" dirty="0" err="1"/>
              <a:t>Oauth</a:t>
            </a:r>
            <a:r>
              <a:rPr lang="en-US" dirty="0"/>
              <a:t> than </a:t>
            </a:r>
            <a:r>
              <a:rPr lang="en-US" dirty="0" err="1"/>
              <a:t>OpenId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aud</a:t>
            </a:r>
            <a:r>
              <a:rPr lang="en-US" dirty="0"/>
              <a:t>ience: the “$Box” identity full name.</a:t>
            </a:r>
          </a:p>
          <a:p>
            <a:pPr lvl="1"/>
            <a:r>
              <a:rPr lang="en-US" dirty="0"/>
              <a:t>“client” or “origin”: the “$Trolley1” identity full name to which the token has been delivered.</a:t>
            </a:r>
          </a:p>
          <a:p>
            <a:r>
              <a:rPr lang="en-US" dirty="0"/>
              <a:t>Open questions</a:t>
            </a:r>
          </a:p>
          <a:p>
            <a:pPr lvl="1"/>
            <a:r>
              <a:rPr lang="en-US" dirty="0"/>
              <a:t>“issued at” (</a:t>
            </a:r>
            <a:r>
              <a:rPr lang="en-US" b="1" dirty="0" err="1"/>
              <a:t>iat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“not before” (</a:t>
            </a:r>
            <a:r>
              <a:rPr lang="en-US" b="1" dirty="0" err="1"/>
              <a:t>nbf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Key identifier (</a:t>
            </a:r>
            <a:r>
              <a:rPr lang="en-US" b="1" dirty="0"/>
              <a:t>kid</a:t>
            </a:r>
            <a:r>
              <a:rPr lang="en-US" dirty="0"/>
              <a:t>) or not.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7563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A6962-B8F6-250D-79FF-D57BEC59F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3217C-4B1B-5541-FF3F-6319629D1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7468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Context: Alice’s application ($Trolley1) is NOT a full backend with a User store.</a:t>
            </a:r>
          </a:p>
          <a:p>
            <a:pPr lvl="1"/>
            <a:r>
              <a:rPr lang="en-US" dirty="0"/>
              <a:t>It cannot “log” anybody, it is a basic “agent”, a “satellite software”</a:t>
            </a:r>
          </a:p>
          <a:p>
            <a:pPr lvl="1"/>
            <a:r>
              <a:rPr lang="en-US" dirty="0" err="1"/>
              <a:t>CK.AspNet.Auth</a:t>
            </a:r>
            <a:r>
              <a:rPr lang="en-US" dirty="0"/>
              <a:t> cannot be used: it is dedicated to the “</a:t>
            </a:r>
            <a:r>
              <a:rPr lang="en-US" dirty="0" err="1"/>
              <a:t>CentralUserRepository</a:t>
            </a:r>
            <a:r>
              <a:rPr lang="en-US" dirty="0"/>
              <a:t>”.</a:t>
            </a:r>
          </a:p>
          <a:p>
            <a:r>
              <a:rPr lang="en-US" dirty="0"/>
              <a:t>Best: the front app uses </a:t>
            </a:r>
            <a:r>
              <a:rPr lang="en-US" dirty="0" err="1"/>
              <a:t>wfa</a:t>
            </a:r>
            <a:r>
              <a:rPr lang="en-US" dirty="0"/>
              <a:t> (</a:t>
            </a:r>
            <a:r>
              <a:rPr lang="en-US" dirty="0" err="1"/>
              <a:t>js</a:t>
            </a:r>
            <a:r>
              <a:rPr lang="en-US" dirty="0"/>
              <a:t>) and everything works…</a:t>
            </a:r>
          </a:p>
          <a:p>
            <a:pPr lvl="1"/>
            <a:r>
              <a:rPr lang="en-US" dirty="0"/>
              <a:t>Its backend acts as if </a:t>
            </a:r>
            <a:r>
              <a:rPr lang="en-US" dirty="0" err="1"/>
              <a:t>CK.AspNet.Auth</a:t>
            </a:r>
            <a:r>
              <a:rPr lang="en-US" dirty="0"/>
              <a:t> was used.</a:t>
            </a:r>
          </a:p>
          <a:p>
            <a:pPr lvl="1"/>
            <a:r>
              <a:rPr lang="en-US" dirty="0"/>
              <a:t>We “just” need a middleware that handles these routes</a:t>
            </a:r>
          </a:p>
          <a:p>
            <a:pPr lvl="2"/>
            <a:r>
              <a:rPr lang="en-US" dirty="0"/>
              <a:t>/.</a:t>
            </a:r>
            <a:r>
              <a:rPr lang="en-US" dirty="0" err="1"/>
              <a:t>webFront</a:t>
            </a:r>
            <a:endParaRPr lang="en-US" dirty="0"/>
          </a:p>
          <a:p>
            <a:pPr lvl="3"/>
            <a:r>
              <a:rPr lang="en-US" dirty="0"/>
              <a:t>/token</a:t>
            </a:r>
          </a:p>
          <a:p>
            <a:pPr lvl="3"/>
            <a:r>
              <a:rPr lang="en-US" dirty="0"/>
              <a:t>/c</a:t>
            </a:r>
          </a:p>
          <a:p>
            <a:pPr lvl="4"/>
            <a:r>
              <a:rPr lang="en-US" dirty="0"/>
              <a:t>/refresh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basicLogin</a:t>
            </a:r>
            <a:endParaRPr lang="en-US" dirty="0"/>
          </a:p>
          <a:p>
            <a:pPr lvl="4"/>
            <a:r>
              <a:rPr lang="en-US" dirty="0"/>
              <a:t>/</a:t>
            </a:r>
            <a:r>
              <a:rPr lang="en-US" dirty="0" err="1"/>
              <a:t>startLogin</a:t>
            </a:r>
            <a:endParaRPr lang="en-US" dirty="0"/>
          </a:p>
          <a:p>
            <a:pPr lvl="4"/>
            <a:r>
              <a:rPr lang="en-US" dirty="0"/>
              <a:t>/logout</a:t>
            </a:r>
          </a:p>
          <a:p>
            <a:pPr lvl="4"/>
            <a:r>
              <a:rPr lang="en-US" dirty="0"/>
              <a:t>/impersonate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unsafeDirectLogin</a:t>
            </a:r>
            <a:r>
              <a:rPr lang="en-US" dirty="0"/>
              <a:t> =&gt; 403 Forbidden</a:t>
            </a:r>
          </a:p>
          <a:p>
            <a:pPr lvl="4"/>
            <a:endParaRPr lang="en-US" dirty="0"/>
          </a:p>
          <a:p>
            <a:r>
              <a:rPr lang="en-US" dirty="0"/>
              <a:t>It seems far easier to say than to implement this </a:t>
            </a:r>
            <a:r>
              <a:rPr lang="en-US" dirty="0">
                <a:sym typeface="Wingdings" panose="05000000000000000000" pitchFamily="2" charset="2"/>
              </a:rPr>
              <a:t>.</a:t>
            </a:r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71E99E08-01ED-CE53-82EC-87974EE22779}"/>
              </a:ext>
            </a:extLst>
          </p:cNvPr>
          <p:cNvSpPr/>
          <p:nvPr/>
        </p:nvSpPr>
        <p:spPr>
          <a:xfrm>
            <a:off x="5618480" y="3738880"/>
            <a:ext cx="406400" cy="145288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83523983-9D55-A483-47C8-7C4E0AEA468A}"/>
              </a:ext>
            </a:extLst>
          </p:cNvPr>
          <p:cNvSpPr/>
          <p:nvPr/>
        </p:nvSpPr>
        <p:spPr>
          <a:xfrm>
            <a:off x="6024880" y="2697163"/>
            <a:ext cx="2682240" cy="1813560"/>
          </a:xfrm>
          <a:prstGeom prst="bentUpArrow">
            <a:avLst>
              <a:gd name="adj1" fmla="val 5392"/>
              <a:gd name="adj2" fmla="val 25000"/>
              <a:gd name="adj3" fmla="val 2275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338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3CFE8-B3DD-1DE3-9BE3-65A7A511C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51F6E-6D6D-6002-23CE-8ADA16FF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“Use the standard Luke!”</a:t>
            </a:r>
          </a:p>
          <a:p>
            <a:pPr lvl="1"/>
            <a:r>
              <a:rPr lang="en-US" dirty="0"/>
              <a:t>The backend has only OIDC authentication bound to the “Central User Repository” and then use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1219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 (next slide).</a:t>
            </a:r>
          </a:p>
          <a:p>
            <a:r>
              <a:rPr lang="en-US" dirty="0"/>
              <a:t>Enlistment of new Parties: </a:t>
            </a:r>
            <a:r>
              <a:rPr lang="en-US" dirty="0" err="1"/>
              <a:t>AcceptUri</a:t>
            </a:r>
            <a:r>
              <a:rPr lang="en-US" dirty="0"/>
              <a:t> &amp; </a:t>
            </a:r>
            <a:r>
              <a:rPr lang="en-US" dirty="0" err="1"/>
              <a:t>UnknownRemote</a:t>
            </a:r>
            <a:endParaRPr lang="en-US" dirty="0"/>
          </a:p>
          <a:p>
            <a:r>
              <a:rPr lang="en-US" dirty="0"/>
              <a:t>Poco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r>
              <a:rPr lang="en-US" dirty="0"/>
              <a:t>“X509Store” (</a:t>
            </a:r>
            <a:r>
              <a:rPr lang="en-US" dirty="0" err="1"/>
              <a:t>.Net</a:t>
            </a:r>
            <a:r>
              <a:rPr lang="en-US" dirty="0"/>
              <a:t> core or not?)</a:t>
            </a:r>
          </a:p>
          <a:p>
            <a:pPr lvl="1"/>
            <a:r>
              <a:rPr lang="en-US" dirty="0"/>
              <a:t>First step</a:t>
            </a:r>
          </a:p>
          <a:p>
            <a:pPr lvl="2"/>
            <a:r>
              <a:rPr lang="en-US" dirty="0"/>
              <a:t>The primary signing certificate that identifies the party.</a:t>
            </a:r>
          </a:p>
          <a:p>
            <a:pPr lvl="2"/>
            <a:r>
              <a:rPr lang="en-US" dirty="0"/>
              <a:t>Rolling it (or not?)</a:t>
            </a:r>
          </a:p>
          <a:p>
            <a:pPr lvl="1"/>
            <a:r>
              <a:rPr lang="en-US" dirty="0"/>
              <a:t>Other certificates</a:t>
            </a:r>
          </a:p>
          <a:p>
            <a:pPr lvl="2"/>
            <a:r>
              <a:rPr lang="en-US" dirty="0"/>
              <a:t>Name for them?</a:t>
            </a:r>
          </a:p>
          <a:p>
            <a:pPr lvl="2"/>
            <a:r>
              <a:rPr lang="en-US" dirty="0"/>
              <a:t>Rolling?</a:t>
            </a:r>
          </a:p>
          <a:p>
            <a:pPr lvl="2"/>
            <a:r>
              <a:rPr lang="en-US" dirty="0"/>
              <a:t>Orchard use the X509Store only for its primary certificate, others are on disk, optionally protected by a password.</a:t>
            </a:r>
          </a:p>
          <a:p>
            <a:pPr marL="914400" lvl="2" indent="0">
              <a:buNone/>
            </a:pPr>
            <a:r>
              <a:rPr lang="en-US" dirty="0">
                <a:hlinkClick r:id="rId3"/>
              </a:rPr>
              <a:t>https://github.com/OrchardCMS/OrchardCore/blob/main/src/OrchardCore.Modules/OrchardCore.OpenId/Services/OpenIdServerService.cs</a:t>
            </a:r>
            <a:endParaRPr lang="en-US" dirty="0"/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BC4F-39D3-FAF0-AB9D-35A61EBB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</a:t>
            </a:r>
            <a:r>
              <a:rPr lang="en-US" dirty="0"/>
              <a:t> feature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9E0310-D200-A432-CC9E-332FDFE41015}"/>
              </a:ext>
            </a:extLst>
          </p:cNvPr>
          <p:cNvSpPr txBox="1">
            <a:spLocks/>
          </p:cNvSpPr>
          <p:nvPr/>
        </p:nvSpPr>
        <p:spPr>
          <a:xfrm>
            <a:off x="838200" y="1562582"/>
            <a:ext cx="10515600" cy="4766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Common DI or 2 DI (one for the WebApp, one for </a:t>
            </a:r>
            <a:r>
              <a:rPr lang="en-US" dirty="0" err="1"/>
              <a:t>AppIdentity</a:t>
            </a:r>
            <a:r>
              <a:rPr lang="en-US" dirty="0"/>
              <a:t>)?</a:t>
            </a:r>
          </a:p>
          <a:p>
            <a:r>
              <a:rPr lang="en-US" dirty="0"/>
              <a:t>2 DI containers introduce the “Absolute Singletons” issue</a:t>
            </a:r>
          </a:p>
          <a:p>
            <a:pPr lvl="1"/>
            <a:r>
              <a:rPr lang="en-US" dirty="0"/>
              <a:t>Should the same instance of a singleton service be registered in both DI?</a:t>
            </a:r>
          </a:p>
          <a:p>
            <a:pPr lvl="1"/>
            <a:r>
              <a:rPr lang="en-US" dirty="0"/>
              <a:t>For all singleton services? May be for </a:t>
            </a:r>
            <a:r>
              <a:rPr lang="en-US" dirty="0" err="1"/>
              <a:t>IRealObject</a:t>
            </a:r>
            <a:r>
              <a:rPr lang="en-US" dirty="0"/>
              <a:t> only?</a:t>
            </a:r>
          </a:p>
          <a:p>
            <a:r>
              <a:rPr lang="en-US" dirty="0"/>
              <a:t>My preference: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CK-AppIdentity:Local:WebApplication</a:t>
            </a:r>
            <a:r>
              <a:rPr lang="en-US" dirty="0"/>
              <a:t> section that defines the WebApp as an “island” of the application.</a:t>
            </a:r>
          </a:p>
          <a:p>
            <a:pPr lvl="2"/>
            <a:r>
              <a:rPr lang="en-US" dirty="0"/>
              <a:t>DI of the app has no “Web” dependent services (“Process” services only).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WebApplicationBuilder.Services</a:t>
            </a:r>
            <a:r>
              <a:rPr lang="en-US" dirty="0"/>
              <a:t> is pre-configured with all the “process services” registrations.</a:t>
            </a:r>
          </a:p>
          <a:p>
            <a:pPr lvl="1"/>
            <a:r>
              <a:rPr lang="en-US" dirty="0"/>
              <a:t>Can we build the App DI without all the services that depends on the “Web” layer?</a:t>
            </a:r>
          </a:p>
          <a:p>
            <a:pPr lvl="2"/>
            <a:r>
              <a:rPr lang="en-US" dirty="0" err="1"/>
              <a:t>ScopedHttpContext</a:t>
            </a:r>
            <a:r>
              <a:rPr lang="en-US" dirty="0"/>
              <a:t>, </a:t>
            </a:r>
            <a:r>
              <a:rPr lang="en-US" dirty="0" err="1"/>
              <a:t>IAuthenticationService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Is the “Front” vs. “Process” distinction enough?</a:t>
            </a:r>
          </a:p>
          <a:p>
            <a:pPr lvl="2"/>
            <a:r>
              <a:rPr lang="en-US" dirty="0"/>
              <a:t>In such case, “Front” means “Web”… </a:t>
            </a:r>
          </a:p>
          <a:p>
            <a:pPr lvl="2"/>
            <a:r>
              <a:rPr lang="en-US" dirty="0"/>
              <a:t>This may be a first approach, but ideally services are tagged with more than a single “trait”.</a:t>
            </a:r>
          </a:p>
          <a:p>
            <a:pPr lvl="2"/>
            <a:r>
              <a:rPr lang="en-US" dirty="0"/>
              <a:t>Or we skip any service defined in “</a:t>
            </a:r>
            <a:r>
              <a:rPr lang="en-US" dirty="0" err="1"/>
              <a:t>Microsoft.AspNetCore</a:t>
            </a:r>
            <a:r>
              <a:rPr lang="en-US" dirty="0"/>
              <a:t>” namespace ? A list of regex on AQN?</a:t>
            </a:r>
          </a:p>
          <a:p>
            <a:pPr lvl="2"/>
            <a:r>
              <a:rPr lang="en-US" dirty="0"/>
              <a:t>Does a “list of regex on AQN” defines an “End Point”?</a:t>
            </a:r>
          </a:p>
          <a:p>
            <a:pPr lvl="3"/>
            <a:r>
              <a:rPr lang="en-US" dirty="0"/>
              <a:t>If yes, one should be able to “</a:t>
            </a:r>
            <a:r>
              <a:rPr lang="en-US" dirty="0" err="1"/>
              <a:t>ConfigureServices</a:t>
            </a:r>
            <a:r>
              <a:rPr lang="en-US" dirty="0"/>
              <a:t>” with or without a set of “End Points”…</a:t>
            </a:r>
          </a:p>
          <a:p>
            <a:pPr lvl="1"/>
            <a:r>
              <a:rPr lang="en-US" dirty="0"/>
              <a:t>Even if this is possible, we have yet to synchronize the singleton instances (or not)…</a:t>
            </a:r>
          </a:p>
          <a:p>
            <a:pPr lvl="1"/>
            <a:r>
              <a:rPr lang="en-US" dirty="0"/>
              <a:t>This may be the best way in terms of architecture BUT it’s not a short-term solution.</a:t>
            </a:r>
          </a:p>
          <a:p>
            <a:r>
              <a:rPr lang="en-US" dirty="0"/>
              <a:t>The other way is that the Application DI is the WebApp one (if the app is a WebApp) just like today.</a:t>
            </a:r>
          </a:p>
          <a:p>
            <a:pPr lvl="1"/>
            <a:r>
              <a:rPr lang="en-US" dirty="0"/>
              <a:t>But now services must be “hidden”/”overridden” in </a:t>
            </a:r>
            <a:r>
              <a:rPr lang="en-US" dirty="0" err="1"/>
              <a:t>AppIdentity</a:t>
            </a:r>
            <a:r>
              <a:rPr lang="en-US" dirty="0"/>
              <a:t> services, at least for the </a:t>
            </a:r>
            <a:r>
              <a:rPr lang="en-US" dirty="0" err="1"/>
              <a:t>CrisExecutor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 command handler relies on a “Web” singleton or scoped service, we are doomed (will fail at runtime).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CK.Cris.Executor</a:t>
            </a:r>
            <a:r>
              <a:rPr lang="en-US" dirty="0"/>
              <a:t> do its job (</a:t>
            </a:r>
            <a:r>
              <a:rPr lang="en-US" dirty="0" err="1"/>
              <a:t>CommandValidator</a:t>
            </a:r>
            <a:r>
              <a:rPr lang="en-US" dirty="0"/>
              <a:t>, </a:t>
            </a:r>
            <a:r>
              <a:rPr lang="en-US" dirty="0" err="1"/>
              <a:t>RawCommandExecutor</a:t>
            </a:r>
            <a:r>
              <a:rPr lang="en-US" dirty="0"/>
              <a:t>) based on an explicit </a:t>
            </a:r>
            <a:r>
              <a:rPr lang="en-US" dirty="0" err="1"/>
              <a:t>IServiceProvider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 can provide a </a:t>
            </a:r>
            <a:r>
              <a:rPr lang="en-US" dirty="0" err="1"/>
              <a:t>IServiceProvider</a:t>
            </a:r>
            <a:r>
              <a:rPr lang="en-US" dirty="0"/>
              <a:t> that hides/replaces some services for the command handling.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 This is not ideal, but it should work if not too many “Web” services are concerned and we can provide a replacement for the services at stake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74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82137-8E30-732F-A684-E7B1E465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CrisSession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3B35E-C4A6-EA97-FFAD-FE9D1FB60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Non concurrent, non reentrant (just like the </a:t>
            </a:r>
            <a:r>
              <a:rPr lang="en-US" dirty="0" err="1"/>
              <a:t>ActivityMonitor</a:t>
            </a:r>
            <a:r>
              <a:rPr lang="en-US" dirty="0"/>
              <a:t>)</a:t>
            </a:r>
          </a:p>
          <a:p>
            <a:r>
              <a:rPr lang="en-US" dirty="0"/>
              <a:t>Exposes a </a:t>
            </a:r>
            <a:r>
              <a:rPr lang="en-US" dirty="0" err="1"/>
              <a:t>ActivityMonitor</a:t>
            </a:r>
            <a:endParaRPr lang="en-US" dirty="0"/>
          </a:p>
          <a:p>
            <a:r>
              <a:rPr lang="en-US" dirty="0"/>
              <a:t>Captures an initial command followed by events and subordinate sessions.</a:t>
            </a:r>
          </a:p>
          <a:p>
            <a:r>
              <a:rPr lang="en-US" dirty="0"/>
              <a:t>A session must be explicitly closed.</a:t>
            </a:r>
          </a:p>
          <a:p>
            <a:pPr lvl="1"/>
            <a:r>
              <a:rPr lang="en-US" dirty="0"/>
              <a:t>This handles “Super Asynchronous” pattern: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StartXXX</a:t>
            </a:r>
            <a:r>
              <a:rPr lang="en-US" dirty="0"/>
              <a:t>” command starts a remote “activity”.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StopXXX</a:t>
            </a:r>
            <a:r>
              <a:rPr lang="en-US" dirty="0"/>
              <a:t>” command stops it.</a:t>
            </a:r>
          </a:p>
          <a:p>
            <a:pPr lvl="1"/>
            <a:r>
              <a:rPr lang="en-US" dirty="0"/>
              <a:t>Optionally, the availability of the </a:t>
            </a:r>
            <a:r>
              <a:rPr lang="en-US" dirty="0" err="1"/>
              <a:t>TResult</a:t>
            </a:r>
            <a:r>
              <a:rPr lang="en-US" dirty="0"/>
              <a:t> of a </a:t>
            </a:r>
            <a:r>
              <a:rPr lang="en-US" dirty="0" err="1"/>
              <a:t>ICommand</a:t>
            </a:r>
            <a:r>
              <a:rPr lang="en-US" dirty="0"/>
              <a:t>&lt;</a:t>
            </a:r>
            <a:r>
              <a:rPr lang="en-US" dirty="0" err="1"/>
              <a:t>TResult</a:t>
            </a:r>
            <a:r>
              <a:rPr lang="en-US" dirty="0"/>
              <a:t>&gt; automatically closes the session.</a:t>
            </a:r>
          </a:p>
          <a:p>
            <a:r>
              <a:rPr lang="en-US" dirty="0"/>
              <a:t>A session seems to capture the result(s) of a </a:t>
            </a:r>
            <a:r>
              <a:rPr lang="en-US" b="1" dirty="0"/>
              <a:t>Workflow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252566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AFAF5-98A2-D125-4496-C05967A71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questions &amp; To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559C-F4C7-F864-231C-921ED15BE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Internalize </a:t>
            </a:r>
            <a:r>
              <a:rPr lang="en-US" dirty="0" err="1"/>
              <a:t>TransportMessage</a:t>
            </a:r>
            <a:endParaRPr lang="en-US" dirty="0"/>
          </a:p>
          <a:p>
            <a:pPr lvl="1"/>
            <a:r>
              <a:rPr lang="en-US" dirty="0"/>
              <a:t>Differentiate </a:t>
            </a:r>
            <a:r>
              <a:rPr lang="en-US" dirty="0" err="1"/>
              <a:t>IOutgoingTransportMessage</a:t>
            </a:r>
            <a:r>
              <a:rPr lang="en-US" dirty="0"/>
              <a:t> and </a:t>
            </a:r>
            <a:r>
              <a:rPr lang="en-US" dirty="0" err="1"/>
              <a:t>IIncomingTransportMessage</a:t>
            </a:r>
            <a:endParaRPr lang="en-US" dirty="0"/>
          </a:p>
          <a:p>
            <a:pPr lvl="1"/>
            <a:r>
              <a:rPr lang="en-US" dirty="0"/>
              <a:t>Assume the outgoing message mutability: Freeze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Add a “Layer” API on the </a:t>
            </a:r>
            <a:r>
              <a:rPr lang="en-US" dirty="0" err="1"/>
              <a:t>TransportMessage</a:t>
            </a:r>
            <a:endParaRPr lang="en-US" dirty="0"/>
          </a:p>
          <a:p>
            <a:r>
              <a:rPr lang="en-US" dirty="0"/>
              <a:t>Implements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Should “Response” channel be renamed “</a:t>
            </a:r>
            <a:r>
              <a:rPr lang="en-US" dirty="0" err="1"/>
              <a:t>HighPriority</a:t>
            </a:r>
            <a:r>
              <a:rPr lang="en-US" dirty="0"/>
              <a:t>”?</a:t>
            </a:r>
          </a:p>
          <a:p>
            <a:pPr lvl="1"/>
            <a:r>
              <a:rPr lang="en-US" dirty="0"/>
              <a:t>Responses would use it but the “</a:t>
            </a:r>
            <a:r>
              <a:rPr lang="en-US" dirty="0" err="1"/>
              <a:t>CancelCurrentBigMessage</a:t>
            </a:r>
            <a:r>
              <a:rPr lang="en-US" dirty="0"/>
              <a:t>” would also use it (</a:t>
            </a:r>
            <a:r>
              <a:rPr lang="en-US"/>
              <a:t>and it is </a:t>
            </a:r>
            <a:r>
              <a:rPr lang="en-US" dirty="0"/>
              <a:t>not a response).</a:t>
            </a:r>
          </a:p>
        </p:txBody>
      </p:sp>
    </p:spTree>
    <p:extLst>
      <p:ext uri="{BB962C8B-B14F-4D97-AF65-F5344CB8AC3E}">
        <p14:creationId xmlns:p14="http://schemas.microsoft.com/office/powerpoint/2010/main" val="47929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9930</TotalTime>
  <Words>4937</Words>
  <Application>Microsoft Office PowerPoint</Application>
  <PresentationFormat>Widescreen</PresentationFormat>
  <Paragraphs>647</Paragraphs>
  <Slides>45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3" baseType="lpstr">
      <vt:lpstr>Arial</vt:lpstr>
      <vt:lpstr>Calibri</vt:lpstr>
      <vt:lpstr>Calibri Light</vt:lpstr>
      <vt:lpstr>Consolas</vt:lpstr>
      <vt:lpstr>Courier New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DomainName/PartyName/EnvironmentName</vt:lpstr>
      <vt:lpstr>A FullName is autodescriptive</vt:lpstr>
      <vt:lpstr>Naming constraints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LaToulousaine goes to London!</vt:lpstr>
      <vt:lpstr>Security and privacy</vt:lpstr>
      <vt:lpstr>Other uses…</vt:lpstr>
      <vt:lpstr>Configuration Model</vt:lpstr>
      <vt:lpstr>Exploit the .Net Configuration API</vt:lpstr>
      <vt:lpstr>Runtime Model</vt:lpstr>
      <vt:lpstr>The “Features”</vt:lpstr>
      <vt:lpstr>Feature Driver</vt:lpstr>
      <vt:lpstr>Opt-In/Out and Allow/DisallowFeatures</vt:lpstr>
      <vt:lpstr>The TransportFeature</vt:lpstr>
      <vt:lpstr>Implementing Transports</vt:lpstr>
      <vt:lpstr>The Channels</vt:lpstr>
      <vt:lpstr>UNSTABLE REMAINDER</vt:lpstr>
      <vt:lpstr>TransportMessage</vt:lpstr>
      <vt:lpstr>The 8 protocols maximal count</vt:lpstr>
      <vt:lpstr>Creating new messages</vt:lpstr>
      <vt:lpstr>Reading incoming messages</vt:lpstr>
      <vt:lpstr>Channel Feature</vt:lpstr>
      <vt:lpstr>The BlobChannel</vt:lpstr>
      <vt:lpstr>Handling User Authentication</vt:lpstr>
      <vt:lpstr>User and Commands through Parties (1/2)</vt:lpstr>
      <vt:lpstr>User and Commands through Parties (2/2) </vt:lpstr>
      <vt:lpstr>The “PartyAuthenticationToken”</vt:lpstr>
      <vt:lpstr>How Alice gets her Token? (1/2)</vt:lpstr>
      <vt:lpstr>How Alice gets her Token? (2/2)</vt:lpstr>
      <vt:lpstr>Roadmap</vt:lpstr>
      <vt:lpstr>Cris feature</vt:lpstr>
      <vt:lpstr>CrisSession</vt:lpstr>
      <vt:lpstr>Other questions &amp;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42</cp:revision>
  <dcterms:created xsi:type="dcterms:W3CDTF">2023-03-08T10:35:35Z</dcterms:created>
  <dcterms:modified xsi:type="dcterms:W3CDTF">2023-06-28T10:41:15Z</dcterms:modified>
</cp:coreProperties>
</file>