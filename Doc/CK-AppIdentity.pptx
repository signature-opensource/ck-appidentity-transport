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notesSlides/notesSlide5.xml" ContentType="application/vnd.openxmlformats-officedocument.presentationml.notesSlide+xml"/>
  <Override PartName="/ppt/ink/ink2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256" r:id="rId2"/>
    <p:sldId id="257" r:id="rId3"/>
    <p:sldId id="259" r:id="rId4"/>
    <p:sldId id="258" r:id="rId5"/>
    <p:sldId id="296" r:id="rId6"/>
    <p:sldId id="295" r:id="rId7"/>
    <p:sldId id="262" r:id="rId8"/>
    <p:sldId id="264" r:id="rId9"/>
    <p:sldId id="269" r:id="rId10"/>
    <p:sldId id="265" r:id="rId11"/>
    <p:sldId id="263" r:id="rId12"/>
    <p:sldId id="266" r:id="rId13"/>
    <p:sldId id="267" r:id="rId14"/>
    <p:sldId id="268" r:id="rId15"/>
    <p:sldId id="270" r:id="rId16"/>
    <p:sldId id="271" r:id="rId17"/>
    <p:sldId id="30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2" r:id="rId26"/>
    <p:sldId id="281" r:id="rId27"/>
    <p:sldId id="288" r:id="rId28"/>
    <p:sldId id="283" r:id="rId29"/>
    <p:sldId id="304" r:id="rId30"/>
    <p:sldId id="284" r:id="rId31"/>
    <p:sldId id="285" r:id="rId32"/>
    <p:sldId id="286" r:id="rId33"/>
    <p:sldId id="287" r:id="rId34"/>
    <p:sldId id="289" r:id="rId35"/>
    <p:sldId id="290" r:id="rId36"/>
    <p:sldId id="297" r:id="rId37"/>
    <p:sldId id="298" r:id="rId38"/>
    <p:sldId id="299" r:id="rId39"/>
    <p:sldId id="300" r:id="rId40"/>
    <p:sldId id="301" r:id="rId41"/>
    <p:sldId id="302" r:id="rId42"/>
    <p:sldId id="291" r:id="rId43"/>
    <p:sldId id="292" r:id="rId44"/>
    <p:sldId id="294" r:id="rId45"/>
    <p:sldId id="293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312" autoAdjust="0"/>
  </p:normalViewPr>
  <p:slideViewPr>
    <p:cSldViewPr snapToGrid="0">
      <p:cViewPr varScale="1">
        <p:scale>
          <a:sx n="73" d="100"/>
          <a:sy n="73" d="100"/>
        </p:scale>
        <p:origin x="1042" y="6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4T17:00:42.16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14 170,'51'0,"662"-22,-623 9,108-29,-25 4,-13 14,227-6,165 30,-231 3,1036-3,-1268 4,0 4,-1 4,0 4,-2 3,143 52,-172-48,-39-15,-1-1,1 0,0-1,0-1,1-1,22 2,267-7,48 4,-313 3,-38-3,-13 0,-63 4,-1-3,-139-10,133 1,0-4,0-4,1-3,-137-47,139 36,-97-21,160 46,-1 1,1-1,0 2,0 0,-1 1,1 0,0 0,-18 6,-11 5,-44 18,40-13,41-15,-37 14,0-2,-1-1,0-3,-58 7,-369 7,105-10,-11 0,307-16,26 0,1 2,-41 6,70-5,0 2,0-1,0 1,1 1,-1 0,1 1,0 0,0 0,1 1,0 1,-13 10,7-4,0-1,-1-1,-1 0,0-1,0-1,-29 10,-119 26,137-39,13-1,0 1,0 0,0 1,1 1,-15 9,19-9,-1-1,-1 0,1-1,-1-1,0 0,0 0,-1-1,-19 2,-3-4,0-1,0-2,-36-7,-106-24,100 16,-88-7,110 19,-18 0,-142-26,182 22,0 1,-69-3,86 10,-1 0,1 2,0 0,0 1,0 0,0 2,-30 11,-33 23,-20 9,86-43,1 0,-1-1,0-1,0 0,-25 1,35-4,-1 0,0 0,0-1,1 0,-1 0,0 0,1-1,-1 1,1-1,0 0,-1 0,1-1,0 1,0-1,1 0,-1 0,0 0,1-1,0 1,-5-7,-1-3,1 0,0-1,1 0,-11-28,17 39,0 0,0 0,0 0,0 0,0 0,1 0,-1 0,1-1,0 1,0 0,0 0,0 0,2-6,-1 7,0 1,0-1,0 1,0-1,1 1,-1-1,0 1,1-1,-1 1,1 0,0 0,-1 0,1 0,0 0,0 0,0 1,-1-1,1 1,0-1,0 1,0-1,0 1,0 0,0 0,2 0,34 0,-1 2,0 1,62 13,-27-3,39 5,121 17,-167-28,102-3,-144-4,0-2,-1-1,1-1,-1 0,0-2,0 0,35-17,-39 16,0 1,1 1,0 0,-1 2,1 0,1 1,-1 0,37 4,-20-2,624 3,-598 1,-1 3,1 2,105 32,-110-26,12 3,15 5,1-4,140 15,-208-35,0 0,0-1,0-1,0-1,-1 0,22-9,-9 4,89-26,199-32,-252 61,114 6,-77 2,738-2,-822 1,-1 1,34 7,21 4,-22-13,-1-1,1-3,96-20,-52 7,-77 14,1 1,0 0,-1 1,1 1,0 1,0 1,31 6,-26-2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3T09:50:11.22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0 130,'17'-1,"0"-1,-1 0,1-1,26-9,6-1,416-47,-296 44,-101 6,-46 6,0 1,26-1,-40 4,1 1,0 0,-1 0,1 1,-1 0,1 0,-1 1,0 0,8 5,35 22,-43-23,1-1,0-1,0 0,1 0,0 0,-1-1,1-1,1 0,18 3,21-3,62-5,39 2,-103 6,48 13,-50-9,54 4,340-7,-261-9,-157 1,0-1,41-11,-4 2,-42 7,0-1,0 0,20-9,-23 8,0 1,1 0,-1 1,1 0,18-1,20 4,-29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BA75D8-A9A5-4FAF-B563-7A079B630A7E}" type="datetimeFigureOut">
              <a:rPr lang="en-US" smtClean="0"/>
              <a:t>7/1/2023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5EDB92-2FE2-4164-AA27-D03258A20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045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are NOT going to use any relay </a:t>
            </a:r>
            <a:r>
              <a:rPr lang="en-US" b="0" dirty="0"/>
              <a:t>or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hole punching strategies here. We require that A can reach B OR B can reach A directly, if both A and B are behind NAT this doesn’t work and that’s it. </a:t>
            </a:r>
            <a:b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</a:b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See https://bford.info/pub/net/p2pnat/index.html for a detailed discussion about NAT traversing.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8209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5804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4541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Allow/</a:t>
            </a:r>
            <a:r>
              <a:rPr lang="en-US" dirty="0" err="1"/>
              <a:t>DisallowFeatures</a:t>
            </a:r>
            <a:r>
              <a:rPr lang="en-US" dirty="0"/>
              <a:t> can be a string or an array of strings.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059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5864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detailing the Channels, we need to cover the </a:t>
            </a:r>
            <a:r>
              <a:rPr lang="en-US" dirty="0" err="1"/>
              <a:t>TransportMessage</a:t>
            </a:r>
            <a:r>
              <a:rPr lang="en-US" dirty="0"/>
              <a:t> and its Factories and the Transport and </a:t>
            </a:r>
            <a:r>
              <a:rPr lang="en-US" dirty="0" err="1"/>
              <a:t>TransportType</a:t>
            </a:r>
            <a:r>
              <a:rPr lang="en-US" dirty="0"/>
              <a:t> model.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9077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All messages exchanged by the Transport layer are prefixed by the message's protocol and length.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 prefix starts with a first byte: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`|L0|L1|CD|R0|R1|P0|P1|P2|`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2 MSB (L0-L1) gives us the number of bytes of the message length: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 byte, the message length is between 0 and 255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2 bytes, the message length is between 256 and 65535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3 bytes, the message length is between 65536 and 16 777 215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4 bytes, the message length is between 16 777 216 and 2 147 483 648 bytes (2 Gib).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`CD`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is the "Control vs. Data" bit. This is a convenient bit that can be used by protocols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as a one-bit discriminator, typically between a regular data message and one (or more) control message.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and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are reserved for future use.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P0-P2 bits is the Protocol, a number between 0 and 7. This number defines the "type" of the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message: the writer or serializer that has been used to write the payload and the reader or 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deserializer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that must be used to read it back.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comes the message length itself (1 to 4 bytes)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the message payload itself.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At a higher level 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MessageProtocol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” are identified by a string (its unique name).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protocol defines how the message is encoded and how they are exchanged: by merging these 2 concepts here, we greatly simplify the implementation and the understandability of the Transport layer. The protocol simply defines the encoding it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523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`"0 Protocol"`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protocol name is reserved: this is the protocol of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CK.AppIdentity.TransportLayer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itself that handles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special messages used to negotiate, accept, reject incoming parties and outgoing connections.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This lets 7 possible protocols. This may seem a limitation however this limit applies to a Remote party pair: there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can be any number of possible protocols in an application, among them 2 parties that start to interact initially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negotiate the ones they can and want to use. Any Transport between 2 parties can support up to 7 different protocols.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final length of a message on the wire is between 2 bytes (the special Empty message, see below) and 2 Gib.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minimal 1 byte message requires 3 bytes (in any of the 7 available protocols).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5491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87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7F2D5-E4F2-4183-2FA0-7597E4E30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231E75-63C6-99CA-DD2D-94406A7FF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54960-D074-ABBD-C28B-5BD2A95D3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B7246-461C-4445-B1DB-D994924F1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EC3A5-EB37-0E8B-F389-3CD441ABA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97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B0055-D087-1CB6-D663-194AA9610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77362-EEA0-6DC8-CDFD-5141C9EFB4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53A8B-47D3-78CC-7CEC-7D20C80FE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4A42A-B249-5085-9AAA-14761CAD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C1C8E-3B90-5727-0B6E-40BAC278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94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AE484-88E1-69E3-02EB-AE8A29D3B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1206E-C2FF-1582-171B-F223E33CF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4E2E20-E63B-6C32-F313-550B8DF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CC305-E44C-FCBA-D4F7-1142FAEE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23C59-025A-40C7-2FFB-2666C0CDF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642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B1D4E-5B3B-7967-7E30-F95B4C7C1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C803C-02A0-C743-1175-2423A52AD1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F84FA-89D4-3D95-931F-C5C07FC362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68711-0709-B75A-4A7E-6C4010287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18CF9A-8D24-23A9-9371-A60F43BD1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3A8033-E5FC-449B-38B4-8609F512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66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696B-DFC3-2F8E-1DD9-4356B3372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727724-E553-2CBD-3D09-F97AF94EE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1B2E43-DAD6-34F4-27B3-A926B719D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788D27-43D1-299D-3CAF-9F31607844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6E705F-8C88-25E0-8609-EF1BFC923C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15FA95-D2F5-9CF4-411D-50E18B21E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65A856-4681-9E62-22C3-B16BD3DA2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158A0-7326-860C-FCBA-9AFAA77B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5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EC65E-558C-F72A-FF9B-8A6FFF4A0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B8621-74A9-A71E-DF3E-631C72139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6DA8A1-C014-5363-66C4-C95BF87AA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169F9C-9BDD-AC6B-3460-E133B1466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65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286A8-4FE1-7984-DFFD-52F5064E9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BCBF9-5C22-474E-3ED9-9B03D8A1C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7D150-7316-B6A2-E332-8D485D69A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317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6E434-E03F-0BED-8977-078604DF3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A034B-F805-9843-0400-D2FCC8585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576282-FBCD-95CF-07AD-8C9640ED5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BD3DA-21D8-0F13-79E0-7E0B8355D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B9487-4F4C-6A53-0350-C528C6562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9A53FF-1A98-9D9C-2A40-C53EFBDF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45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D3CF9-D0F1-A743-3019-FF2447BD4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731086-A7FA-B32B-3E1F-14A6E8C1F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09B33C-A741-B7C4-FB62-64B92D889E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0A3828-213F-2D23-3C9D-EB62C1EE4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7EE94-6900-747B-3C85-BE60492E9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0B6660-8F30-D26D-4BB0-5F399E216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232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3F7EA-A993-1692-743B-885E7003A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A3DBAC-9589-41F8-3925-DDC29178B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9D458-5F7D-023C-D9FC-E1316EB4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D0FA3-4707-7B2C-C788-38D10B0D7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31F98-F69E-16C3-4413-D79284D2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7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BCB9F-0527-2978-A293-7A641B1A9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E80312-CE7F-4ABA-9E1F-06A89D128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41F1D-611F-62EE-C25C-C1C4C597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1321A-D9E4-0C85-0EB1-7DF90B6C8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77B46-5B7A-48CE-588F-DA4563218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248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07E465-A861-A20F-9483-01D3EB1BF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6CCF6-2B83-8286-028E-2C51A14B5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16736-027A-5CD8-C27D-FFA9869FA5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F2140-8D48-49AC-AD8D-683E6FF4DC34}" type="datetimeFigureOut">
              <a:rPr lang="en-US" smtClean="0"/>
              <a:t>7/1/2023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503E5-C5F0-5320-F806-3642A15D4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994BE-A4B8-C9B3-A86F-45488CD8F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555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customXml" Target="../ink/ink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ature-code/CK-AppIdentity/blob/develop/CK.AppIdentity.BlobChannel/BlobChannelFeatureDriver.cs" TargetMode="External"/><Relationship Id="rId2" Type="http://schemas.openxmlformats.org/officeDocument/2006/relationships/hyperlink" Target="https://github.com/signature-code/CK-AppIdentity/blob/develop/Tests/CK.AppIdentity.BlobChannel.Tests/BasicExchangeTests.cs#L14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hyperlink" Target="https://github.com/signature-code/CK-AppIdentity/blob/develop/CK.AppIdentity.BlobChannel/BlobChannelFeature.Protocol.cs" TargetMode="External"/><Relationship Id="rId4" Type="http://schemas.openxmlformats.org/officeDocument/2006/relationships/hyperlink" Target="https://github.com/signature-code/CK-AppIdentity/blob/develop/CK.AppIdentity.BlobChannel/BlobChannelFeature.cs" TargetMode="Externa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rchardCMS/OrchardCore/blob/main/src/OrchardCore.Modules/OrchardCore.OpenId/Services/OpenIdServerService.cs" TargetMode="External"/><Relationship Id="rId2" Type="http://schemas.openxmlformats.org/officeDocument/2006/relationships/hyperlink" Target="https://github.com/microsoft/FASTER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0C9BE-E61A-B6D0-5435-0685D27EF0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CK-</a:t>
            </a:r>
            <a:r>
              <a:rPr lang="en-US" dirty="0" err="1"/>
              <a:t>AppIdentity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F244AE-14BD-A1DE-961C-D27D37FEFF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Basic Distributed Applications Topologic Model</a:t>
            </a:r>
          </a:p>
        </p:txBody>
      </p:sp>
    </p:spTree>
    <p:extLst>
      <p:ext uri="{BB962C8B-B14F-4D97-AF65-F5344CB8AC3E}">
        <p14:creationId xmlns:p14="http://schemas.microsoft.com/office/powerpoint/2010/main" val="1734651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ABBD5-557D-D878-3AB3-3EFE70DA0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F8E7D-B68B-F926-CFD3-A5B66EF9B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751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 the simplest model to describe a distributed system topology.</a:t>
            </a:r>
          </a:p>
          <a:p>
            <a:r>
              <a:rPr lang="en-US" dirty="0"/>
              <a:t>Be as simple as possible to configure.</a:t>
            </a:r>
          </a:p>
          <a:p>
            <a:pPr lvl="1"/>
            <a:r>
              <a:rPr lang="en-US" dirty="0"/>
              <a:t>Configured identity related information are immutable during a run.</a:t>
            </a:r>
          </a:p>
          <a:p>
            <a:pPr lvl="1"/>
            <a:r>
              <a:rPr lang="en-US" dirty="0"/>
              <a:t>Dynamic identities can be added, removed and reconfigured while executing.</a:t>
            </a:r>
          </a:p>
          <a:p>
            <a:r>
              <a:rPr lang="en-US" dirty="0"/>
              <a:t>Supports different topologies</a:t>
            </a:r>
          </a:p>
          <a:p>
            <a:pPr lvl="1"/>
            <a:r>
              <a:rPr lang="en-US" dirty="0"/>
              <a:t>Centralized with a shared, central, directory of all the parties. </a:t>
            </a:r>
          </a:p>
          <a:p>
            <a:pPr lvl="1"/>
            <a:r>
              <a:rPr lang="en-US" dirty="0"/>
              <a:t>Decentralized where parties only sees peers.</a:t>
            </a:r>
          </a:p>
          <a:p>
            <a:pPr lvl="1"/>
            <a:r>
              <a:rPr lang="en-US" dirty="0"/>
              <a:t>With and/or without Message Bus.</a:t>
            </a:r>
          </a:p>
          <a:p>
            <a:r>
              <a:rPr lang="en-US" dirty="0"/>
              <a:t>Applies to simple Agents as well as Multi-Tenant site.</a:t>
            </a:r>
          </a:p>
          <a:p>
            <a:r>
              <a:rPr lang="en-US" dirty="0"/>
              <a:t>Handles totally external end points</a:t>
            </a:r>
          </a:p>
          <a:p>
            <a:pPr lvl="1"/>
            <a:r>
              <a:rPr lang="en-US" dirty="0"/>
              <a:t>Customer web services</a:t>
            </a:r>
          </a:p>
          <a:p>
            <a:pPr lvl="1"/>
            <a:r>
              <a:rPr lang="en-US" dirty="0"/>
              <a:t>Cloud Services (Azure, AWS, GitHub, etc.)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337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4FF63-04EA-BCC5-D34D-9C25D186A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DC6D3-3B63-2CF7-C0E5-91BFC5BA12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Follows the “Package First” approach.</a:t>
            </a:r>
          </a:p>
          <a:p>
            <a:r>
              <a:rPr lang="en-US" dirty="0"/>
              <a:t>Encapsulates complexities</a:t>
            </a:r>
          </a:p>
          <a:p>
            <a:pPr lvl="1"/>
            <a:r>
              <a:rPr lang="en-US" dirty="0"/>
              <a:t>Capabilities discovery</a:t>
            </a:r>
          </a:p>
          <a:p>
            <a:pPr lvl="1"/>
            <a:r>
              <a:rPr lang="en-US" dirty="0"/>
              <a:t>Secret keys management</a:t>
            </a:r>
          </a:p>
          <a:p>
            <a:r>
              <a:rPr lang="en-US" dirty="0"/>
              <a:t>Supports “Observability”</a:t>
            </a:r>
          </a:p>
          <a:p>
            <a:pPr lvl="1"/>
            <a:r>
              <a:rPr lang="en-US" dirty="0"/>
              <a:t>Logs from a Party are identified and can be easily managed.</a:t>
            </a:r>
          </a:p>
          <a:p>
            <a:r>
              <a:rPr lang="en-US" dirty="0"/>
              <a:t>Be agnostic of deployment details</a:t>
            </a:r>
          </a:p>
          <a:p>
            <a:pPr lvl="1"/>
            <a:r>
              <a:rPr lang="en-US" dirty="0"/>
              <a:t>Transport layers (TCP/IP, </a:t>
            </a:r>
            <a:r>
              <a:rPr lang="en-US" dirty="0" err="1"/>
              <a:t>quic</a:t>
            </a:r>
            <a:r>
              <a:rPr lang="en-US" dirty="0"/>
              <a:t>, </a:t>
            </a:r>
            <a:r>
              <a:rPr lang="en-US" dirty="0" err="1"/>
              <a:t>mqtt</a:t>
            </a:r>
            <a:r>
              <a:rPr lang="en-US" dirty="0"/>
              <a:t>, etc.)</a:t>
            </a:r>
          </a:p>
          <a:p>
            <a:pPr lvl="1"/>
            <a:r>
              <a:rPr lang="en-US" dirty="0"/>
              <a:t>VLAN and/or WAN</a:t>
            </a:r>
          </a:p>
        </p:txBody>
      </p:sp>
    </p:spTree>
    <p:extLst>
      <p:ext uri="{BB962C8B-B14F-4D97-AF65-F5344CB8AC3E}">
        <p14:creationId xmlns:p14="http://schemas.microsoft.com/office/powerpoint/2010/main" val="1297341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B8B24-8DD6-5A25-2C4D-FFCB00546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DomainName</a:t>
            </a:r>
            <a:r>
              <a:rPr lang="en-US" dirty="0"/>
              <a:t>/</a:t>
            </a:r>
            <a:r>
              <a:rPr lang="en-US" dirty="0" err="1"/>
              <a:t>PartyName</a:t>
            </a:r>
            <a:r>
              <a:rPr lang="en-US" dirty="0"/>
              <a:t>/</a:t>
            </a:r>
            <a:r>
              <a:rPr lang="en-US" dirty="0" err="1"/>
              <a:t>EnvironmentName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871EE-3844-1222-56FF-A3C3C4D91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361815"/>
          </a:xfrm>
        </p:spPr>
        <p:txBody>
          <a:bodyPr>
            <a:normAutofit/>
          </a:bodyPr>
          <a:lstStyle/>
          <a:p>
            <a:r>
              <a:rPr lang="en-US" dirty="0"/>
              <a:t>This triple identifies any Party in the Universe.</a:t>
            </a:r>
          </a:p>
          <a:p>
            <a:r>
              <a:rPr lang="en-US" dirty="0"/>
              <a:t>This drives the Observability layer</a:t>
            </a:r>
          </a:p>
          <a:p>
            <a:pPr lvl="1"/>
            <a:r>
              <a:rPr lang="en-US" dirty="0"/>
              <a:t>Logs are collected with this 3-levels hierarchy.</a:t>
            </a:r>
          </a:p>
          <a:p>
            <a:pPr lvl="1"/>
            <a:r>
              <a:rPr lang="en-US" dirty="0"/>
              <a:t>Any “Event Source” (whatever the </a:t>
            </a:r>
            <a:r>
              <a:rPr lang="en-US" i="1" dirty="0"/>
              <a:t>event</a:t>
            </a:r>
            <a:r>
              <a:rPr lang="en-US" dirty="0"/>
              <a:t> is) is identified by this triple.</a:t>
            </a:r>
          </a:p>
          <a:p>
            <a:r>
              <a:rPr lang="en-US" dirty="0" err="1"/>
              <a:t>DomainName</a:t>
            </a:r>
            <a:r>
              <a:rPr lang="en-US" dirty="0"/>
              <a:t> can be a path.</a:t>
            </a:r>
          </a:p>
          <a:p>
            <a:r>
              <a:rPr lang="en-US" dirty="0" err="1"/>
              <a:t>PartyName</a:t>
            </a:r>
            <a:r>
              <a:rPr lang="en-US" dirty="0"/>
              <a:t> is usually prefixed by ‘$’.</a:t>
            </a:r>
          </a:p>
          <a:p>
            <a:r>
              <a:rPr lang="en-US" dirty="0" err="1"/>
              <a:t>EnvironmentName</a:t>
            </a:r>
            <a:r>
              <a:rPr lang="en-US" dirty="0"/>
              <a:t> is always prefixed by ‘#’.</a:t>
            </a:r>
          </a:p>
          <a:p>
            <a:r>
              <a:rPr lang="en-US" dirty="0"/>
              <a:t>The triple can be expressed as a simple </a:t>
            </a:r>
            <a:r>
              <a:rPr lang="en-US" dirty="0" err="1"/>
              <a:t>FullName</a:t>
            </a:r>
            <a:r>
              <a:rPr lang="en-US" dirty="0"/>
              <a:t> string.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5483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927C-777D-268C-16A2-B3306014A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FullName</a:t>
            </a:r>
            <a:r>
              <a:rPr lang="en-US" dirty="0"/>
              <a:t> is </a:t>
            </a:r>
            <a:r>
              <a:rPr lang="en-US" dirty="0" err="1">
                <a:sym typeface="Wingdings" panose="05000000000000000000" pitchFamily="2" charset="2"/>
              </a:rPr>
              <a:t>a</a:t>
            </a:r>
            <a:r>
              <a:rPr lang="en-US" sz="4400" dirty="0" err="1">
                <a:sym typeface="Wingdings" panose="05000000000000000000" pitchFamily="2" charset="2"/>
              </a:rPr>
              <a:t>utodescriptive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EA43F27-2891-C95D-8D95-547B77B8E326}"/>
              </a:ext>
            </a:extLst>
          </p:cNvPr>
          <p:cNvSpPr txBox="1">
            <a:spLocks/>
          </p:cNvSpPr>
          <p:nvPr/>
        </p:nvSpPr>
        <p:spPr>
          <a:xfrm>
            <a:off x="838200" y="1690688"/>
            <a:ext cx="10515600" cy="50352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LaToulousaine</a:t>
            </a:r>
            <a:endParaRPr lang="en-US" dirty="0"/>
          </a:p>
          <a:p>
            <a:r>
              <a:rPr lang="en-US" dirty="0" err="1"/>
              <a:t>LaToulousaine</a:t>
            </a:r>
            <a:r>
              <a:rPr lang="en-US" dirty="0"/>
              <a:t>/France</a:t>
            </a:r>
          </a:p>
          <a:p>
            <a:r>
              <a:rPr lang="en-US" dirty="0" err="1"/>
              <a:t>LaToulousaine</a:t>
            </a:r>
            <a:r>
              <a:rPr lang="en-US" dirty="0"/>
              <a:t>/France/Albi</a:t>
            </a:r>
          </a:p>
          <a:p>
            <a:r>
              <a:rPr lang="en-US" dirty="0" err="1"/>
              <a:t>LaToulousaine</a:t>
            </a:r>
            <a:r>
              <a:rPr lang="en-US" dirty="0"/>
              <a:t>/France/Albi/$Trolley1</a:t>
            </a:r>
          </a:p>
          <a:p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LaToulousaine</a:t>
            </a:r>
            <a:endParaRPr lang="en-US" dirty="0"/>
          </a:p>
          <a:p>
            <a:r>
              <a:rPr lang="en-US" dirty="0" err="1"/>
              <a:t>LaToulousaine</a:t>
            </a:r>
            <a:r>
              <a:rPr lang="en-US" dirty="0"/>
              <a:t>/France/$France </a:t>
            </a:r>
          </a:p>
          <a:p>
            <a:endParaRPr lang="en-US" dirty="0"/>
          </a:p>
          <a:p>
            <a:r>
              <a:rPr lang="en-US" dirty="0" err="1"/>
              <a:t>EnvironmentName</a:t>
            </a:r>
            <a:r>
              <a:rPr lang="en-US" dirty="0"/>
              <a:t> (#Development by default) can appear everywhere in the path, as well as the $</a:t>
            </a:r>
            <a:r>
              <a:rPr lang="en-US" dirty="0" err="1"/>
              <a:t>PartyName</a:t>
            </a:r>
            <a:r>
              <a:rPr lang="en-US" dirty="0"/>
              <a:t> (with the ‘$’ prefix)</a:t>
            </a:r>
          </a:p>
          <a:p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170B939-629E-BFFF-DF85-51D4519AE2AA}"/>
              </a:ext>
            </a:extLst>
          </p:cNvPr>
          <p:cNvSpPr/>
          <p:nvPr/>
        </p:nvSpPr>
        <p:spPr>
          <a:xfrm>
            <a:off x="3389243" y="1710566"/>
            <a:ext cx="1669774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Organization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77D80DD-D821-CDBB-5A0E-A5FB1BFD8EB6}"/>
              </a:ext>
            </a:extLst>
          </p:cNvPr>
          <p:cNvSpPr/>
          <p:nvPr/>
        </p:nvSpPr>
        <p:spPr>
          <a:xfrm>
            <a:off x="4426226" y="2277097"/>
            <a:ext cx="1669774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Workspace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EBC1F60-B3CF-6B05-A7A4-6F0CE2975DB8}"/>
              </a:ext>
            </a:extLst>
          </p:cNvPr>
          <p:cNvSpPr/>
          <p:nvPr/>
        </p:nvSpPr>
        <p:spPr>
          <a:xfrm>
            <a:off x="5703400" y="3791813"/>
            <a:ext cx="2424599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OrganizationController</a:t>
            </a:r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D35029E-2AD2-A595-0B00-90E8008C62C8}"/>
              </a:ext>
            </a:extLst>
          </p:cNvPr>
          <p:cNvSpPr/>
          <p:nvPr/>
        </p:nvSpPr>
        <p:spPr>
          <a:xfrm>
            <a:off x="5673587" y="4301844"/>
            <a:ext cx="2267779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WorkspaceController</a:t>
            </a:r>
            <a:endParaRPr lang="en-US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E02BCC7-3C5F-72DC-7E0C-BD1F18556D35}"/>
              </a:ext>
            </a:extLst>
          </p:cNvPr>
          <p:cNvSpPr/>
          <p:nvPr/>
        </p:nvSpPr>
        <p:spPr>
          <a:xfrm>
            <a:off x="6582189" y="3249230"/>
            <a:ext cx="917713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Party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55E74FA-E835-CAC6-1B66-C39B8A12F111}"/>
              </a:ext>
            </a:extLst>
          </p:cNvPr>
          <p:cNvSpPr/>
          <p:nvPr/>
        </p:nvSpPr>
        <p:spPr>
          <a:xfrm>
            <a:off x="5059017" y="2763180"/>
            <a:ext cx="1669774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2719144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B0854-8165-18FB-913C-8F6391939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69487" cy="1325563"/>
          </a:xfrm>
        </p:spPr>
        <p:txBody>
          <a:bodyPr/>
          <a:lstStyle/>
          <a:p>
            <a:r>
              <a:rPr lang="en-US" dirty="0"/>
              <a:t>Naming 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CDE-EC1E-2983-5189-AA8561DE52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4960"/>
            <a:ext cx="10515600" cy="4907915"/>
          </a:xfrm>
        </p:spPr>
        <p:txBody>
          <a:bodyPr>
            <a:normAutofit/>
          </a:bodyPr>
          <a:lstStyle/>
          <a:p>
            <a:r>
              <a:rPr lang="en-US" dirty="0" err="1"/>
              <a:t>DomainName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Cannot be longer than 127 characters.</a:t>
            </a:r>
          </a:p>
          <a:p>
            <a:pPr lvl="1"/>
            <a:r>
              <a:rPr lang="en-US" dirty="0"/>
              <a:t>Defaults to “Undefined”.</a:t>
            </a:r>
          </a:p>
          <a:p>
            <a:r>
              <a:rPr lang="en-US" dirty="0" err="1"/>
              <a:t>PartyName</a:t>
            </a:r>
            <a:endParaRPr lang="en-US" dirty="0"/>
          </a:p>
          <a:p>
            <a:pPr lvl="1"/>
            <a:r>
              <a:rPr lang="en-US" dirty="0"/>
              <a:t>Cannot be longer than 31 characters.</a:t>
            </a:r>
          </a:p>
          <a:p>
            <a:pPr lvl="1"/>
            <a:r>
              <a:rPr lang="en-US" dirty="0"/>
              <a:t>Can start or not with ‘$’. Always start with a ‘$’ when used in a </a:t>
            </a:r>
            <a:r>
              <a:rPr lang="en-US" dirty="0" err="1"/>
              <a:t>FullName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Defaults to “Unknown”</a:t>
            </a:r>
          </a:p>
          <a:p>
            <a:r>
              <a:rPr lang="en-US" dirty="0" err="1"/>
              <a:t>EnvironmentName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Cannot be longer than 31 characters (including the leading ‘#’).</a:t>
            </a:r>
          </a:p>
          <a:p>
            <a:pPr lvl="1"/>
            <a:r>
              <a:rPr lang="en-US" dirty="0"/>
              <a:t>Defaults to ‘#Development’.</a:t>
            </a:r>
          </a:p>
          <a:p>
            <a:r>
              <a:rPr lang="en-US" dirty="0" err="1"/>
              <a:t>FullName’s</a:t>
            </a:r>
            <a:r>
              <a:rPr lang="en-US" dirty="0"/>
              <a:t> max length is 192 characters.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8071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Agent.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51587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en-US" dirty="0"/>
              <a:t>One should be able to understand the interactions of any Party by looking at its Application Identity configuration.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9855" y="2812149"/>
            <a:ext cx="4414887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"155.88.22.22"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B32FE4-91CF-4187-B129-4798A78FA9B5}"/>
              </a:ext>
            </a:extLst>
          </p:cNvPr>
          <p:cNvSpPr txBox="1"/>
          <p:nvPr/>
        </p:nvSpPr>
        <p:spPr>
          <a:xfrm>
            <a:off x="769855" y="2841961"/>
            <a:ext cx="6932262" cy="310854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/$Trolley1/#Production",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"155.88.22.22"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69884F-EC60-0B31-9E5D-FA31BD845EA1}"/>
              </a:ext>
            </a:extLst>
          </p:cNvPr>
          <p:cNvSpPr txBox="1"/>
          <p:nvPr/>
        </p:nvSpPr>
        <p:spPr>
          <a:xfrm>
            <a:off x="5814662" y="3606072"/>
            <a:ext cx="5857974" cy="273062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There should be no more than that for our Trolley1:</a:t>
            </a:r>
          </a:p>
          <a:p>
            <a:pPr lvl="1"/>
            <a:r>
              <a:rPr lang="en-US" sz="2000" dirty="0"/>
              <a:t>Sends its logs to a “</a:t>
            </a:r>
            <a:r>
              <a:rPr lang="en-US" sz="2000" dirty="0" err="1"/>
              <a:t>LogTower</a:t>
            </a:r>
            <a:r>
              <a:rPr lang="en-US" sz="2000" dirty="0"/>
              <a:t>” party.</a:t>
            </a:r>
          </a:p>
          <a:p>
            <a:pPr lvl="1"/>
            <a:r>
              <a:rPr lang="en-US" sz="2000" dirty="0"/>
              <a:t>Can initiate communications with the “</a:t>
            </a:r>
            <a:r>
              <a:rPr lang="en-US" sz="2000" dirty="0" err="1"/>
              <a:t>SignatureBox</a:t>
            </a:r>
            <a:r>
              <a:rPr lang="en-US" sz="2000" dirty="0"/>
              <a:t>” party.</a:t>
            </a:r>
          </a:p>
          <a:p>
            <a:r>
              <a:rPr lang="en-US" sz="2400" dirty="0"/>
              <a:t>The “Address” is not a URI or URL. </a:t>
            </a:r>
          </a:p>
          <a:p>
            <a:pPr lvl="1"/>
            <a:r>
              <a:rPr lang="en-US" sz="2000" dirty="0"/>
              <a:t>It can be any string that makes the </a:t>
            </a:r>
            <a:r>
              <a:rPr lang="en-US" sz="2000" i="1" dirty="0"/>
              <a:t>party reachable from this party</a:t>
            </a:r>
            <a:r>
              <a:rPr lang="en-US" sz="2000" dirty="0"/>
              <a:t>.</a:t>
            </a:r>
          </a:p>
          <a:p>
            <a:r>
              <a:rPr lang="en-US" sz="2400" dirty="0"/>
              <a:t>Environment names start with a #.</a:t>
            </a:r>
          </a:p>
        </p:txBody>
      </p:sp>
    </p:spTree>
    <p:extLst>
      <p:ext uri="{BB962C8B-B14F-4D97-AF65-F5344CB8AC3E}">
        <p14:creationId xmlns:p14="http://schemas.microsoft.com/office/powerpoint/2010/main" val="910232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0" y="1507808"/>
            <a:ext cx="6223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CentralLogwer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7887" y="2303144"/>
            <a:ext cx="6100713" cy="41132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 ends its logs to a central </a:t>
            </a:r>
            <a:r>
              <a:rPr lang="en-US" dirty="0" err="1"/>
              <a:t>LogTower</a:t>
            </a:r>
            <a:r>
              <a:rPr lang="en-US" dirty="0"/>
              <a:t> and knows the Trolley1 but also the Trolley2 and a </a:t>
            </a:r>
            <a:r>
              <a:rPr lang="en-US" dirty="0" err="1"/>
              <a:t>PickingStation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These 3 remotes have no Address.</a:t>
            </a:r>
          </a:p>
          <a:p>
            <a:pPr lvl="1"/>
            <a:r>
              <a:rPr lang="en-US" dirty="0"/>
              <a:t>"</a:t>
            </a:r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SignatureBox</a:t>
            </a:r>
            <a:r>
              <a:rPr lang="en-US" dirty="0"/>
              <a:t>" is a server for them.</a:t>
            </a:r>
          </a:p>
          <a:p>
            <a:pPr lvl="1"/>
            <a:r>
              <a:rPr lang="en-US" dirty="0"/>
              <a:t>This is enough for the warehouse to do its work.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4448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Simplifications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D2D054-8D5E-BDF9-CD5B-68A728974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now on, we don't show the </a:t>
            </a:r>
            <a:r>
              <a:rPr lang="en-US" dirty="0" err="1"/>
              <a:t>LogTower</a:t>
            </a:r>
            <a:r>
              <a:rPr lang="en-US" dirty="0"/>
              <a:t> configuration	.</a:t>
            </a:r>
          </a:p>
          <a:p>
            <a:pPr lvl="1"/>
            <a:r>
              <a:rPr lang="en-US" dirty="0"/>
              <a:t>This is the same for every party (if we want to target the same </a:t>
            </a:r>
            <a:r>
              <a:rPr lang="en-US" dirty="0" err="1"/>
              <a:t>LogTower</a:t>
            </a:r>
            <a:r>
              <a:rPr lang="en-US" dirty="0"/>
              <a:t>).</a:t>
            </a:r>
          </a:p>
          <a:p>
            <a:r>
              <a:rPr lang="en-US" dirty="0"/>
              <a:t>We also don’t specify the “</a:t>
            </a:r>
            <a:r>
              <a:rPr lang="en-US" dirty="0" err="1"/>
              <a:t>EnvironmentName</a:t>
            </a:r>
            <a:r>
              <a:rPr lang="en-US" dirty="0"/>
              <a:t>” anymore.</a:t>
            </a:r>
          </a:p>
          <a:p>
            <a:pPr lvl="1"/>
            <a:r>
              <a:rPr lang="en-US" dirty="0"/>
              <a:t>This defaults to the </a:t>
            </a:r>
            <a:r>
              <a:rPr lang="en-US" dirty="0" err="1"/>
              <a:t>IHostEnvironment.EnvironmentName</a:t>
            </a:r>
            <a:r>
              <a:rPr lang="en-US" dirty="0"/>
              <a:t> (that defaults to “#Development”)</a:t>
            </a:r>
          </a:p>
          <a:p>
            <a:r>
              <a:rPr lang="en-US" dirty="0"/>
              <a:t>Domain and Environment names configuration </a:t>
            </a:r>
            <a:r>
              <a:rPr lang="en-US" b="1" dirty="0"/>
              <a:t>inherit</a:t>
            </a:r>
            <a:r>
              <a:rPr lang="en-US" dirty="0"/>
              <a:t> from the root to the Remotes.</a:t>
            </a:r>
          </a:p>
          <a:p>
            <a:pPr lvl="1"/>
            <a:r>
              <a:rPr lang="en-US" dirty="0"/>
              <a:t>Inheriting is the default behavior.</a:t>
            </a:r>
          </a:p>
          <a:p>
            <a:pPr lvl="1"/>
            <a:r>
              <a:rPr lang="en-US" dirty="0"/>
              <a:t>Overriding the Domain and Environment names is possible: any Remote can be in Domain and Environment independent of its group of “Remotes”.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018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have so far: a warehouse.</a:t>
            </a:r>
          </a:p>
        </p:txBody>
      </p:sp>
      <p:pic>
        <p:nvPicPr>
          <p:cNvPr id="5" name="Content Placeholder 4" descr="Computer outline">
            <a:extLst>
              <a:ext uri="{FF2B5EF4-FFF2-40B4-BE49-F238E27FC236}">
                <a16:creationId xmlns:a16="http://schemas.microsoft.com/office/drawing/2014/main" id="{1F205C4E-1A30-7CEB-C70F-7863D2DBCF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5226" y="1765570"/>
            <a:ext cx="914400" cy="914400"/>
          </a:xfrm>
        </p:spPr>
      </p:pic>
      <p:pic>
        <p:nvPicPr>
          <p:cNvPr id="7" name="Graphic 6" descr="Scale outline">
            <a:extLst>
              <a:ext uri="{FF2B5EF4-FFF2-40B4-BE49-F238E27FC236}">
                <a16:creationId xmlns:a16="http://schemas.microsoft.com/office/drawing/2014/main" id="{1926719C-988C-88D9-70C0-87A09285D9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64302" y="4927059"/>
            <a:ext cx="914400" cy="914400"/>
          </a:xfrm>
          <a:prstGeom prst="rect">
            <a:avLst/>
          </a:prstGeom>
        </p:spPr>
      </p:pic>
      <p:pic>
        <p:nvPicPr>
          <p:cNvPr id="9" name="Graphic 8" descr="Box trolley with solid fill">
            <a:extLst>
              <a:ext uri="{FF2B5EF4-FFF2-40B4-BE49-F238E27FC236}">
                <a16:creationId xmlns:a16="http://schemas.microsoft.com/office/drawing/2014/main" id="{EB137CF6-1985-8779-1B20-CD73FFAC24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54204" y="1310648"/>
            <a:ext cx="914400" cy="914400"/>
          </a:xfrm>
          <a:prstGeom prst="rect">
            <a:avLst/>
          </a:prstGeom>
        </p:spPr>
      </p:pic>
      <p:pic>
        <p:nvPicPr>
          <p:cNvPr id="10" name="Content Placeholder 4" descr="Computer outline">
            <a:extLst>
              <a:ext uri="{FF2B5EF4-FFF2-40B4-BE49-F238E27FC236}">
                <a16:creationId xmlns:a16="http://schemas.microsoft.com/office/drawing/2014/main" id="{85596109-C7DB-6ED7-C24B-E95039416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0757" y="4227671"/>
            <a:ext cx="914400" cy="914400"/>
          </a:xfrm>
          <a:prstGeom prst="rect">
            <a:avLst/>
          </a:prstGeom>
        </p:spPr>
      </p:pic>
      <p:pic>
        <p:nvPicPr>
          <p:cNvPr id="12" name="Graphic 11" descr="Books on shelf outline">
            <a:extLst>
              <a:ext uri="{FF2B5EF4-FFF2-40B4-BE49-F238E27FC236}">
                <a16:creationId xmlns:a16="http://schemas.microsoft.com/office/drawing/2014/main" id="{DDC40D12-A2D5-AA8B-052F-8F1043AD19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64302" y="4227671"/>
            <a:ext cx="914400" cy="914400"/>
          </a:xfrm>
          <a:prstGeom prst="rect">
            <a:avLst/>
          </a:prstGeom>
        </p:spPr>
      </p:pic>
      <p:pic>
        <p:nvPicPr>
          <p:cNvPr id="13" name="Graphic 12" descr="Box trolley with solid fill">
            <a:extLst>
              <a:ext uri="{FF2B5EF4-FFF2-40B4-BE49-F238E27FC236}">
                <a16:creationId xmlns:a16="http://schemas.microsoft.com/office/drawing/2014/main" id="{E6BC6827-E41E-DB85-90B3-9496EFF90B7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99883" y="2758354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DD276AA-5FA8-98EC-0CD5-C2C5D44D7B5D}"/>
              </a:ext>
            </a:extLst>
          </p:cNvPr>
          <p:cNvSpPr txBox="1"/>
          <p:nvPr/>
        </p:nvSpPr>
        <p:spPr>
          <a:xfrm>
            <a:off x="6944540" y="2495304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SignatureBox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4C1609-847A-56B1-19A8-DEB802EB14FA}"/>
              </a:ext>
            </a:extLst>
          </p:cNvPr>
          <p:cNvSpPr txBox="1"/>
          <p:nvPr/>
        </p:nvSpPr>
        <p:spPr>
          <a:xfrm>
            <a:off x="9683517" y="2187822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D30309-30D1-8CF8-5DBA-C5FF7DF15E2A}"/>
              </a:ext>
            </a:extLst>
          </p:cNvPr>
          <p:cNvSpPr txBox="1"/>
          <p:nvPr/>
        </p:nvSpPr>
        <p:spPr>
          <a:xfrm>
            <a:off x="9683517" y="3508645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9DCBB5-73EB-5131-D02A-00CAC9CFBF41}"/>
              </a:ext>
            </a:extLst>
          </p:cNvPr>
          <p:cNvSpPr txBox="1"/>
          <p:nvPr/>
        </p:nvSpPr>
        <p:spPr>
          <a:xfrm>
            <a:off x="8931612" y="4927059"/>
            <a:ext cx="1503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PickingStation</a:t>
            </a:r>
            <a:endParaRPr lang="en-US" dirty="0"/>
          </a:p>
        </p:txBody>
      </p:sp>
      <p:sp>
        <p:nvSpPr>
          <p:cNvPr id="21" name="Speech Bubble: Oval 20">
            <a:extLst>
              <a:ext uri="{FF2B5EF4-FFF2-40B4-BE49-F238E27FC236}">
                <a16:creationId xmlns:a16="http://schemas.microsoft.com/office/drawing/2014/main" id="{6647B478-F3FF-650F-E6CD-207EC080B2C1}"/>
              </a:ext>
            </a:extLst>
          </p:cNvPr>
          <p:cNvSpPr/>
          <p:nvPr/>
        </p:nvSpPr>
        <p:spPr>
          <a:xfrm>
            <a:off x="9285402" y="5686774"/>
            <a:ext cx="1045112" cy="618009"/>
          </a:xfrm>
          <a:custGeom>
            <a:avLst/>
            <a:gdLst>
              <a:gd name="connsiteX0" fmla="*/ 1029603 w 1045112"/>
              <a:gd name="connsiteY0" fmla="*/ -220543 h 618009"/>
              <a:gd name="connsiteX1" fmla="*/ 862060 w 1045112"/>
              <a:gd name="connsiteY1" fmla="*/ 74102 h 618009"/>
              <a:gd name="connsiteX2" fmla="*/ 762303 w 1045112"/>
              <a:gd name="connsiteY2" fmla="*/ 583569 h 618009"/>
              <a:gd name="connsiteX3" fmla="*/ 274109 w 1045112"/>
              <a:gd name="connsiteY3" fmla="*/ 580851 h 618009"/>
              <a:gd name="connsiteX4" fmla="*/ 192528 w 1045112"/>
              <a:gd name="connsiteY4" fmla="*/ 69427 h 618009"/>
              <a:gd name="connsiteX5" fmla="*/ 688528 w 1045112"/>
              <a:gd name="connsiteY5" fmla="*/ 16001 h 618009"/>
              <a:gd name="connsiteX6" fmla="*/ 1029603 w 1045112"/>
              <a:gd name="connsiteY6" fmla="*/ -220543 h 618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45112" h="618009" extrusionOk="0">
                <a:moveTo>
                  <a:pt x="1029603" y="-220543"/>
                </a:moveTo>
                <a:cubicBezTo>
                  <a:pt x="991918" y="-88520"/>
                  <a:pt x="927629" y="-62010"/>
                  <a:pt x="862060" y="74102"/>
                </a:cubicBezTo>
                <a:cubicBezTo>
                  <a:pt x="1164307" y="220667"/>
                  <a:pt x="1076787" y="417345"/>
                  <a:pt x="762303" y="583569"/>
                </a:cubicBezTo>
                <a:cubicBezTo>
                  <a:pt x="598357" y="622480"/>
                  <a:pt x="420203" y="641476"/>
                  <a:pt x="274109" y="580851"/>
                </a:cubicBezTo>
                <a:cubicBezTo>
                  <a:pt x="-52977" y="504404"/>
                  <a:pt x="-109451" y="165270"/>
                  <a:pt x="192528" y="69427"/>
                </a:cubicBezTo>
                <a:cubicBezTo>
                  <a:pt x="339789" y="-28383"/>
                  <a:pt x="482241" y="-41515"/>
                  <a:pt x="688528" y="16001"/>
                </a:cubicBezTo>
                <a:cubicBezTo>
                  <a:pt x="804924" y="-104642"/>
                  <a:pt x="964015" y="-149111"/>
                  <a:pt x="1029603" y="-220543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wedgeEllipseCallout">
                    <a:avLst>
                      <a:gd name="adj1" fmla="val 48516"/>
                      <a:gd name="adj2" fmla="val -8568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Devices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007A46-8ED0-90FC-9FDE-366CF044CB4E}"/>
              </a:ext>
            </a:extLst>
          </p:cNvPr>
          <p:cNvSpPr txBox="1"/>
          <p:nvPr/>
        </p:nvSpPr>
        <p:spPr>
          <a:xfrm>
            <a:off x="647502" y="1787738"/>
            <a:ext cx="6094378" cy="313932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Now we want the </a:t>
            </a:r>
            <a:r>
              <a:rPr lang="en-US" dirty="0" err="1"/>
              <a:t>SignatureBox</a:t>
            </a:r>
            <a:r>
              <a:rPr lang="en-US" dirty="0"/>
              <a:t> to interact with a </a:t>
            </a:r>
            <a:r>
              <a:rPr lang="en-US" dirty="0" err="1"/>
              <a:t>OneCS</a:t>
            </a:r>
            <a:r>
              <a:rPr lang="en-US" dirty="0"/>
              <a:t> application (the supervision and operation portal).</a:t>
            </a:r>
          </a:p>
          <a:p>
            <a:r>
              <a:rPr lang="en-US" dirty="0"/>
              <a:t>The </a:t>
            </a:r>
            <a:r>
              <a:rPr lang="en-US" dirty="0" err="1"/>
              <a:t>OneCS</a:t>
            </a:r>
            <a:r>
              <a:rPr lang="en-US" dirty="0"/>
              <a:t> application typically lives in the cloud. </a:t>
            </a:r>
          </a:p>
          <a:p>
            <a:r>
              <a:rPr lang="en-US" b="1" dirty="0"/>
              <a:t>If</a:t>
            </a:r>
            <a:r>
              <a:rPr lang="en-US" dirty="0"/>
              <a:t> the </a:t>
            </a:r>
            <a:r>
              <a:rPr lang="en-US" dirty="0" err="1"/>
              <a:t>SignatureBox</a:t>
            </a:r>
            <a:r>
              <a:rPr lang="en-US" dirty="0"/>
              <a:t> can be reached from the outside, we just need to declare the new </a:t>
            </a:r>
            <a:r>
              <a:rPr lang="en-US" dirty="0" err="1"/>
              <a:t>OneCS</a:t>
            </a:r>
            <a:r>
              <a:rPr lang="en-US" dirty="0"/>
              <a:t> party on 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11265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6033940" cy="1143818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en-US" dirty="0"/>
              <a:t>The name of this new Party is the same as the </a:t>
            </a:r>
            <a:r>
              <a:rPr lang="en-US" dirty="0" err="1"/>
              <a:t>DomainName</a:t>
            </a:r>
            <a:r>
              <a:rPr lang="en-US" dirty="0"/>
              <a:t>: this Party is the "domain controller"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112000" y="1833428"/>
            <a:ext cx="4930993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838201" y="2949401"/>
            <a:ext cx="503427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FullName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/</a:t>
            </a:r>
            <a:r>
              <a:rPr lang="en-US" b="1" dirty="0"/>
              <a:t>$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"Parties":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</a:t>
            </a:r>
            <a:r>
              <a:rPr lang="en-US" dirty="0" err="1"/>
              <a:t>PartyName</a:t>
            </a:r>
            <a:r>
              <a:rPr lang="en-US" dirty="0"/>
              <a:t>": "</a:t>
            </a:r>
            <a:r>
              <a:rPr lang="en-US" b="1" dirty="0"/>
              <a:t>$</a:t>
            </a:r>
            <a:r>
              <a:rPr lang="en-US" b="1" dirty="0" err="1"/>
              <a:t>SignatureBox</a:t>
            </a:r>
            <a:r>
              <a:rPr lang="en-US" dirty="0"/>
              <a:t>",</a:t>
            </a:r>
          </a:p>
          <a:p>
            <a:r>
              <a:rPr lang="en-US" dirty="0"/>
              <a:t>    </a:t>
            </a:r>
            <a:r>
              <a:rPr lang="en-US" b="1" dirty="0"/>
              <a:t>"Address": "65.12.13.14"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E17AC8F-FBF4-B06F-0002-2452720D9DA0}"/>
              </a:ext>
            </a:extLst>
          </p:cNvPr>
          <p:cNvSpPr/>
          <p:nvPr/>
        </p:nvSpPr>
        <p:spPr>
          <a:xfrm>
            <a:off x="4379960" y="4053055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31EAFA31-65C4-FFEF-4B78-407CABE4FBDC}"/>
              </a:ext>
            </a:extLst>
          </p:cNvPr>
          <p:cNvSpPr/>
          <p:nvPr/>
        </p:nvSpPr>
        <p:spPr>
          <a:xfrm>
            <a:off x="4485748" y="4405359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10883728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(cannot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5257800" cy="114381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This may be the most common configuration pattern.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101839" y="1690688"/>
            <a:ext cx="5034279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35C4024-373F-D0A7-2707-CA2C02C6ED10}"/>
              </a:ext>
            </a:extLst>
          </p:cNvPr>
          <p:cNvSpPr/>
          <p:nvPr/>
        </p:nvSpPr>
        <p:spPr>
          <a:xfrm rot="10800000">
            <a:off x="4363960" y="4189915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7" name="Arrow: Left-Right 6">
            <a:extLst>
              <a:ext uri="{FF2B5EF4-FFF2-40B4-BE49-F238E27FC236}">
                <a16:creationId xmlns:a16="http://schemas.microsoft.com/office/drawing/2014/main" id="{4A26B160-EE0D-09D3-3155-550502E8D3D1}"/>
              </a:ext>
            </a:extLst>
          </p:cNvPr>
          <p:cNvSpPr/>
          <p:nvPr/>
        </p:nvSpPr>
        <p:spPr>
          <a:xfrm>
            <a:off x="4567028" y="4590859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6954B0-C49D-9584-2334-B41D9ADC5FD7}"/>
              </a:ext>
            </a:extLst>
          </p:cNvPr>
          <p:cNvSpPr txBox="1"/>
          <p:nvPr/>
        </p:nvSpPr>
        <p:spPr>
          <a:xfrm>
            <a:off x="838201" y="2949401"/>
            <a:ext cx="503427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FullName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/</a:t>
            </a:r>
            <a:r>
              <a:rPr lang="en-US" b="1" dirty="0"/>
              <a:t>$</a:t>
            </a:r>
            <a:r>
              <a:rPr lang="en-US" b="1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"Parties":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</a:t>
            </a:r>
            <a:r>
              <a:rPr lang="en-US" dirty="0" err="1"/>
              <a:t>PartyName</a:t>
            </a:r>
            <a:r>
              <a:rPr lang="en-US" dirty="0"/>
              <a:t>": "</a:t>
            </a:r>
            <a:r>
              <a:rPr lang="en-US" b="1" dirty="0"/>
              <a:t>$</a:t>
            </a:r>
            <a:r>
              <a:rPr lang="en-US" b="1" dirty="0" err="1"/>
              <a:t>SignatureBox</a:t>
            </a:r>
            <a:r>
              <a:rPr lang="en-US" dirty="0"/>
              <a:t>"</a:t>
            </a:r>
            <a:endParaRPr lang="en-US" b="1" dirty="0"/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121729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is actually a SaaS customer…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640438" cy="480218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There is only one </a:t>
            </a:r>
            <a:r>
              <a:rPr lang="en-US" dirty="0" err="1"/>
              <a:t>OneCS</a:t>
            </a:r>
            <a:r>
              <a:rPr lang="en-US" dirty="0"/>
              <a:t> Application for multiple Domains. </a:t>
            </a:r>
            <a:r>
              <a:rPr lang="en-US" dirty="0" err="1"/>
              <a:t>LaToulousaine</a:t>
            </a:r>
            <a:r>
              <a:rPr lang="en-US" dirty="0"/>
              <a:t> is just one of them.</a:t>
            </a:r>
          </a:p>
          <a:p>
            <a:r>
              <a:rPr lang="en-US" dirty="0"/>
              <a:t>The SaaS offer scales horizontally:</a:t>
            </a:r>
          </a:p>
          <a:p>
            <a:pPr lvl="1"/>
            <a:r>
              <a:rPr lang="en-US" dirty="0"/>
              <a:t>A set of servers: </a:t>
            </a:r>
          </a:p>
          <a:p>
            <a:pPr lvl="2"/>
            <a:r>
              <a:rPr lang="en-US" dirty="0"/>
              <a:t>Parties are named “OneCS1”, “OneCS2”, “OneCS3”, etc. </a:t>
            </a:r>
          </a:p>
          <a:p>
            <a:pPr lvl="2"/>
            <a:r>
              <a:rPr lang="en-US" dirty="0"/>
              <a:t>And share the same Domain: “</a:t>
            </a:r>
            <a:r>
              <a:rPr lang="en-US" dirty="0" err="1"/>
              <a:t>SaasOneCS</a:t>
            </a:r>
            <a:r>
              <a:rPr lang="en-US" dirty="0"/>
              <a:t>” </a:t>
            </a:r>
          </a:p>
          <a:p>
            <a:r>
              <a:rPr lang="en-US" dirty="0"/>
              <a:t>Each </a:t>
            </a:r>
            <a:r>
              <a:rPr lang="en-US" dirty="0" err="1"/>
              <a:t>OneCS</a:t>
            </a:r>
            <a:r>
              <a:rPr lang="en-US" dirty="0"/>
              <a:t> application contains and defines the Domains they handle.</a:t>
            </a:r>
          </a:p>
        </p:txBody>
      </p:sp>
    </p:spTree>
    <p:extLst>
      <p:ext uri="{BB962C8B-B14F-4D97-AF65-F5344CB8AC3E}">
        <p14:creationId xmlns:p14="http://schemas.microsoft.com/office/powerpoint/2010/main" val="2883707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9F8AEE13-D867-21FE-1D37-650A6B41E59E}"/>
              </a:ext>
            </a:extLst>
          </p:cNvPr>
          <p:cNvSpPr txBox="1"/>
          <p:nvPr/>
        </p:nvSpPr>
        <p:spPr>
          <a:xfrm>
            <a:off x="6715759" y="1690688"/>
            <a:ext cx="5034279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in SaaS is hosted by OneCS1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654837" y="1690688"/>
            <a:ext cx="5347929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$OneCS1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49AEF489-966C-6867-522A-1DFE48932F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962" y="4847862"/>
            <a:ext cx="6903718" cy="1805832"/>
          </a:xfrm>
        </p:spPr>
        <p:txBody>
          <a:bodyPr vert="horz" lIns="91440" tIns="45720" rIns="91440" bIns="45720" rtlCol="0">
            <a:normAutofit fontScale="85000" lnSpcReduction="10000"/>
          </a:bodyPr>
          <a:lstStyle/>
          <a:p>
            <a:r>
              <a:rPr lang="en-US" dirty="0"/>
              <a:t>“</a:t>
            </a:r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LaToulousaine</a:t>
            </a:r>
            <a:r>
              <a:rPr lang="en-US" dirty="0"/>
              <a:t>” is the </a:t>
            </a:r>
            <a:br>
              <a:rPr lang="en-US" dirty="0"/>
            </a:br>
            <a:r>
              <a:rPr lang="en-US" dirty="0"/>
              <a:t>“Domain Controller”.</a:t>
            </a:r>
          </a:p>
          <a:p>
            <a:r>
              <a:rPr lang="en-US" dirty="0"/>
              <a:t>It is a </a:t>
            </a:r>
            <a:r>
              <a:rPr lang="en-US" b="1" dirty="0"/>
              <a:t>Local Party</a:t>
            </a:r>
            <a:r>
              <a:rPr lang="en-US" dirty="0"/>
              <a:t> like its host “</a:t>
            </a:r>
            <a:r>
              <a:rPr lang="en-US" dirty="0" err="1"/>
              <a:t>SaasOneCS</a:t>
            </a:r>
            <a:r>
              <a:rPr lang="en-US" dirty="0"/>
              <a:t>/$OneCS1”</a:t>
            </a:r>
          </a:p>
          <a:p>
            <a:pPr lvl="1"/>
            <a:r>
              <a:rPr lang="en-US" dirty="0"/>
              <a:t>The previous autonomous application “</a:t>
            </a:r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LaToulousaine</a:t>
            </a:r>
            <a:r>
              <a:rPr lang="en-US" dirty="0"/>
              <a:t>” is now hosted.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6621B1-1DCC-0779-5BE9-1D9091CDB19A}"/>
              </a:ext>
            </a:extLst>
          </p:cNvPr>
          <p:cNvSpPr/>
          <p:nvPr/>
        </p:nvSpPr>
        <p:spPr>
          <a:xfrm>
            <a:off x="6793041" y="1690688"/>
            <a:ext cx="4733364" cy="3754874"/>
          </a:xfrm>
          <a:custGeom>
            <a:avLst/>
            <a:gdLst>
              <a:gd name="connsiteX0" fmla="*/ 0 w 4733364"/>
              <a:gd name="connsiteY0" fmla="*/ 0 h 3754874"/>
              <a:gd name="connsiteX1" fmla="*/ 544337 w 4733364"/>
              <a:gd name="connsiteY1" fmla="*/ 0 h 3754874"/>
              <a:gd name="connsiteX2" fmla="*/ 994006 w 4733364"/>
              <a:gd name="connsiteY2" fmla="*/ 0 h 3754874"/>
              <a:gd name="connsiteX3" fmla="*/ 1680344 w 4733364"/>
              <a:gd name="connsiteY3" fmla="*/ 0 h 3754874"/>
              <a:gd name="connsiteX4" fmla="*/ 2224681 w 4733364"/>
              <a:gd name="connsiteY4" fmla="*/ 0 h 3754874"/>
              <a:gd name="connsiteX5" fmla="*/ 2769018 w 4733364"/>
              <a:gd name="connsiteY5" fmla="*/ 0 h 3754874"/>
              <a:gd name="connsiteX6" fmla="*/ 3455356 w 4733364"/>
              <a:gd name="connsiteY6" fmla="*/ 0 h 3754874"/>
              <a:gd name="connsiteX7" fmla="*/ 3952359 w 4733364"/>
              <a:gd name="connsiteY7" fmla="*/ 0 h 3754874"/>
              <a:gd name="connsiteX8" fmla="*/ 4733364 w 4733364"/>
              <a:gd name="connsiteY8" fmla="*/ 0 h 3754874"/>
              <a:gd name="connsiteX9" fmla="*/ 4733364 w 4733364"/>
              <a:gd name="connsiteY9" fmla="*/ 611508 h 3754874"/>
              <a:gd name="connsiteX10" fmla="*/ 4733364 w 4733364"/>
              <a:gd name="connsiteY10" fmla="*/ 1072821 h 3754874"/>
              <a:gd name="connsiteX11" fmla="*/ 4733364 w 4733364"/>
              <a:gd name="connsiteY11" fmla="*/ 1609232 h 3754874"/>
              <a:gd name="connsiteX12" fmla="*/ 4733364 w 4733364"/>
              <a:gd name="connsiteY12" fmla="*/ 2183191 h 3754874"/>
              <a:gd name="connsiteX13" fmla="*/ 4733364 w 4733364"/>
              <a:gd name="connsiteY13" fmla="*/ 2606955 h 3754874"/>
              <a:gd name="connsiteX14" fmla="*/ 4733364 w 4733364"/>
              <a:gd name="connsiteY14" fmla="*/ 3143366 h 3754874"/>
              <a:gd name="connsiteX15" fmla="*/ 4733364 w 4733364"/>
              <a:gd name="connsiteY15" fmla="*/ 3754874 h 3754874"/>
              <a:gd name="connsiteX16" fmla="*/ 4141694 w 4733364"/>
              <a:gd name="connsiteY16" fmla="*/ 3754874 h 3754874"/>
              <a:gd name="connsiteX17" fmla="*/ 3455356 w 4733364"/>
              <a:gd name="connsiteY17" fmla="*/ 3754874 h 3754874"/>
              <a:gd name="connsiteX18" fmla="*/ 2863685 w 4733364"/>
              <a:gd name="connsiteY18" fmla="*/ 3754874 h 3754874"/>
              <a:gd name="connsiteX19" fmla="*/ 2414016 w 4733364"/>
              <a:gd name="connsiteY19" fmla="*/ 3754874 h 3754874"/>
              <a:gd name="connsiteX20" fmla="*/ 1917012 w 4733364"/>
              <a:gd name="connsiteY20" fmla="*/ 3754874 h 3754874"/>
              <a:gd name="connsiteX21" fmla="*/ 1230675 w 4733364"/>
              <a:gd name="connsiteY21" fmla="*/ 3754874 h 3754874"/>
              <a:gd name="connsiteX22" fmla="*/ 639004 w 4733364"/>
              <a:gd name="connsiteY22" fmla="*/ 3754874 h 3754874"/>
              <a:gd name="connsiteX23" fmla="*/ 0 w 4733364"/>
              <a:gd name="connsiteY23" fmla="*/ 3754874 h 3754874"/>
              <a:gd name="connsiteX24" fmla="*/ 0 w 4733364"/>
              <a:gd name="connsiteY24" fmla="*/ 3218463 h 3754874"/>
              <a:gd name="connsiteX25" fmla="*/ 0 w 4733364"/>
              <a:gd name="connsiteY25" fmla="*/ 2794699 h 3754874"/>
              <a:gd name="connsiteX26" fmla="*/ 0 w 4733364"/>
              <a:gd name="connsiteY26" fmla="*/ 2370935 h 3754874"/>
              <a:gd name="connsiteX27" fmla="*/ 0 w 4733364"/>
              <a:gd name="connsiteY27" fmla="*/ 1796975 h 3754874"/>
              <a:gd name="connsiteX28" fmla="*/ 0 w 4733364"/>
              <a:gd name="connsiteY28" fmla="*/ 1335662 h 3754874"/>
              <a:gd name="connsiteX29" fmla="*/ 0 w 4733364"/>
              <a:gd name="connsiteY29" fmla="*/ 724154 h 3754874"/>
              <a:gd name="connsiteX30" fmla="*/ 0 w 4733364"/>
              <a:gd name="connsiteY30" fmla="*/ 0 h 37548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4733364" h="3754874" extrusionOk="0">
                <a:moveTo>
                  <a:pt x="0" y="0"/>
                </a:moveTo>
                <a:cubicBezTo>
                  <a:pt x="229468" y="-50895"/>
                  <a:pt x="294370" y="35903"/>
                  <a:pt x="544337" y="0"/>
                </a:cubicBezTo>
                <a:cubicBezTo>
                  <a:pt x="794304" y="-35903"/>
                  <a:pt x="820079" y="34170"/>
                  <a:pt x="994006" y="0"/>
                </a:cubicBezTo>
                <a:cubicBezTo>
                  <a:pt x="1167933" y="-34170"/>
                  <a:pt x="1374133" y="58138"/>
                  <a:pt x="1680344" y="0"/>
                </a:cubicBezTo>
                <a:cubicBezTo>
                  <a:pt x="1986555" y="-58138"/>
                  <a:pt x="2046752" y="42581"/>
                  <a:pt x="2224681" y="0"/>
                </a:cubicBezTo>
                <a:cubicBezTo>
                  <a:pt x="2402610" y="-42581"/>
                  <a:pt x="2583036" y="36101"/>
                  <a:pt x="2769018" y="0"/>
                </a:cubicBezTo>
                <a:cubicBezTo>
                  <a:pt x="2955000" y="-36101"/>
                  <a:pt x="3247585" y="49086"/>
                  <a:pt x="3455356" y="0"/>
                </a:cubicBezTo>
                <a:cubicBezTo>
                  <a:pt x="3663127" y="-49086"/>
                  <a:pt x="3818168" y="55487"/>
                  <a:pt x="3952359" y="0"/>
                </a:cubicBezTo>
                <a:cubicBezTo>
                  <a:pt x="4086550" y="-55487"/>
                  <a:pt x="4361088" y="71153"/>
                  <a:pt x="4733364" y="0"/>
                </a:cubicBezTo>
                <a:cubicBezTo>
                  <a:pt x="4749522" y="123515"/>
                  <a:pt x="4685277" y="353000"/>
                  <a:pt x="4733364" y="611508"/>
                </a:cubicBezTo>
                <a:cubicBezTo>
                  <a:pt x="4781451" y="870016"/>
                  <a:pt x="4679557" y="972846"/>
                  <a:pt x="4733364" y="1072821"/>
                </a:cubicBezTo>
                <a:cubicBezTo>
                  <a:pt x="4787171" y="1172796"/>
                  <a:pt x="4697483" y="1382836"/>
                  <a:pt x="4733364" y="1609232"/>
                </a:cubicBezTo>
                <a:cubicBezTo>
                  <a:pt x="4769245" y="1835628"/>
                  <a:pt x="4697524" y="2027386"/>
                  <a:pt x="4733364" y="2183191"/>
                </a:cubicBezTo>
                <a:cubicBezTo>
                  <a:pt x="4769204" y="2338996"/>
                  <a:pt x="4727974" y="2427041"/>
                  <a:pt x="4733364" y="2606955"/>
                </a:cubicBezTo>
                <a:cubicBezTo>
                  <a:pt x="4738754" y="2786869"/>
                  <a:pt x="4733228" y="2965049"/>
                  <a:pt x="4733364" y="3143366"/>
                </a:cubicBezTo>
                <a:cubicBezTo>
                  <a:pt x="4733500" y="3321683"/>
                  <a:pt x="4668483" y="3520497"/>
                  <a:pt x="4733364" y="3754874"/>
                </a:cubicBezTo>
                <a:cubicBezTo>
                  <a:pt x="4525963" y="3774907"/>
                  <a:pt x="4436615" y="3711015"/>
                  <a:pt x="4141694" y="3754874"/>
                </a:cubicBezTo>
                <a:cubicBezTo>
                  <a:pt x="3846773" y="3798733"/>
                  <a:pt x="3793273" y="3675467"/>
                  <a:pt x="3455356" y="3754874"/>
                </a:cubicBezTo>
                <a:cubicBezTo>
                  <a:pt x="3117439" y="3834281"/>
                  <a:pt x="3117900" y="3743300"/>
                  <a:pt x="2863685" y="3754874"/>
                </a:cubicBezTo>
                <a:cubicBezTo>
                  <a:pt x="2609470" y="3766448"/>
                  <a:pt x="2551397" y="3712888"/>
                  <a:pt x="2414016" y="3754874"/>
                </a:cubicBezTo>
                <a:cubicBezTo>
                  <a:pt x="2276635" y="3796860"/>
                  <a:pt x="2026307" y="3697298"/>
                  <a:pt x="1917012" y="3754874"/>
                </a:cubicBezTo>
                <a:cubicBezTo>
                  <a:pt x="1807717" y="3812450"/>
                  <a:pt x="1498914" y="3753701"/>
                  <a:pt x="1230675" y="3754874"/>
                </a:cubicBezTo>
                <a:cubicBezTo>
                  <a:pt x="962436" y="3756047"/>
                  <a:pt x="901520" y="3748643"/>
                  <a:pt x="639004" y="3754874"/>
                </a:cubicBezTo>
                <a:cubicBezTo>
                  <a:pt x="376488" y="3761105"/>
                  <a:pt x="174782" y="3752861"/>
                  <a:pt x="0" y="3754874"/>
                </a:cubicBezTo>
                <a:cubicBezTo>
                  <a:pt x="-53902" y="3605730"/>
                  <a:pt x="60600" y="3338802"/>
                  <a:pt x="0" y="3218463"/>
                </a:cubicBezTo>
                <a:cubicBezTo>
                  <a:pt x="-60600" y="3098124"/>
                  <a:pt x="43054" y="2892626"/>
                  <a:pt x="0" y="2794699"/>
                </a:cubicBezTo>
                <a:cubicBezTo>
                  <a:pt x="-43054" y="2696772"/>
                  <a:pt x="46355" y="2470556"/>
                  <a:pt x="0" y="2370935"/>
                </a:cubicBezTo>
                <a:cubicBezTo>
                  <a:pt x="-46355" y="2271314"/>
                  <a:pt x="20903" y="1997827"/>
                  <a:pt x="0" y="1796975"/>
                </a:cubicBezTo>
                <a:cubicBezTo>
                  <a:pt x="-20903" y="1596123"/>
                  <a:pt x="31988" y="1460266"/>
                  <a:pt x="0" y="1335662"/>
                </a:cubicBezTo>
                <a:cubicBezTo>
                  <a:pt x="-31988" y="1211058"/>
                  <a:pt x="37542" y="864533"/>
                  <a:pt x="0" y="724154"/>
                </a:cubicBezTo>
                <a:cubicBezTo>
                  <a:pt x="-37542" y="583775"/>
                  <a:pt x="7023" y="181575"/>
                  <a:pt x="0" y="0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72FE9D-A494-0880-7478-23B8F8658432}"/>
              </a:ext>
            </a:extLst>
          </p:cNvPr>
          <p:cNvSpPr/>
          <p:nvPr/>
        </p:nvSpPr>
        <p:spPr>
          <a:xfrm>
            <a:off x="1075765" y="2549562"/>
            <a:ext cx="4733364" cy="1161826"/>
          </a:xfrm>
          <a:custGeom>
            <a:avLst/>
            <a:gdLst>
              <a:gd name="connsiteX0" fmla="*/ 0 w 4733364"/>
              <a:gd name="connsiteY0" fmla="*/ 0 h 1161826"/>
              <a:gd name="connsiteX1" fmla="*/ 544337 w 4733364"/>
              <a:gd name="connsiteY1" fmla="*/ 0 h 1161826"/>
              <a:gd name="connsiteX2" fmla="*/ 994006 w 4733364"/>
              <a:gd name="connsiteY2" fmla="*/ 0 h 1161826"/>
              <a:gd name="connsiteX3" fmla="*/ 1680344 w 4733364"/>
              <a:gd name="connsiteY3" fmla="*/ 0 h 1161826"/>
              <a:gd name="connsiteX4" fmla="*/ 2224681 w 4733364"/>
              <a:gd name="connsiteY4" fmla="*/ 0 h 1161826"/>
              <a:gd name="connsiteX5" fmla="*/ 2769018 w 4733364"/>
              <a:gd name="connsiteY5" fmla="*/ 0 h 1161826"/>
              <a:gd name="connsiteX6" fmla="*/ 3455356 w 4733364"/>
              <a:gd name="connsiteY6" fmla="*/ 0 h 1161826"/>
              <a:gd name="connsiteX7" fmla="*/ 3952359 w 4733364"/>
              <a:gd name="connsiteY7" fmla="*/ 0 h 1161826"/>
              <a:gd name="connsiteX8" fmla="*/ 4733364 w 4733364"/>
              <a:gd name="connsiteY8" fmla="*/ 0 h 1161826"/>
              <a:gd name="connsiteX9" fmla="*/ 4733364 w 4733364"/>
              <a:gd name="connsiteY9" fmla="*/ 604150 h 1161826"/>
              <a:gd name="connsiteX10" fmla="*/ 4733364 w 4733364"/>
              <a:gd name="connsiteY10" fmla="*/ 1161826 h 1161826"/>
              <a:gd name="connsiteX11" fmla="*/ 4141694 w 4733364"/>
              <a:gd name="connsiteY11" fmla="*/ 1161826 h 1161826"/>
              <a:gd name="connsiteX12" fmla="*/ 3597357 w 4733364"/>
              <a:gd name="connsiteY12" fmla="*/ 1161826 h 1161826"/>
              <a:gd name="connsiteX13" fmla="*/ 2911019 w 4733364"/>
              <a:gd name="connsiteY13" fmla="*/ 1161826 h 1161826"/>
              <a:gd name="connsiteX14" fmla="*/ 2224681 w 4733364"/>
              <a:gd name="connsiteY14" fmla="*/ 1161826 h 1161826"/>
              <a:gd name="connsiteX15" fmla="*/ 1727678 w 4733364"/>
              <a:gd name="connsiteY15" fmla="*/ 1161826 h 1161826"/>
              <a:gd name="connsiteX16" fmla="*/ 1136007 w 4733364"/>
              <a:gd name="connsiteY16" fmla="*/ 1161826 h 1161826"/>
              <a:gd name="connsiteX17" fmla="*/ 0 w 4733364"/>
              <a:gd name="connsiteY17" fmla="*/ 1161826 h 1161826"/>
              <a:gd name="connsiteX18" fmla="*/ 0 w 4733364"/>
              <a:gd name="connsiteY18" fmla="*/ 580913 h 1161826"/>
              <a:gd name="connsiteX19" fmla="*/ 0 w 4733364"/>
              <a:gd name="connsiteY19" fmla="*/ 0 h 11618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4733364" h="1161826" extrusionOk="0">
                <a:moveTo>
                  <a:pt x="0" y="0"/>
                </a:moveTo>
                <a:cubicBezTo>
                  <a:pt x="229468" y="-50895"/>
                  <a:pt x="294370" y="35903"/>
                  <a:pt x="544337" y="0"/>
                </a:cubicBezTo>
                <a:cubicBezTo>
                  <a:pt x="794304" y="-35903"/>
                  <a:pt x="820079" y="34170"/>
                  <a:pt x="994006" y="0"/>
                </a:cubicBezTo>
                <a:cubicBezTo>
                  <a:pt x="1167933" y="-34170"/>
                  <a:pt x="1374133" y="58138"/>
                  <a:pt x="1680344" y="0"/>
                </a:cubicBezTo>
                <a:cubicBezTo>
                  <a:pt x="1986555" y="-58138"/>
                  <a:pt x="2046752" y="42581"/>
                  <a:pt x="2224681" y="0"/>
                </a:cubicBezTo>
                <a:cubicBezTo>
                  <a:pt x="2402610" y="-42581"/>
                  <a:pt x="2583036" y="36101"/>
                  <a:pt x="2769018" y="0"/>
                </a:cubicBezTo>
                <a:cubicBezTo>
                  <a:pt x="2955000" y="-36101"/>
                  <a:pt x="3247585" y="49086"/>
                  <a:pt x="3455356" y="0"/>
                </a:cubicBezTo>
                <a:cubicBezTo>
                  <a:pt x="3663127" y="-49086"/>
                  <a:pt x="3818168" y="55487"/>
                  <a:pt x="3952359" y="0"/>
                </a:cubicBezTo>
                <a:cubicBezTo>
                  <a:pt x="4086550" y="-55487"/>
                  <a:pt x="4361088" y="71153"/>
                  <a:pt x="4733364" y="0"/>
                </a:cubicBezTo>
                <a:cubicBezTo>
                  <a:pt x="4774937" y="182907"/>
                  <a:pt x="4683414" y="437336"/>
                  <a:pt x="4733364" y="604150"/>
                </a:cubicBezTo>
                <a:cubicBezTo>
                  <a:pt x="4783314" y="770964"/>
                  <a:pt x="4731225" y="909997"/>
                  <a:pt x="4733364" y="1161826"/>
                </a:cubicBezTo>
                <a:cubicBezTo>
                  <a:pt x="4455532" y="1228628"/>
                  <a:pt x="4325425" y="1122304"/>
                  <a:pt x="4141694" y="1161826"/>
                </a:cubicBezTo>
                <a:cubicBezTo>
                  <a:pt x="3957963" y="1201348"/>
                  <a:pt x="3720866" y="1126498"/>
                  <a:pt x="3597357" y="1161826"/>
                </a:cubicBezTo>
                <a:cubicBezTo>
                  <a:pt x="3473848" y="1197154"/>
                  <a:pt x="3108827" y="1156187"/>
                  <a:pt x="2911019" y="1161826"/>
                </a:cubicBezTo>
                <a:cubicBezTo>
                  <a:pt x="2713211" y="1167465"/>
                  <a:pt x="2425949" y="1113687"/>
                  <a:pt x="2224681" y="1161826"/>
                </a:cubicBezTo>
                <a:cubicBezTo>
                  <a:pt x="2023413" y="1209965"/>
                  <a:pt x="1839854" y="1107588"/>
                  <a:pt x="1727678" y="1161826"/>
                </a:cubicBezTo>
                <a:cubicBezTo>
                  <a:pt x="1615502" y="1216064"/>
                  <a:pt x="1259688" y="1124550"/>
                  <a:pt x="1136007" y="1161826"/>
                </a:cubicBezTo>
                <a:cubicBezTo>
                  <a:pt x="1012326" y="1199102"/>
                  <a:pt x="275734" y="1027589"/>
                  <a:pt x="0" y="1161826"/>
                </a:cubicBezTo>
                <a:cubicBezTo>
                  <a:pt x="-5849" y="889776"/>
                  <a:pt x="16710" y="837427"/>
                  <a:pt x="0" y="580913"/>
                </a:cubicBezTo>
                <a:cubicBezTo>
                  <a:pt x="-16710" y="324399"/>
                  <a:pt x="27932" y="254347"/>
                  <a:pt x="0" y="0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599FD8-2975-8A4A-4073-614F1B8AB184}"/>
              </a:ext>
            </a:extLst>
          </p:cNvPr>
          <p:cNvSpPr/>
          <p:nvPr/>
        </p:nvSpPr>
        <p:spPr>
          <a:xfrm>
            <a:off x="5589977" y="2806656"/>
            <a:ext cx="1280160" cy="86106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Change!!!</a:t>
            </a:r>
          </a:p>
        </p:txBody>
      </p:sp>
    </p:spTree>
    <p:extLst>
      <p:ext uri="{BB962C8B-B14F-4D97-AF65-F5344CB8AC3E}">
        <p14:creationId xmlns:p14="http://schemas.microsoft.com/office/powerpoint/2010/main" val="25936531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Oups</a:t>
            </a:r>
            <a:r>
              <a:rPr lang="en-US" dirty="0"/>
              <a:t>! </a:t>
            </a:r>
            <a:r>
              <a:rPr lang="en-US" dirty="0" err="1"/>
              <a:t>LaToulousaine</a:t>
            </a:r>
            <a:r>
              <a:rPr lang="en-US" dirty="0"/>
              <a:t> is NOT in production yet!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1B4665-DD00-73E6-923E-6E295A7ABC7E}"/>
              </a:ext>
            </a:extLst>
          </p:cNvPr>
          <p:cNvSpPr txBox="1"/>
          <p:nvPr/>
        </p:nvSpPr>
        <p:spPr>
          <a:xfrm>
            <a:off x="5953052" y="1690688"/>
            <a:ext cx="5953759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#Staging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D1A3BB-C45C-40DE-67C0-50F9948E66FE}"/>
              </a:ext>
            </a:extLst>
          </p:cNvPr>
          <p:cNvSpPr txBox="1"/>
          <p:nvPr/>
        </p:nvSpPr>
        <p:spPr>
          <a:xfrm>
            <a:off x="605123" y="1692425"/>
            <a:ext cx="534792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/$OneCS1/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#Production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#Staging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47243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2CAA5-AE8B-13AE-3860-23AA77D32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E14D5-3E2D-7E2E-F06E-5A1F413D3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may keep the single </a:t>
            </a:r>
            <a:r>
              <a:rPr lang="en-US" dirty="0" err="1"/>
              <a:t>LaToulousaine</a:t>
            </a:r>
            <a:r>
              <a:rPr lang="en-US" dirty="0"/>
              <a:t> domain and define the English Agents in them… </a:t>
            </a:r>
          </a:p>
          <a:p>
            <a:pPr lvl="1"/>
            <a:r>
              <a:rPr lang="en-US" dirty="0"/>
              <a:t>… and deal with “Trolley1” and “London_Trolley1”.</a:t>
            </a:r>
          </a:p>
          <a:p>
            <a:pPr lvl="1">
              <a:buFont typeface="Wingdings" panose="05000000000000000000" pitchFamily="2" charset="2"/>
              <a:buChar char="è"/>
            </a:pPr>
            <a:r>
              <a:rPr lang="en-US" dirty="0">
                <a:sym typeface="Wingdings" panose="05000000000000000000" pitchFamily="2" charset="2"/>
              </a:rPr>
              <a:t>This less than ideal!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We can do better by simply using the </a:t>
            </a:r>
            <a:r>
              <a:rPr lang="en-US" dirty="0" err="1"/>
              <a:t>DomainName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DomainName</a:t>
            </a:r>
            <a:r>
              <a:rPr lang="en-US" dirty="0"/>
              <a:t> can be a path.</a:t>
            </a:r>
          </a:p>
        </p:txBody>
      </p:sp>
    </p:spTree>
    <p:extLst>
      <p:ext uri="{BB962C8B-B14F-4D97-AF65-F5344CB8AC3E}">
        <p14:creationId xmlns:p14="http://schemas.microsoft.com/office/powerpoint/2010/main" val="24384039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F5718A-75F5-2836-EB73-22530B20A975}"/>
              </a:ext>
            </a:extLst>
          </p:cNvPr>
          <p:cNvSpPr txBox="1"/>
          <p:nvPr/>
        </p:nvSpPr>
        <p:spPr>
          <a:xfrm>
            <a:off x="654837" y="1690688"/>
            <a:ext cx="678945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/$OneCS1",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/France/$France",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/London/$London",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052A3A-EBF7-3C28-4E2D-D46F44ACBE03}"/>
              </a:ext>
            </a:extLst>
          </p:cNvPr>
          <p:cNvSpPr txBox="1"/>
          <p:nvPr/>
        </p:nvSpPr>
        <p:spPr>
          <a:xfrm>
            <a:off x="6280824" y="1690688"/>
            <a:ext cx="561358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/France/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"$France",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8426AA-A61E-323E-1908-225D6883F628}"/>
              </a:ext>
            </a:extLst>
          </p:cNvPr>
          <p:cNvSpPr txBox="1"/>
          <p:nvPr/>
        </p:nvSpPr>
        <p:spPr>
          <a:xfrm>
            <a:off x="6280824" y="3759063"/>
            <a:ext cx="561358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/London/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"$London",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283489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BB2F6-6A3B-0600-9CA6-236A6AB60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and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D752E-3F69-B30A-607A-3285A0B1B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keys appear in the configuration.</a:t>
            </a:r>
          </a:p>
          <a:p>
            <a:r>
              <a:rPr lang="en-US" dirty="0"/>
              <a:t>At least one X509 certificate (signing key) must be available per Party.</a:t>
            </a:r>
          </a:p>
          <a:p>
            <a:pPr lvl="1"/>
            <a:r>
              <a:rPr lang="en-US" dirty="0" err="1"/>
              <a:t>SaasOneCS</a:t>
            </a:r>
            <a:r>
              <a:rPr lang="en-US" dirty="0"/>
              <a:t>/OneCS1 can work with a single certificate.</a:t>
            </a:r>
          </a:p>
          <a:p>
            <a:r>
              <a:rPr lang="en-US" dirty="0"/>
              <a:t>Keys are managed “by design” in a store by </a:t>
            </a:r>
            <a:r>
              <a:rPr lang="en-US" dirty="0" err="1"/>
              <a:t>CK.AppIdentity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 simplest store is a folder with folders and/or files that contain the certificate files.</a:t>
            </a:r>
          </a:p>
          <a:p>
            <a:pPr lvl="1"/>
            <a:r>
              <a:rPr lang="en-US" dirty="0"/>
              <a:t>Stronger key store may be implemented later.</a:t>
            </a:r>
          </a:p>
          <a:p>
            <a:r>
              <a:rPr lang="en-US" dirty="0"/>
              <a:t>Any relationship between 2 parties can be protected with a dedicated pair of keys.</a:t>
            </a:r>
          </a:p>
        </p:txBody>
      </p:sp>
    </p:spTree>
    <p:extLst>
      <p:ext uri="{BB962C8B-B14F-4D97-AF65-F5344CB8AC3E}">
        <p14:creationId xmlns:p14="http://schemas.microsoft.com/office/powerpoint/2010/main" val="29451118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F35EA-9815-CA8C-A80D-1857A5FDB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uses…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A97AC-5D6A-7874-9EEB-5565D4A19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888392"/>
          </a:xfrm>
        </p:spPr>
        <p:txBody>
          <a:bodyPr/>
          <a:lstStyle/>
          <a:p>
            <a:r>
              <a:rPr lang="en-US" dirty="0"/>
              <a:t>Describing and configuring external services.</a:t>
            </a:r>
          </a:p>
          <a:p>
            <a:pPr lvl="1"/>
            <a:r>
              <a:rPr lang="en-US" dirty="0"/>
              <a:t>Package First…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2D17C1F-A51E-C522-33E4-E7D2F26CB586}"/>
              </a:ext>
            </a:extLst>
          </p:cNvPr>
          <p:cNvSpPr txBox="1">
            <a:spLocks/>
          </p:cNvSpPr>
          <p:nvPr/>
        </p:nvSpPr>
        <p:spPr>
          <a:xfrm>
            <a:off x="838200" y="2714017"/>
            <a:ext cx="6749374" cy="377885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"Signature/$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CodeCenter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/#Production",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"External"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"45kKJDHldf57dsj87f6fefAsdjhfsdfzr654ZEd5zf"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"External/$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GitSource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"Signature-Code",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“Lkjdchbej236ecec6876edc3evqwx57d2455zefdaa"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3D65CE2-9D81-5111-5961-A05FE0BFA74C}"/>
              </a:ext>
            </a:extLst>
          </p:cNvPr>
          <p:cNvSpPr txBox="1">
            <a:spLocks/>
          </p:cNvSpPr>
          <p:nvPr/>
        </p:nvSpPr>
        <p:spPr>
          <a:xfrm>
            <a:off x="7511374" y="3122579"/>
            <a:ext cx="4206144" cy="252919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“External” and “Undefined” are the reserved Domain names that means “external to the System”</a:t>
            </a:r>
          </a:p>
          <a:p>
            <a:r>
              <a:rPr lang="en-US" dirty="0"/>
              <a:t>We don’t need an “Address”: this remote is a </a:t>
            </a:r>
            <a:r>
              <a:rPr lang="en-US" dirty="0" err="1"/>
              <a:t>GitHubApp</a:t>
            </a:r>
            <a:r>
              <a:rPr lang="en-US" dirty="0"/>
              <a:t> because of the “GitHub” configuration key. </a:t>
            </a:r>
          </a:p>
          <a:p>
            <a:r>
              <a:rPr lang="en-US" dirty="0"/>
              <a:t>The package </a:t>
            </a:r>
            <a:r>
              <a:rPr lang="en-US" dirty="0" err="1"/>
              <a:t>CK.AppIdentity.GitHubApp</a:t>
            </a:r>
            <a:r>
              <a:rPr lang="en-US" dirty="0"/>
              <a:t> handles this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23436561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8245F-DD26-ADCC-6CD2-D5ED5F559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385" y="117700"/>
            <a:ext cx="3022899" cy="1689586"/>
          </a:xfrm>
        </p:spPr>
        <p:txBody>
          <a:bodyPr>
            <a:normAutofit/>
          </a:bodyPr>
          <a:lstStyle/>
          <a:p>
            <a:pPr algn="r"/>
            <a:r>
              <a:rPr lang="en-US" sz="4000" dirty="0"/>
              <a:t>Configuration Model</a:t>
            </a:r>
          </a:p>
        </p:txBody>
      </p:sp>
      <p:pic>
        <p:nvPicPr>
          <p:cNvPr id="6" name="Picture 5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64CAB341-0F45-EBF0-5542-74F695DF9C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0284" y="193508"/>
            <a:ext cx="8655296" cy="6664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4084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3BC01-7B97-621A-1FC3-D810DD845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Exploit the </a:t>
            </a:r>
            <a:r>
              <a:rPr lang="en-US" dirty="0" err="1"/>
              <a:t>.Net</a:t>
            </a:r>
            <a:r>
              <a:rPr lang="en-US" dirty="0"/>
              <a:t> Configuration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674851-0267-8A9E-EE42-41E103A0A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79976"/>
          </a:xfrm>
        </p:spPr>
        <p:txBody>
          <a:bodyPr/>
          <a:lstStyle/>
          <a:p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supports any </a:t>
            </a:r>
            <a:r>
              <a:rPr lang="en-US" dirty="0" err="1"/>
              <a:t>.Net</a:t>
            </a:r>
            <a:r>
              <a:rPr lang="en-US" dirty="0"/>
              <a:t> Configuration source.</a:t>
            </a:r>
            <a:br>
              <a:rPr lang="en-US" dirty="0"/>
            </a:br>
            <a:endParaRPr lang="en-US" sz="1400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Provides 2 helpers and </a:t>
            </a:r>
            <a:r>
              <a:rPr lang="en-US" b="1" dirty="0" err="1"/>
              <a:t>MutableConfigurationSection</a:t>
            </a:r>
            <a:r>
              <a:rPr lang="en-US" dirty="0"/>
              <a:t> and </a:t>
            </a:r>
            <a:r>
              <a:rPr lang="en-US" b="1" dirty="0" err="1"/>
              <a:t>ImmutableConfigurationSection</a:t>
            </a:r>
            <a:r>
              <a:rPr lang="en-US" dirty="0"/>
              <a:t> to support direct manipulation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A48426-17BB-0C9E-781D-10055513B8B9}"/>
              </a:ext>
            </a:extLst>
          </p:cNvPr>
          <p:cNvSpPr txBox="1"/>
          <p:nvPr/>
        </p:nvSpPr>
        <p:spPr>
          <a:xfrm>
            <a:off x="981811" y="4895700"/>
            <a:ext cx="1060938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configuration =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ApplicationIdentityConfiguration.Create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 monitor, c =&gt;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FullName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"Test/$Listener"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"Remotes:0:PartyName"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"Sender"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AllowFeatures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BlobChannel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 );</a:t>
            </a:r>
            <a:endParaRPr 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0B2343-7BBF-FDBA-3857-E5364B963659}"/>
              </a:ext>
            </a:extLst>
          </p:cNvPr>
          <p:cNvSpPr txBox="1"/>
          <p:nvPr/>
        </p:nvSpPr>
        <p:spPr>
          <a:xfrm>
            <a:off x="644770" y="2754585"/>
            <a:ext cx="1118381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Create(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IActivityMonitor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monitor,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						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IConfigurationSection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configuration,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defaultLocalName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null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defaultEnvironmentName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"#Development"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35786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9E005-AE23-CC8A-D9FD-5DE8B5239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Runtime Model</a:t>
            </a:r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C3E3FC0-3C38-85FF-9917-A63D6C4B2A74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6541476" cy="4667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IApplicationIdentityService</a:t>
            </a:r>
            <a:r>
              <a:rPr lang="en-US" dirty="0"/>
              <a:t> is an automatic hosted service singleton.</a:t>
            </a:r>
          </a:p>
          <a:p>
            <a:r>
              <a:rPr lang="en-US" dirty="0"/>
              <a:t>Thread safety</a:t>
            </a:r>
          </a:p>
          <a:p>
            <a:pPr lvl="1"/>
            <a:r>
              <a:rPr lang="en-US" dirty="0"/>
              <a:t>Once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InitializationTask</a:t>
            </a:r>
            <a:r>
              <a:rPr lang="en-US" dirty="0"/>
              <a:t> is resolved, everything is stable.</a:t>
            </a:r>
          </a:p>
          <a:p>
            <a:pPr lvl="1"/>
            <a:r>
              <a:rPr lang="en-US" dirty="0"/>
              <a:t>A background micro agent handles the dynamic Remotes mutations.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6" name="Picture 5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7C3DD65C-4947-6B81-85B3-712677F2FF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7803" y="0"/>
            <a:ext cx="437219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2974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20"/>
    </mc:Choice>
    <mc:Fallback>
      <p:transition spd="slow" advTm="32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7CD06-D47B-E95B-1EEA-8DBB232E4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“Features”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3983B-5F64-FFC1-70BD-79B40405F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Developer uses Features.</a:t>
            </a:r>
          </a:p>
          <a:p>
            <a:r>
              <a:rPr lang="en-US" dirty="0"/>
              <a:t>Features are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IEnumerable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US" dirty="0"/>
              <a:t> available on all parties.</a:t>
            </a:r>
          </a:p>
          <a:p>
            <a:r>
              <a:rPr lang="en-US" dirty="0"/>
              <a:t>Features can only be added:</a:t>
            </a:r>
          </a:p>
          <a:p>
            <a:pPr lvl="1"/>
            <a:r>
              <a:rPr lang="en-US" dirty="0"/>
              <a:t>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900" dirty="0" err="1">
                <a:solidFill>
                  <a:srgbClr val="000000"/>
                </a:solidFill>
                <a:latin typeface="Consolas" panose="020B0609020204030204" pitchFamily="49" charset="0"/>
              </a:rPr>
              <a:t>AddFeature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 feature )</a:t>
            </a:r>
            <a:r>
              <a:rPr lang="en-US" dirty="0"/>
              <a:t> </a:t>
            </a:r>
          </a:p>
          <a:p>
            <a:pPr lvl="1"/>
            <a:endParaRPr lang="en-US" dirty="0"/>
          </a:p>
          <a:p>
            <a:r>
              <a:rPr lang="en-US" dirty="0"/>
              <a:t>But Feature are primarily instantiated, configured and added to the relevant parties thanks to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dirty="0"/>
              <a:t> specialized services</a:t>
            </a:r>
            <a:r>
              <a:rPr lang="en-US" sz="18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15439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EB0FE-B752-52E9-DFC1-C32DC2286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Driver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77EFC9A-B42F-2335-F286-66BC9143F1D7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4607168" cy="4667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Setup the whole service.</a:t>
            </a:r>
          </a:p>
          <a:p>
            <a:r>
              <a:rPr lang="en-US" sz="2400" dirty="0"/>
              <a:t>Setup new dynamic Remotes.</a:t>
            </a:r>
          </a:p>
          <a:p>
            <a:r>
              <a:rPr lang="en-US" sz="2400" dirty="0"/>
              <a:t>Teardown destroyed Remotes.</a:t>
            </a:r>
          </a:p>
          <a:p>
            <a:r>
              <a:rPr lang="en-US" dirty="0"/>
              <a:t>Teardown the whole service.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 feature driver type name MUST be suffixed with '</a:t>
            </a:r>
            <a:r>
              <a:rPr lang="en-US" dirty="0" err="1"/>
              <a:t>FeatureDriver</a:t>
            </a:r>
            <a:r>
              <a:rPr lang="en-US" dirty="0"/>
              <a:t>'</a:t>
            </a:r>
          </a:p>
          <a:p>
            <a:pPr lvl="1"/>
            <a:endParaRPr lang="en-US" dirty="0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8B97A891-FB41-8020-AA4F-F29FF2B4EC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8528" y="249293"/>
            <a:ext cx="7337819" cy="6243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4981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5232"/>
    </mc:Choice>
    <mc:Fallback>
      <p:transition spd="slow" advTm="15232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2F962-D950-EB5B-C8CD-82EC873A9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Opt-In/Out and Allow/</a:t>
            </a:r>
            <a:r>
              <a:rPr lang="en-US" dirty="0" err="1"/>
              <a:t>DisallowFeatures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30683-E16F-BEF2-A1A6-603A2557D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14911"/>
          </a:xfrm>
        </p:spPr>
        <p:txBody>
          <a:bodyPr/>
          <a:lstStyle/>
          <a:p>
            <a:r>
              <a:rPr lang="en-US" dirty="0"/>
              <a:t>Features can be opt-in or opt-out.</a:t>
            </a:r>
          </a:p>
          <a:p>
            <a:pPr lvl="1"/>
            <a:r>
              <a:rPr lang="en-US" dirty="0"/>
              <a:t>This is provided when calling the base </a:t>
            </a:r>
            <a:r>
              <a:rPr lang="en-US" sz="1800" dirty="0" err="1">
                <a:latin typeface="Consolas" panose="020B0609020204030204" pitchFamily="49" charset="0"/>
              </a:rPr>
              <a:t>ApplicationIdentityFeatureDriver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constructor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</a:p>
          <a:p>
            <a:pPr lvl="1"/>
            <a:endParaRPr lang="en-US" sz="2400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pPr lvl="1"/>
            <a:endParaRPr lang="en-US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Features can then be allowed or disallowed by the configuration.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an opt-in feature. To exchange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byte[]</a:t>
            </a:r>
            <a:r>
              <a:rPr lang="en-US" dirty="0"/>
              <a:t> it must be allowed.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F786D5-8D89-BF31-3133-9EF6545D8B9B}"/>
              </a:ext>
            </a:extLst>
          </p:cNvPr>
          <p:cNvSpPr txBox="1"/>
          <p:nvPr/>
        </p:nvSpPr>
        <p:spPr>
          <a:xfrm>
            <a:off x="1521655" y="2961041"/>
            <a:ext cx="84124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protected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ApplicationIdentityService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s, 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     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isAllowedByDefault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D8761A4-78FC-CB22-E1A6-B3ED78F917D8}"/>
              </a:ext>
            </a:extLst>
          </p:cNvPr>
          <p:cNvSpPr txBox="1">
            <a:spLocks/>
          </p:cNvSpPr>
          <p:nvPr/>
        </p:nvSpPr>
        <p:spPr>
          <a:xfrm>
            <a:off x="720968" y="4682479"/>
            <a:ext cx="3897924" cy="21989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"Test/$Sender",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"Target",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"tcp:127.0.0.1“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B6BF118-345A-7326-4BCF-5CE27028026A}"/>
              </a:ext>
            </a:extLst>
          </p:cNvPr>
          <p:cNvSpPr txBox="1">
            <a:spLocks/>
          </p:cNvSpPr>
          <p:nvPr/>
        </p:nvSpPr>
        <p:spPr>
          <a:xfrm>
            <a:off x="6441829" y="4687451"/>
            <a:ext cx="4226170" cy="21989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"Test/$Target"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"Sender",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["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7B4A735-853C-A50C-B584-BA5FB8D4C33A}"/>
                  </a:ext>
                </a:extLst>
              </p14:cNvPr>
              <p14:cNvContentPartPr/>
              <p14:nvPr/>
            </p14:nvContentPartPr>
            <p14:xfrm>
              <a:off x="7101000" y="3347750"/>
              <a:ext cx="2017080" cy="1911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7B4A735-853C-A50C-B584-BA5FB8D4C3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47360" y="3240110"/>
                <a:ext cx="2124720" cy="406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134133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D9BD9-E7B8-0308-F846-C5AE6E739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TransportFeature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C7C5-6DBE-8D49-F647-8952029E2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81954" cy="2833921"/>
          </a:xfrm>
        </p:spPr>
        <p:txBody>
          <a:bodyPr>
            <a:normAutofit/>
          </a:bodyPr>
          <a:lstStyle/>
          <a:p>
            <a:r>
              <a:rPr lang="en-US" dirty="0"/>
              <a:t>Opt-out feature: available by default on all Remotes (not External)</a:t>
            </a:r>
          </a:p>
          <a:p>
            <a:pPr lvl="1"/>
            <a:r>
              <a:rPr lang="en-US" dirty="0"/>
              <a:t>To remove it: </a:t>
            </a:r>
            <a:br>
              <a:rPr lang="en-US" dirty="0"/>
            </a:b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DisallowFeatures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"Transport“</a:t>
            </a:r>
          </a:p>
          <a:p>
            <a:r>
              <a:rPr lang="en-US" dirty="0"/>
              <a:t>Transport is “on” by default but can be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SwithOff</a:t>
            </a:r>
            <a:r>
              <a:rPr lang="en-US" dirty="0"/>
              <a:t>/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SwitchOn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 descr="Graphical user interface, diagram&#10;&#10;Description automatically generated">
            <a:extLst>
              <a:ext uri="{FF2B5EF4-FFF2-40B4-BE49-F238E27FC236}">
                <a16:creationId xmlns:a16="http://schemas.microsoft.com/office/drawing/2014/main" id="{145D6F04-76EB-0D08-22E0-99122639C3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0154" y="194454"/>
            <a:ext cx="6164199" cy="44650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690184-9A00-DA38-F75D-7518FDA3E2C3}"/>
              </a:ext>
            </a:extLst>
          </p:cNvPr>
          <p:cNvSpPr txBox="1"/>
          <p:nvPr/>
        </p:nvSpPr>
        <p:spPr>
          <a:xfrm>
            <a:off x="838200" y="4830217"/>
            <a:ext cx="9419492" cy="1900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 err="1"/>
              <a:t>DisallowEviction</a:t>
            </a:r>
            <a:r>
              <a:rPr lang="en-US" sz="2800" dirty="0"/>
              <a:t> is false by default (like MQTT).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The </a:t>
            </a:r>
            <a:r>
              <a:rPr lang="en-US" sz="2800" dirty="0" err="1"/>
              <a:t>ReadyTask</a:t>
            </a:r>
            <a:r>
              <a:rPr lang="en-US" sz="2800" dirty="0"/>
              <a:t> can be awaited before using the Transport:</a:t>
            </a:r>
          </a:p>
          <a:p>
            <a:pPr lvl="1">
              <a:lnSpc>
                <a:spcPct val="90000"/>
              </a:lnSpc>
              <a:spcBef>
                <a:spcPts val="1000"/>
              </a:spcBef>
            </a:pPr>
            <a:r>
              <a:rPr lang="en-US" sz="2800" dirty="0">
                <a:sym typeface="Wingdings" panose="05000000000000000000" pitchFamily="2" charset="2"/>
              </a:rPr>
              <a:t> </a:t>
            </a:r>
            <a:r>
              <a:rPr lang="en-US" sz="2800" dirty="0"/>
              <a:t>At least one connection has been established </a:t>
            </a:r>
            <a:r>
              <a:rPr lang="en-US" sz="2800" b="1" dirty="0"/>
              <a:t>recently</a:t>
            </a:r>
            <a:r>
              <a:rPr lang="en-US" sz="2800" dirty="0"/>
              <a:t> with the other side</a:t>
            </a:r>
          </a:p>
        </p:txBody>
      </p:sp>
    </p:spTree>
    <p:extLst>
      <p:ext uri="{BB962C8B-B14F-4D97-AF65-F5344CB8AC3E}">
        <p14:creationId xmlns:p14="http://schemas.microsoft.com/office/powerpoint/2010/main" val="39351745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076ECA5-B2D7-A3E2-AE20-A7CA20368183}"/>
              </a:ext>
            </a:extLst>
          </p:cNvPr>
          <p:cNvSpPr/>
          <p:nvPr/>
        </p:nvSpPr>
        <p:spPr>
          <a:xfrm>
            <a:off x="4765638" y="4346089"/>
            <a:ext cx="7067774" cy="249126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63B52CF8-3FE6-8853-772F-8B675D4EA7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2636" y="-31709"/>
            <a:ext cx="6915472" cy="68690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8CEF7E-C184-9ED5-678F-E522EE786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</a:t>
            </a:r>
            <a:br>
              <a:rPr lang="en-US" dirty="0"/>
            </a:br>
            <a:r>
              <a:rPr lang="en-US" dirty="0"/>
              <a:t>Transports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F56818D-148F-7DD5-0B72-C665916F8D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588" y="2299414"/>
            <a:ext cx="4484048" cy="4558586"/>
          </a:xfrm>
        </p:spPr>
        <p:txBody>
          <a:bodyPr>
            <a:normAutofit fontScale="92500" lnSpcReduction="20000"/>
          </a:bodyPr>
          <a:lstStyle/>
          <a:p>
            <a:r>
              <a:rPr lang="en-US" sz="2400" dirty="0"/>
              <a:t>3 classes to specialize.</a:t>
            </a:r>
          </a:p>
          <a:p>
            <a:r>
              <a:rPr lang="en-US" sz="2400" dirty="0"/>
              <a:t>Straight wrappers, no error management required.</a:t>
            </a:r>
          </a:p>
          <a:p>
            <a:r>
              <a:rPr lang="en-US" sz="2400" dirty="0"/>
              <a:t>Package First</a:t>
            </a:r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Example of </a:t>
            </a:r>
            <a:r>
              <a:rPr lang="en-US" sz="2400" dirty="0" err="1"/>
              <a:t>TCPSocket</a:t>
            </a:r>
            <a:endParaRPr lang="en-US" sz="2400" dirty="0"/>
          </a:p>
          <a:p>
            <a:pPr lvl="1"/>
            <a:r>
              <a:rPr lang="en-US" sz="2000" dirty="0" err="1"/>
              <a:t>AddressProtocolName</a:t>
            </a:r>
            <a:r>
              <a:rPr lang="en-US" sz="2000" dirty="0"/>
              <a:t>: </a:t>
            </a:r>
          </a:p>
          <a:p>
            <a:pPr lvl="2"/>
            <a:r>
              <a:rPr lang="en-US" sz="1600" dirty="0"/>
              <a:t>“</a:t>
            </a:r>
            <a:r>
              <a:rPr lang="en-US" sz="1600" dirty="0" err="1"/>
              <a:t>tcp</a:t>
            </a:r>
            <a:r>
              <a:rPr lang="en-US" sz="1600" dirty="0"/>
              <a:t>”</a:t>
            </a:r>
          </a:p>
          <a:p>
            <a:pPr lvl="1"/>
            <a:r>
              <a:rPr lang="en-US" sz="2000" dirty="0" err="1"/>
              <a:t>DefaultListeningAddress</a:t>
            </a:r>
            <a:r>
              <a:rPr lang="en-US" sz="2000" dirty="0"/>
              <a:t>:</a:t>
            </a:r>
          </a:p>
          <a:p>
            <a:pPr lvl="2"/>
            <a:r>
              <a:rPr lang="en-US" sz="1600" dirty="0"/>
              <a:t>new </a:t>
            </a:r>
            <a:r>
              <a:rPr lang="en-US" sz="1600" dirty="0" err="1"/>
              <a:t>IPEndpoint</a:t>
            </a:r>
            <a:r>
              <a:rPr lang="en-US" sz="1600" dirty="0"/>
              <a:t>(IPAddress.Any,37120)</a:t>
            </a:r>
          </a:p>
          <a:p>
            <a:endParaRPr lang="en-US" sz="2400" dirty="0"/>
          </a:p>
          <a:p>
            <a:r>
              <a:rPr lang="en-US" sz="2400" dirty="0"/>
              <a:t>Developers don’t interact with Transports layer.</a:t>
            </a:r>
            <a:endParaRPr lang="en-US" sz="20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14:cNvPr>
              <p14:cNvContentPartPr/>
              <p14:nvPr/>
            </p14:nvContentPartPr>
            <p14:xfrm>
              <a:off x="7894068" y="2881837"/>
              <a:ext cx="1032840" cy="576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40068" y="2773837"/>
                <a:ext cx="114048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278219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F16C2-5FE3-B18B-1F5B-429CD7308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Channels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9622E-A74C-BCB9-B3FA-CB06EC5A31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32477" cy="4351338"/>
          </a:xfrm>
        </p:spPr>
        <p:txBody>
          <a:bodyPr/>
          <a:lstStyle/>
          <a:p>
            <a:r>
              <a:rPr lang="en-US" dirty="0"/>
              <a:t>A Remote’s </a:t>
            </a:r>
            <a:r>
              <a:rPr lang="en-US" dirty="0" err="1"/>
              <a:t>TransportFeature</a:t>
            </a:r>
            <a:r>
              <a:rPr lang="en-US" dirty="0"/>
              <a:t> handles the transport to the other side.</a:t>
            </a:r>
          </a:p>
          <a:p>
            <a:pPr lvl="1"/>
            <a:r>
              <a:rPr lang="en-US" dirty="0"/>
              <a:t>Listener vs. Sender is automatically handled based on the configuration.</a:t>
            </a:r>
          </a:p>
          <a:p>
            <a:pPr lvl="1"/>
            <a:r>
              <a:rPr lang="en-US" dirty="0"/>
              <a:t>The transport technology can be specified. The default is “</a:t>
            </a:r>
            <a:r>
              <a:rPr lang="en-US" dirty="0" err="1"/>
              <a:t>tcp</a:t>
            </a:r>
            <a:r>
              <a:rPr lang="en-US" dirty="0"/>
              <a:t>”.</a:t>
            </a:r>
          </a:p>
          <a:p>
            <a:r>
              <a:rPr lang="en-US" dirty="0"/>
              <a:t>The </a:t>
            </a:r>
            <a:r>
              <a:rPr lang="en-US" dirty="0" err="1"/>
              <a:t>TransportFeatures</a:t>
            </a:r>
            <a:r>
              <a:rPr lang="en-US" dirty="0"/>
              <a:t> exposes the properties relevant to the communication but is not itself in charge of exchanging data.</a:t>
            </a:r>
          </a:p>
          <a:p>
            <a:r>
              <a:rPr lang="en-US" dirty="0"/>
              <a:t>Channels are Features that implements a protocol and exposes it to the developer.</a:t>
            </a:r>
          </a:p>
          <a:p>
            <a:r>
              <a:rPr lang="en-US" dirty="0"/>
              <a:t>Channels implementation provides:</a:t>
            </a:r>
          </a:p>
          <a:p>
            <a:pPr lvl="1"/>
            <a:r>
              <a:rPr lang="en-US" dirty="0"/>
              <a:t>A Protocol that can be in multiple versions.</a:t>
            </a:r>
          </a:p>
          <a:p>
            <a:pPr lvl="1"/>
            <a:r>
              <a:rPr lang="en-US" dirty="0"/>
              <a:t>A way to build and send, receive and parse </a:t>
            </a:r>
            <a:r>
              <a:rPr lang="en-US" dirty="0" err="1"/>
              <a:t>TransportMessage</a:t>
            </a:r>
            <a:r>
              <a:rPr lang="en-US" dirty="0"/>
              <a:t> objects.</a:t>
            </a:r>
          </a:p>
        </p:txBody>
      </p:sp>
    </p:spTree>
    <p:extLst>
      <p:ext uri="{BB962C8B-B14F-4D97-AF65-F5344CB8AC3E}">
        <p14:creationId xmlns:p14="http://schemas.microsoft.com/office/powerpoint/2010/main" val="8574792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DEB0D-75FE-A9E7-AE5D-1A00BE2CB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UNSTABLE REMAINDER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D3F96-4E3A-A64D-A143-5E0F643AB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7173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4F961-5C07-CC54-4D89-C39917A7A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TransportMessage</a:t>
            </a:r>
            <a:endParaRPr lang="en-US" dirty="0"/>
          </a:p>
        </p:txBody>
      </p:sp>
      <p:pic>
        <p:nvPicPr>
          <p:cNvPr id="9" name="Content Placeholder 8" descr="Graphical user interface">
            <a:extLst>
              <a:ext uri="{FF2B5EF4-FFF2-40B4-BE49-F238E27FC236}">
                <a16:creationId xmlns:a16="http://schemas.microsoft.com/office/drawing/2014/main" id="{8F2564D2-6F15-2301-1548-C78BCB9392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3851" y="127222"/>
            <a:ext cx="6684324" cy="533573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166F694-1BE5-D7EE-ACC5-2723D274C19E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0732477" cy="466725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Prefix-Length encoding</a:t>
            </a:r>
          </a:p>
          <a:p>
            <a:pPr lvl="1"/>
            <a:r>
              <a:rPr lang="en-US" dirty="0"/>
              <a:t>Single header byte</a:t>
            </a:r>
          </a:p>
          <a:p>
            <a:pPr lvl="1"/>
            <a:r>
              <a:rPr lang="en-US" dirty="0" err="1"/>
              <a:t>MessageLength</a:t>
            </a:r>
            <a:r>
              <a:rPr lang="en-US" dirty="0"/>
              <a:t> (0 to 4 bytes)</a:t>
            </a:r>
          </a:p>
          <a:p>
            <a:pPr lvl="1"/>
            <a:r>
              <a:rPr lang="en-US" dirty="0"/>
              <a:t>Payload (up to 2 GiB)</a:t>
            </a:r>
          </a:p>
          <a:p>
            <a:endParaRPr lang="en-US" dirty="0"/>
          </a:p>
          <a:p>
            <a:r>
              <a:rPr lang="en-US" dirty="0"/>
              <a:t>Header byte: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L0|L1|CD|R0|R1|P0|P1|P2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L0-L1: number of bytes of the message length.</a:t>
            </a:r>
          </a:p>
          <a:p>
            <a:pPr lvl="1"/>
            <a:r>
              <a:rPr lang="en-US" dirty="0"/>
              <a:t>CD: “Control/ Data” bit.</a:t>
            </a:r>
          </a:p>
          <a:p>
            <a:pPr lvl="1"/>
            <a:r>
              <a:rPr lang="en-US" dirty="0"/>
              <a:t>R0-R1: Reserved for future use.</a:t>
            </a:r>
          </a:p>
          <a:p>
            <a:pPr lvl="1"/>
            <a:r>
              <a:rPr lang="en-US" dirty="0"/>
              <a:t>P0-P2: Protocol number (0 to 7).</a:t>
            </a:r>
          </a:p>
          <a:p>
            <a:endParaRPr lang="en-US" dirty="0"/>
          </a:p>
          <a:p>
            <a:r>
              <a:rPr lang="en-US" dirty="0"/>
              <a:t>The Protocol Number defines the "type" of the message: the writer/serializer that has been used to write the payload and the reader/</a:t>
            </a:r>
            <a:r>
              <a:rPr lang="en-US" dirty="0" err="1"/>
              <a:t>deserializer</a:t>
            </a:r>
            <a:r>
              <a:rPr lang="en-US" dirty="0"/>
              <a:t> that must be used to read it back.</a:t>
            </a:r>
          </a:p>
        </p:txBody>
      </p:sp>
      <p:sp>
        <p:nvSpPr>
          <p:cNvPr id="3" name="Star: 6 Points 2">
            <a:extLst>
              <a:ext uri="{FF2B5EF4-FFF2-40B4-BE49-F238E27FC236}">
                <a16:creationId xmlns:a16="http://schemas.microsoft.com/office/drawing/2014/main" id="{1FA01833-99FE-B7AE-E0AD-029E63353E39}"/>
              </a:ext>
            </a:extLst>
          </p:cNvPr>
          <p:cNvSpPr/>
          <p:nvPr/>
        </p:nvSpPr>
        <p:spPr>
          <a:xfrm>
            <a:off x="6684661" y="2153920"/>
            <a:ext cx="1645920" cy="1473200"/>
          </a:xfrm>
          <a:prstGeom prst="star6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2000016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C278E-8E30-3459-41D7-7185BA86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8 protocols maximal count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1B80D-91E5-6DC7-AB87-2CFAAF0417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65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Only 8 protocols can be expressed.</a:t>
            </a:r>
          </a:p>
          <a:p>
            <a:pPr lvl="1"/>
            <a:r>
              <a:rPr lang="en-US" dirty="0"/>
              <a:t>The “0 Protocol” protocol is reserved: this is the protocol of </a:t>
            </a:r>
            <a:r>
              <a:rPr lang="en-US" dirty="0" err="1"/>
              <a:t>CK.AppIdentity.TransportLayer</a:t>
            </a:r>
            <a:r>
              <a:rPr lang="en-US" dirty="0"/>
              <a:t> itself that handles special messages used to negotiate, accept, reject incoming parties and outgoing connections.</a:t>
            </a:r>
          </a:p>
          <a:p>
            <a:pPr lvl="1"/>
            <a:r>
              <a:rPr lang="en-US" dirty="0"/>
              <a:t>This lets 7 possible protocols. </a:t>
            </a:r>
          </a:p>
          <a:p>
            <a:pPr lvl="1"/>
            <a:endParaRPr lang="en-US" dirty="0"/>
          </a:p>
          <a:p>
            <a:r>
              <a:rPr lang="en-US" dirty="0"/>
              <a:t>This limit applies to a Remote party pair: </a:t>
            </a:r>
          </a:p>
          <a:p>
            <a:pPr lvl="1"/>
            <a:r>
              <a:rPr lang="en-US" dirty="0"/>
              <a:t>There can be any number of possible protocols in an application</a:t>
            </a:r>
          </a:p>
          <a:p>
            <a:pPr lvl="1"/>
            <a:r>
              <a:rPr lang="en-US" dirty="0"/>
              <a:t>2 parties that start to interact initially negotiate the ones they can and want to use. </a:t>
            </a:r>
          </a:p>
          <a:p>
            <a:r>
              <a:rPr lang="en-US" dirty="0"/>
              <a:t>Any Transport between 2 parties can simultaneously support up to 7 different protocols.</a:t>
            </a:r>
          </a:p>
        </p:txBody>
      </p:sp>
    </p:spTree>
    <p:extLst>
      <p:ext uri="{BB962C8B-B14F-4D97-AF65-F5344CB8AC3E}">
        <p14:creationId xmlns:p14="http://schemas.microsoft.com/office/powerpoint/2010/main" val="18203462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456EA-A507-E17F-1FF5-0DDC0C51B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new messages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CC84568-F688-2F94-8756-D5862C7EDE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51656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OutgoingMessageFactory</a:t>
            </a:r>
            <a:r>
              <a:rPr lang="en-US" dirty="0"/>
              <a:t> can </a:t>
            </a:r>
            <a:br>
              <a:rPr lang="en-US" dirty="0"/>
            </a:br>
            <a:r>
              <a:rPr lang="en-US" dirty="0"/>
              <a:t>create new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Messages must be disposed once done with them</a:t>
            </a:r>
          </a:p>
          <a:p>
            <a:pPr lvl="1"/>
            <a:r>
              <a:rPr lang="en-US" dirty="0"/>
              <a:t>Allocated memory is reused.</a:t>
            </a:r>
          </a:p>
          <a:p>
            <a:r>
              <a:rPr lang="en-US" dirty="0"/>
              <a:t>Messages can be “Retained” when needed (reference counting)</a:t>
            </a:r>
          </a:p>
          <a:p>
            <a:r>
              <a:rPr lang="en-US" dirty="0" err="1"/>
              <a:t>CreateStatic</a:t>
            </a:r>
            <a:r>
              <a:rPr lang="en-US" dirty="0"/>
              <a:t> returns messages don’t need to be disposed.</a:t>
            </a:r>
          </a:p>
          <a:p>
            <a:pPr lvl="1"/>
            <a:r>
              <a:rPr lang="en-US" dirty="0"/>
              <a:t>Dispose()/Retain() calls are ignored.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01A3D9-3364-B380-BE27-B3376CE6CD06}"/>
              </a:ext>
            </a:extLst>
          </p:cNvPr>
          <p:cNvSpPr txBox="1"/>
          <p:nvPr/>
        </p:nvSpPr>
        <p:spPr>
          <a:xfrm>
            <a:off x="1078524" y="2715481"/>
            <a:ext cx="9448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IBufferWriter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MutableSequence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16" name="Content Placeholder 15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B9C368B7-B971-1A32-863D-EFEC2CD1A6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5630" y="515815"/>
            <a:ext cx="5716130" cy="2047266"/>
          </a:xfrm>
        </p:spPr>
      </p:pic>
      <p:sp>
        <p:nvSpPr>
          <p:cNvPr id="3" name="Star: 6 Points 2">
            <a:extLst>
              <a:ext uri="{FF2B5EF4-FFF2-40B4-BE49-F238E27FC236}">
                <a16:creationId xmlns:a16="http://schemas.microsoft.com/office/drawing/2014/main" id="{D5A5D772-160E-343F-FF5F-6DE7C09F6603}"/>
              </a:ext>
            </a:extLst>
          </p:cNvPr>
          <p:cNvSpPr/>
          <p:nvPr/>
        </p:nvSpPr>
        <p:spPr>
          <a:xfrm>
            <a:off x="2051701" y="60753"/>
            <a:ext cx="1645920" cy="1473200"/>
          </a:xfrm>
          <a:prstGeom prst="star6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35739206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8A174E-C40C-EE9F-57EC-1C6C06A737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8607669" cy="451656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IncomingMessageFactory</a:t>
            </a:r>
            <a:r>
              <a:rPr lang="en-US" dirty="0"/>
              <a:t> can read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From any asynchronous function that can fill a buffer with an exact count of bytes.</a:t>
            </a:r>
          </a:p>
          <a:p>
            <a:r>
              <a:rPr lang="en-US" dirty="0"/>
              <a:t>The developer never interacts directly with an </a:t>
            </a:r>
            <a:r>
              <a:rPr lang="en-US" dirty="0" err="1"/>
              <a:t>IncomingMessageFactory</a:t>
            </a:r>
            <a:r>
              <a:rPr lang="en-US" dirty="0"/>
              <a:t>.</a:t>
            </a:r>
          </a:p>
          <a:p>
            <a:r>
              <a:rPr lang="en-US" dirty="0"/>
              <a:t>Concrete Transport implementations provide the 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dirty="0"/>
              <a:t> function.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D56D0-2F2C-42C4-3EEA-E4CCE70C9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incoming messages</a:t>
            </a:r>
          </a:p>
        </p:txBody>
      </p:sp>
      <p:pic>
        <p:nvPicPr>
          <p:cNvPr id="5" name="Content Placeholder 4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CD2D2A67-F26C-B52C-0846-6487A7DF0B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1200" y="146641"/>
            <a:ext cx="2454795" cy="6564718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FAAF37-5FFB-5FCF-739F-A7F6192E67D4}"/>
              </a:ext>
            </a:extLst>
          </p:cNvPr>
          <p:cNvSpPr txBox="1"/>
          <p:nvPr/>
        </p:nvSpPr>
        <p:spPr>
          <a:xfrm>
            <a:off x="993531" y="2329579"/>
            <a:ext cx="845233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Task&lt;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ReadAsync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&lt;Memory&lt;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ValueTask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maxMessageLength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.MaxValue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cancellation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3" name="Star: 6 Points 2">
            <a:extLst>
              <a:ext uri="{FF2B5EF4-FFF2-40B4-BE49-F238E27FC236}">
                <a16:creationId xmlns:a16="http://schemas.microsoft.com/office/drawing/2014/main" id="{1967DF75-EF55-D3BE-2790-7398E3AE6458}"/>
              </a:ext>
            </a:extLst>
          </p:cNvPr>
          <p:cNvSpPr/>
          <p:nvPr/>
        </p:nvSpPr>
        <p:spPr>
          <a:xfrm>
            <a:off x="7353300" y="146641"/>
            <a:ext cx="1645920" cy="1473200"/>
          </a:xfrm>
          <a:prstGeom prst="star6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10742436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12CBA-34FC-5769-694A-E657A8051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Channel Feature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AACCB99C-C551-6BC4-005D-BC5314B48110}"/>
              </a:ext>
            </a:extLst>
          </p:cNvPr>
          <p:cNvSpPr txBox="1">
            <a:spLocks/>
          </p:cNvSpPr>
          <p:nvPr/>
        </p:nvSpPr>
        <p:spPr>
          <a:xfrm>
            <a:off x="556592" y="1890023"/>
            <a:ext cx="5165782" cy="4421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3 classes to specialize.</a:t>
            </a:r>
          </a:p>
          <a:p>
            <a:pPr lvl="1"/>
            <a:r>
              <a:rPr lang="en-US" sz="2000" dirty="0"/>
              <a:t>3 abstract methods.</a:t>
            </a:r>
          </a:p>
          <a:p>
            <a:pPr lvl="1"/>
            <a:endParaRPr lang="en-US" sz="2000" dirty="0"/>
          </a:p>
          <a:p>
            <a:r>
              <a:rPr lang="en-US" sz="2400" dirty="0"/>
              <a:t>Protocols can optionally be versioned.</a:t>
            </a:r>
          </a:p>
          <a:p>
            <a:pPr lvl="1"/>
            <a:r>
              <a:rPr lang="en-US" sz="2000" dirty="0"/>
              <a:t>Negotiation is automatic.</a:t>
            </a:r>
          </a:p>
          <a:p>
            <a:pPr lvl="1"/>
            <a:endParaRPr lang="en-US" sz="2000" dirty="0"/>
          </a:p>
          <a:p>
            <a:r>
              <a:rPr lang="en-US" sz="2400" dirty="0"/>
              <a:t>Driver’s type name must be suffixed by  "</a:t>
            </a:r>
            <a:r>
              <a:rPr lang="en-US" sz="2400" dirty="0" err="1"/>
              <a:t>ChannelFeatureDriver</a:t>
            </a:r>
            <a:r>
              <a:rPr lang="en-US" sz="2400" dirty="0"/>
              <a:t>“.</a:t>
            </a:r>
          </a:p>
        </p:txBody>
      </p:sp>
      <p:pic>
        <p:nvPicPr>
          <p:cNvPr id="10" name="Content Placeholder 9" descr="Diagram">
            <a:extLst>
              <a:ext uri="{FF2B5EF4-FFF2-40B4-BE49-F238E27FC236}">
                <a16:creationId xmlns:a16="http://schemas.microsoft.com/office/drawing/2014/main" id="{B9505869-E6FE-3131-7CB2-E37EF0D590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8322" y="75482"/>
            <a:ext cx="6302438" cy="5410917"/>
          </a:xfrm>
        </p:spPr>
      </p:pic>
    </p:spTree>
    <p:extLst>
      <p:ext uri="{BB962C8B-B14F-4D97-AF65-F5344CB8AC3E}">
        <p14:creationId xmlns:p14="http://schemas.microsoft.com/office/powerpoint/2010/main" val="11746345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BD18F-1304-001E-4845-8CF4F7B6E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CEFAF-0B14-02E7-656C-CF64B5F5F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more a sample than a useful channel.</a:t>
            </a:r>
            <a:br>
              <a:rPr lang="en-US" dirty="0"/>
            </a:br>
            <a:endParaRPr lang="en-US" dirty="0"/>
          </a:p>
          <a:p>
            <a:r>
              <a:rPr lang="en-US" dirty="0"/>
              <a:t>Using a Channel</a:t>
            </a:r>
          </a:p>
          <a:p>
            <a:pPr lvl="1"/>
            <a:r>
              <a:rPr lang="en-US" dirty="0" err="1">
                <a:hlinkClick r:id="rId2"/>
              </a:rPr>
              <a:t>CK.AppIdentity.BlobChannel.Tests</a:t>
            </a:r>
            <a:r>
              <a:rPr lang="en-US" dirty="0">
                <a:hlinkClick r:id="rId2"/>
              </a:rPr>
              <a:t>/</a:t>
            </a:r>
            <a:r>
              <a:rPr lang="en-US" dirty="0" err="1">
                <a:hlinkClick r:id="rId2"/>
              </a:rPr>
              <a:t>BasicExchangeTests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dirty="0" err="1"/>
              <a:t>CK.AppIdentity.BlobChannel</a:t>
            </a:r>
            <a:r>
              <a:rPr lang="en-US" dirty="0"/>
              <a:t> implementation</a:t>
            </a:r>
          </a:p>
          <a:p>
            <a:pPr lvl="1"/>
            <a:r>
              <a:rPr lang="en-US" dirty="0" err="1">
                <a:hlinkClick r:id="rId3"/>
              </a:rPr>
              <a:t>BlobChannelFeatureDriver.cs</a:t>
            </a:r>
            <a:endParaRPr lang="en-US" dirty="0"/>
          </a:p>
          <a:p>
            <a:pPr lvl="1"/>
            <a:r>
              <a:rPr lang="en-US" dirty="0" err="1">
                <a:hlinkClick r:id="rId4"/>
              </a:rPr>
              <a:t>BlobChannelFeature.cs</a:t>
            </a:r>
            <a:endParaRPr lang="en-US" dirty="0"/>
          </a:p>
          <a:p>
            <a:pPr lvl="1"/>
            <a:r>
              <a:rPr lang="en-US" dirty="0" err="1">
                <a:hlinkClick r:id="rId5"/>
              </a:rPr>
              <a:t>BlobChannelFeature.Protocol.cs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774651-B1CD-A9F7-EE21-593DAEFC48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2522" y="4391215"/>
            <a:ext cx="3276987" cy="1324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4871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DAF23AD5-4669-6BB8-3F80-414BA1D47C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6974" y="142035"/>
            <a:ext cx="4298052" cy="472480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7392EC-8AF7-DB6B-E725-643E95A95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User Authentication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84768-E9B2-29E2-8DA2-81195578C9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880" y="1825624"/>
            <a:ext cx="9032240" cy="446341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“</a:t>
            </a:r>
            <a:r>
              <a:rPr lang="en-US" dirty="0" err="1"/>
              <a:t>Authentified</a:t>
            </a:r>
            <a:r>
              <a:rPr lang="en-US" dirty="0"/>
              <a:t> Commands” (from </a:t>
            </a:r>
            <a:r>
              <a:rPr lang="en-US" dirty="0" err="1"/>
              <a:t>CK.Auth.Cris</a:t>
            </a:r>
            <a:r>
              <a:rPr lang="en-US" dirty="0"/>
              <a:t>)</a:t>
            </a:r>
          </a:p>
          <a:p>
            <a:r>
              <a:rPr lang="en-US" dirty="0"/>
              <a:t>The </a:t>
            </a:r>
            <a:r>
              <a:rPr lang="en-US" dirty="0" err="1"/>
              <a:t>IAuthenticationInfo</a:t>
            </a:r>
            <a:r>
              <a:rPr lang="en-US" dirty="0"/>
              <a:t> service is the key</a:t>
            </a:r>
          </a:p>
          <a:p>
            <a:pPr lvl="1"/>
            <a:r>
              <a:rPr lang="en-US" dirty="0"/>
              <a:t>This is a “Ubiquitous Endpoint” service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This service is resolved and secured by the Endpoint</a:t>
            </a:r>
          </a:p>
          <a:p>
            <a:pPr lvl="1"/>
            <a:r>
              <a:rPr lang="en-US" dirty="0"/>
              <a:t>The global “Web” endpoint uses an encrypted token.</a:t>
            </a:r>
          </a:p>
          <a:p>
            <a:r>
              <a:rPr lang="en-US" dirty="0"/>
              <a:t>“</a:t>
            </a:r>
            <a:r>
              <a:rPr lang="en-US" dirty="0" err="1"/>
              <a:t>Authentified</a:t>
            </a:r>
            <a:r>
              <a:rPr lang="en-US" dirty="0"/>
              <a:t> Commands” cannot be fooled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ActorId</a:t>
            </a:r>
            <a:r>
              <a:rPr lang="en-US" dirty="0"/>
              <a:t>, </a:t>
            </a:r>
            <a:r>
              <a:rPr lang="en-US" dirty="0" err="1"/>
              <a:t>DeviceId</a:t>
            </a:r>
            <a:r>
              <a:rPr lang="en-US" dirty="0"/>
              <a:t> and </a:t>
            </a:r>
            <a:r>
              <a:rPr lang="en-US" dirty="0" err="1"/>
              <a:t>ActualActorId</a:t>
            </a:r>
            <a:r>
              <a:rPr lang="en-US" dirty="0"/>
              <a:t> are checked against the secured </a:t>
            </a:r>
            <a:r>
              <a:rPr lang="en-US" dirty="0" err="1"/>
              <a:t>IAuthenticationInfo</a:t>
            </a:r>
            <a:r>
              <a:rPr lang="en-US" dirty="0"/>
              <a:t> service.</a:t>
            </a:r>
          </a:p>
        </p:txBody>
      </p:sp>
    </p:spTree>
    <p:extLst>
      <p:ext uri="{BB962C8B-B14F-4D97-AF65-F5344CB8AC3E}">
        <p14:creationId xmlns:p14="http://schemas.microsoft.com/office/powerpoint/2010/main" val="35239507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698CC-396A-8454-36E2-A15EC4E6F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and Commands through Parties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1C601-D62B-370A-E39E-2DF1FE415F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“$Trolley1” can send an Authenticated Command to “$Box” in the name of (Alice,3712).</a:t>
            </a:r>
          </a:p>
          <a:p>
            <a:r>
              <a:rPr lang="en-US" dirty="0"/>
              <a:t>“$Trolley1” must provide a proof to “$Box” that Alice is the “real” Alice (otherwise the Authenticated Command will be rejected).</a:t>
            </a:r>
          </a:p>
          <a:p>
            <a:r>
              <a:rPr lang="en-US" dirty="0"/>
              <a:t>“$Trolley1” must first obtain this proof by:</a:t>
            </a:r>
          </a:p>
          <a:p>
            <a:pPr lvl="1"/>
            <a:r>
              <a:rPr lang="en-US" dirty="0"/>
              <a:t>Let Alice logins herself into a “Central User Directory” shared with “$Box”</a:t>
            </a:r>
          </a:p>
          <a:p>
            <a:pPr lvl="1"/>
            <a:r>
              <a:rPr lang="en-US" dirty="0"/>
              <a:t>The proof must be Alice’s </a:t>
            </a:r>
            <a:r>
              <a:rPr lang="en-US" dirty="0" err="1"/>
              <a:t>IAuthenticationInfo</a:t>
            </a:r>
            <a:r>
              <a:rPr lang="en-US" dirty="0"/>
              <a:t> and a digital signature.</a:t>
            </a:r>
          </a:p>
          <a:p>
            <a:pPr lvl="1"/>
            <a:r>
              <a:rPr lang="en-US" dirty="0"/>
              <a:t>“$Box” can verify that the signature has been generated by the “Central User Directory” for “$Trolley1” and that the </a:t>
            </a:r>
            <a:r>
              <a:rPr lang="en-US" dirty="0" err="1"/>
              <a:t>IAuthenticationInfo</a:t>
            </a:r>
            <a:r>
              <a:rPr lang="en-US" dirty="0"/>
              <a:t> has not been tampered.</a:t>
            </a:r>
          </a:p>
        </p:txBody>
      </p:sp>
    </p:spTree>
    <p:extLst>
      <p:ext uri="{BB962C8B-B14F-4D97-AF65-F5344CB8AC3E}">
        <p14:creationId xmlns:p14="http://schemas.microsoft.com/office/powerpoint/2010/main" val="9738746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CBFFE-4E3A-2E51-3538-8811F1401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and Commands through Parties (2/2)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F4F95B-3516-EFB7-2D85-F2244EED8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When “$Trolley1” sends a Command in the name of Alice to “$Box”…</a:t>
            </a:r>
          </a:p>
          <a:p>
            <a:pPr lvl="1"/>
            <a:r>
              <a:rPr lang="en-US" dirty="0"/>
              <a:t>it also sends the proof.</a:t>
            </a:r>
          </a:p>
          <a:p>
            <a:r>
              <a:rPr lang="en-US" dirty="0"/>
              <a:t>“$Box” </a:t>
            </a:r>
            <a:r>
              <a:rPr lang="en-US" dirty="0" err="1"/>
              <a:t>AppIdentity’s</a:t>
            </a:r>
            <a:r>
              <a:rPr lang="en-US" dirty="0"/>
              <a:t> endpoint receives the command and the proof.</a:t>
            </a:r>
          </a:p>
          <a:p>
            <a:pPr lvl="1"/>
            <a:r>
              <a:rPr lang="en-US" dirty="0"/>
              <a:t>It builds a “</a:t>
            </a:r>
            <a:r>
              <a:rPr lang="en-US" dirty="0" err="1"/>
              <a:t>ScopedData</a:t>
            </a:r>
            <a:r>
              <a:rPr lang="en-US" dirty="0"/>
              <a:t>” with the proof and the fact that it is “$Trolley1” that sent the command.</a:t>
            </a:r>
          </a:p>
          <a:p>
            <a:pPr lvl="1"/>
            <a:r>
              <a:rPr lang="en-US" dirty="0"/>
              <a:t>Its Endpoint is configured to resolve the </a:t>
            </a:r>
            <a:r>
              <a:rPr lang="en-US" dirty="0" err="1"/>
              <a:t>IAuthenticationInfo</a:t>
            </a:r>
            <a:r>
              <a:rPr lang="en-US" dirty="0"/>
              <a:t> service by:</a:t>
            </a:r>
          </a:p>
          <a:p>
            <a:pPr lvl="2"/>
            <a:r>
              <a:rPr lang="en-US" dirty="0"/>
              <a:t>Accessing the </a:t>
            </a:r>
            <a:r>
              <a:rPr lang="en-US" dirty="0" err="1"/>
              <a:t>ScopedData’s</a:t>
            </a:r>
            <a:r>
              <a:rPr lang="en-US" dirty="0"/>
              <a:t> proof and sender.</a:t>
            </a:r>
          </a:p>
          <a:p>
            <a:pPr lvl="2"/>
            <a:r>
              <a:rPr lang="en-US" dirty="0"/>
              <a:t>Verifying the signature and on success, returns the </a:t>
            </a:r>
            <a:r>
              <a:rPr lang="en-US" dirty="0" err="1"/>
              <a:t>IAuthenticationInfo</a:t>
            </a:r>
            <a:r>
              <a:rPr lang="en-US" dirty="0"/>
              <a:t>.</a:t>
            </a:r>
          </a:p>
          <a:p>
            <a:r>
              <a:rPr lang="en-US" dirty="0"/>
              <a:t>“$Box” validates and executes the command</a:t>
            </a:r>
          </a:p>
          <a:p>
            <a:pPr lvl="1"/>
            <a:r>
              <a:rPr lang="en-US" dirty="0"/>
              <a:t>Commands are executed in the background by runners in a scoped service container parametrized with the </a:t>
            </a:r>
            <a:r>
              <a:rPr lang="en-US" dirty="0" err="1"/>
              <a:t>ScopedData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If any service involved in the validation or execution of the command requires the </a:t>
            </a:r>
            <a:r>
              <a:rPr lang="en-US" dirty="0" err="1"/>
              <a:t>IAuthenticationInfo</a:t>
            </a:r>
            <a:r>
              <a:rPr lang="en-US" dirty="0"/>
              <a:t>, it is resolved.</a:t>
            </a:r>
          </a:p>
          <a:p>
            <a:pPr lvl="1"/>
            <a:r>
              <a:rPr lang="en-US" dirty="0"/>
              <a:t>Command execution outcomes (Validation result, events and result) are sent back to “$Trolley1”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95312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8D4AF-53E9-FC4C-72A8-AAC9BDAA1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</a:t>
            </a:r>
            <a:r>
              <a:rPr lang="en-US" dirty="0" err="1"/>
              <a:t>PartyAuthenticationToken</a:t>
            </a:r>
            <a:r>
              <a:rPr lang="en-US" dirty="0"/>
              <a:t>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8F5DD-D01F-FADF-46B5-1C37122F4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Contains at least (</a:t>
            </a:r>
            <a:r>
              <a:rPr lang="en-US" dirty="0" err="1"/>
              <a:t>OpenId</a:t>
            </a:r>
            <a:r>
              <a:rPr lang="en-US" dirty="0"/>
              <a:t> compliant)</a:t>
            </a:r>
          </a:p>
          <a:p>
            <a:pPr lvl="1"/>
            <a:r>
              <a:rPr lang="en-US" dirty="0"/>
              <a:t>The </a:t>
            </a:r>
            <a:r>
              <a:rPr lang="en-US" b="1" dirty="0"/>
              <a:t>sub</a:t>
            </a:r>
            <a:r>
              <a:rPr lang="en-US" dirty="0"/>
              <a:t>ject: the </a:t>
            </a:r>
            <a:r>
              <a:rPr lang="en-US" dirty="0" err="1"/>
              <a:t>IAuthenticationInfo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with its </a:t>
            </a:r>
            <a:r>
              <a:rPr lang="en-US" dirty="0" err="1"/>
              <a:t>CriticalExpires</a:t>
            </a:r>
            <a:r>
              <a:rPr lang="en-US" dirty="0"/>
              <a:t> and </a:t>
            </a:r>
            <a:r>
              <a:rPr lang="en-US" b="1" dirty="0"/>
              <a:t>Exp</a:t>
            </a:r>
            <a:r>
              <a:rPr lang="en-US" dirty="0"/>
              <a:t>ires dates).</a:t>
            </a:r>
          </a:p>
          <a:p>
            <a:pPr lvl="1"/>
            <a:r>
              <a:rPr lang="en-US" dirty="0"/>
              <a:t>The </a:t>
            </a:r>
            <a:r>
              <a:rPr lang="en-US" b="1" dirty="0"/>
              <a:t>iss</a:t>
            </a:r>
            <a:r>
              <a:rPr lang="en-US" dirty="0"/>
              <a:t>uer: the “Central User Directory” identity full name.</a:t>
            </a:r>
          </a:p>
          <a:p>
            <a:pPr lvl="1"/>
            <a:r>
              <a:rPr lang="en-US" b="1" dirty="0"/>
              <a:t>alg</a:t>
            </a:r>
            <a:r>
              <a:rPr lang="en-US" dirty="0"/>
              <a:t>orithm and key size should be decided and fixed (best practice – may be overridden later).</a:t>
            </a:r>
          </a:p>
          <a:p>
            <a:r>
              <a:rPr lang="en-US" dirty="0"/>
              <a:t>Options (more </a:t>
            </a:r>
            <a:r>
              <a:rPr lang="en-US" dirty="0" err="1"/>
              <a:t>Oauth</a:t>
            </a:r>
            <a:r>
              <a:rPr lang="en-US" dirty="0"/>
              <a:t> than </a:t>
            </a:r>
            <a:r>
              <a:rPr lang="en-US" dirty="0" err="1"/>
              <a:t>OpenId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The </a:t>
            </a:r>
            <a:r>
              <a:rPr lang="en-US" b="1" dirty="0"/>
              <a:t>aud</a:t>
            </a:r>
            <a:r>
              <a:rPr lang="en-US" dirty="0"/>
              <a:t>ience: the “$Box” identity full name.</a:t>
            </a:r>
          </a:p>
          <a:p>
            <a:pPr lvl="1"/>
            <a:r>
              <a:rPr lang="en-US" dirty="0"/>
              <a:t>“client” or “origin”: the “$Trolley1” identity full name to which the token has been delivered.</a:t>
            </a:r>
          </a:p>
          <a:p>
            <a:r>
              <a:rPr lang="en-US" dirty="0"/>
              <a:t>Open questions</a:t>
            </a:r>
          </a:p>
          <a:p>
            <a:pPr lvl="1"/>
            <a:r>
              <a:rPr lang="en-US" dirty="0"/>
              <a:t>“issued at” (</a:t>
            </a:r>
            <a:r>
              <a:rPr lang="en-US" b="1" dirty="0" err="1"/>
              <a:t>iat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“not before” (</a:t>
            </a:r>
            <a:r>
              <a:rPr lang="en-US" b="1" dirty="0" err="1"/>
              <a:t>nbf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Key identifier (</a:t>
            </a:r>
            <a:r>
              <a:rPr lang="en-US" b="1" dirty="0"/>
              <a:t>kid</a:t>
            </a:r>
            <a:r>
              <a:rPr lang="en-US" dirty="0"/>
              <a:t>) or not.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77563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A6962-B8F6-250D-79FF-D57BEC59F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Alice gets her Token?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3217C-4B1B-5541-FF3F-6319629D1A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74680" cy="435133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Context: Alice’s application ($Trolley1) is NOT a full backend with a User store.</a:t>
            </a:r>
          </a:p>
          <a:p>
            <a:pPr lvl="1"/>
            <a:r>
              <a:rPr lang="en-US" dirty="0"/>
              <a:t>It cannot “log” anybody, it is a basic “agent”, a “satellite software”</a:t>
            </a:r>
          </a:p>
          <a:p>
            <a:pPr lvl="1"/>
            <a:r>
              <a:rPr lang="en-US" dirty="0" err="1"/>
              <a:t>CK.AspNet.Auth</a:t>
            </a:r>
            <a:r>
              <a:rPr lang="en-US" dirty="0"/>
              <a:t> cannot be used: it is dedicated to the “</a:t>
            </a:r>
            <a:r>
              <a:rPr lang="en-US" dirty="0" err="1"/>
              <a:t>CentralUserRepository</a:t>
            </a:r>
            <a:r>
              <a:rPr lang="en-US" dirty="0"/>
              <a:t>”.</a:t>
            </a:r>
          </a:p>
          <a:p>
            <a:r>
              <a:rPr lang="en-US" dirty="0"/>
              <a:t>Best: the front app uses </a:t>
            </a:r>
            <a:r>
              <a:rPr lang="en-US" dirty="0" err="1"/>
              <a:t>wfa</a:t>
            </a:r>
            <a:r>
              <a:rPr lang="en-US" dirty="0"/>
              <a:t> (</a:t>
            </a:r>
            <a:r>
              <a:rPr lang="en-US" dirty="0" err="1"/>
              <a:t>js</a:t>
            </a:r>
            <a:r>
              <a:rPr lang="en-US" dirty="0"/>
              <a:t>) and everything works…</a:t>
            </a:r>
          </a:p>
          <a:p>
            <a:pPr lvl="1"/>
            <a:r>
              <a:rPr lang="en-US" dirty="0"/>
              <a:t>Its backend acts as if </a:t>
            </a:r>
            <a:r>
              <a:rPr lang="en-US" dirty="0" err="1"/>
              <a:t>CK.AspNet.Auth</a:t>
            </a:r>
            <a:r>
              <a:rPr lang="en-US" dirty="0"/>
              <a:t> was used.</a:t>
            </a:r>
          </a:p>
          <a:p>
            <a:pPr lvl="1"/>
            <a:r>
              <a:rPr lang="en-US" dirty="0"/>
              <a:t>We “just” need a middleware that handles these routes</a:t>
            </a:r>
          </a:p>
          <a:p>
            <a:pPr lvl="2"/>
            <a:r>
              <a:rPr lang="en-US" dirty="0"/>
              <a:t>/.</a:t>
            </a:r>
            <a:r>
              <a:rPr lang="en-US" dirty="0" err="1"/>
              <a:t>webFront</a:t>
            </a:r>
            <a:endParaRPr lang="en-US" dirty="0"/>
          </a:p>
          <a:p>
            <a:pPr lvl="3"/>
            <a:r>
              <a:rPr lang="en-US" dirty="0"/>
              <a:t>/token</a:t>
            </a:r>
          </a:p>
          <a:p>
            <a:pPr lvl="3"/>
            <a:r>
              <a:rPr lang="en-US" dirty="0"/>
              <a:t>/c</a:t>
            </a:r>
          </a:p>
          <a:p>
            <a:pPr lvl="4"/>
            <a:r>
              <a:rPr lang="en-US" dirty="0"/>
              <a:t>/refresh</a:t>
            </a:r>
          </a:p>
          <a:p>
            <a:pPr lvl="4"/>
            <a:r>
              <a:rPr lang="en-US" dirty="0"/>
              <a:t>/</a:t>
            </a:r>
            <a:r>
              <a:rPr lang="en-US" dirty="0" err="1"/>
              <a:t>basicLogin</a:t>
            </a:r>
            <a:endParaRPr lang="en-US" dirty="0"/>
          </a:p>
          <a:p>
            <a:pPr lvl="4"/>
            <a:r>
              <a:rPr lang="en-US" dirty="0"/>
              <a:t>/</a:t>
            </a:r>
            <a:r>
              <a:rPr lang="en-US" dirty="0" err="1"/>
              <a:t>startLogin</a:t>
            </a:r>
            <a:endParaRPr lang="en-US" dirty="0"/>
          </a:p>
          <a:p>
            <a:pPr lvl="4"/>
            <a:r>
              <a:rPr lang="en-US" dirty="0"/>
              <a:t>/logout</a:t>
            </a:r>
          </a:p>
          <a:p>
            <a:pPr lvl="4"/>
            <a:r>
              <a:rPr lang="en-US" dirty="0"/>
              <a:t>/impersonate</a:t>
            </a:r>
          </a:p>
          <a:p>
            <a:pPr lvl="4"/>
            <a:r>
              <a:rPr lang="en-US" dirty="0"/>
              <a:t>/</a:t>
            </a:r>
            <a:r>
              <a:rPr lang="en-US" dirty="0" err="1"/>
              <a:t>unsafeDirectLogin</a:t>
            </a:r>
            <a:r>
              <a:rPr lang="en-US" dirty="0"/>
              <a:t> =&gt; 403 Forbidden</a:t>
            </a:r>
          </a:p>
          <a:p>
            <a:pPr lvl="4"/>
            <a:endParaRPr lang="en-US" dirty="0"/>
          </a:p>
          <a:p>
            <a:r>
              <a:rPr lang="en-US" dirty="0"/>
              <a:t>It seems far easier to say than to implement this </a:t>
            </a:r>
            <a:r>
              <a:rPr lang="en-US" dirty="0">
                <a:sym typeface="Wingdings" panose="05000000000000000000" pitchFamily="2" charset="2"/>
              </a:rPr>
              <a:t>.</a:t>
            </a:r>
            <a:endParaRPr lang="en-US" dirty="0"/>
          </a:p>
          <a:p>
            <a:pPr lvl="2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71E99E08-01ED-CE53-82EC-87974EE22779}"/>
              </a:ext>
            </a:extLst>
          </p:cNvPr>
          <p:cNvSpPr/>
          <p:nvPr/>
        </p:nvSpPr>
        <p:spPr>
          <a:xfrm>
            <a:off x="5618480" y="3738880"/>
            <a:ext cx="406400" cy="145288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Bent-Up 8">
            <a:extLst>
              <a:ext uri="{FF2B5EF4-FFF2-40B4-BE49-F238E27FC236}">
                <a16:creationId xmlns:a16="http://schemas.microsoft.com/office/drawing/2014/main" id="{83523983-9D55-A483-47C8-7C4E0AEA468A}"/>
              </a:ext>
            </a:extLst>
          </p:cNvPr>
          <p:cNvSpPr/>
          <p:nvPr/>
        </p:nvSpPr>
        <p:spPr>
          <a:xfrm>
            <a:off x="6024880" y="2697163"/>
            <a:ext cx="2682240" cy="1813560"/>
          </a:xfrm>
          <a:prstGeom prst="bentUpArrow">
            <a:avLst>
              <a:gd name="adj1" fmla="val 5392"/>
              <a:gd name="adj2" fmla="val 25000"/>
              <a:gd name="adj3" fmla="val 2275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338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3CFE8-B3DD-1DE3-9BE3-65A7A511C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Alice gets her Token? (2/2)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51F6E-6D6D-6002-23CE-8ADA16FF0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“Use the standard Luke!”</a:t>
            </a:r>
          </a:p>
          <a:p>
            <a:pPr lvl="1"/>
            <a:r>
              <a:rPr lang="en-US" dirty="0"/>
              <a:t>The backend has only OIDC authentication bound to the “Central User Repository” and then use 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41219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30CD7-8283-9031-1738-32DC1DF85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F859C-4726-43EF-F0A8-B73939B70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/>
              <a:t>Cris</a:t>
            </a:r>
            <a:r>
              <a:rPr lang="en-US" dirty="0"/>
              <a:t> feature (next slide).</a:t>
            </a:r>
          </a:p>
          <a:p>
            <a:r>
              <a:rPr lang="en-US" dirty="0"/>
              <a:t>Enlistment of new Parties: </a:t>
            </a:r>
            <a:r>
              <a:rPr lang="en-US" dirty="0" err="1"/>
              <a:t>AcceptUri</a:t>
            </a:r>
            <a:r>
              <a:rPr lang="en-US" dirty="0"/>
              <a:t> &amp; </a:t>
            </a:r>
            <a:r>
              <a:rPr lang="en-US" dirty="0" err="1"/>
              <a:t>UnknownRemote</a:t>
            </a:r>
            <a:endParaRPr lang="en-US" dirty="0"/>
          </a:p>
          <a:p>
            <a:r>
              <a:rPr lang="en-US" dirty="0"/>
              <a:t>Poco store (</a:t>
            </a:r>
            <a:r>
              <a:rPr lang="en-US" dirty="0">
                <a:hlinkClick r:id="rId2"/>
              </a:rPr>
              <a:t>https://github.com/microsoft/FASTER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KV or Log?</a:t>
            </a:r>
          </a:p>
          <a:p>
            <a:pPr lvl="1"/>
            <a:r>
              <a:rPr lang="en-US" dirty="0"/>
              <a:t>For the moment, we can live with a in-memory only store.</a:t>
            </a:r>
          </a:p>
          <a:p>
            <a:r>
              <a:rPr lang="en-US" dirty="0"/>
              <a:t>“X509Store” (</a:t>
            </a:r>
            <a:r>
              <a:rPr lang="en-US" dirty="0" err="1"/>
              <a:t>.Net</a:t>
            </a:r>
            <a:r>
              <a:rPr lang="en-US" dirty="0"/>
              <a:t> core or not?)</a:t>
            </a:r>
          </a:p>
          <a:p>
            <a:pPr lvl="1"/>
            <a:r>
              <a:rPr lang="en-US" dirty="0"/>
              <a:t>First step</a:t>
            </a:r>
          </a:p>
          <a:p>
            <a:pPr lvl="2"/>
            <a:r>
              <a:rPr lang="en-US" dirty="0"/>
              <a:t>The primary signing certificate that identifies the party.</a:t>
            </a:r>
          </a:p>
          <a:p>
            <a:pPr lvl="2"/>
            <a:r>
              <a:rPr lang="en-US" dirty="0"/>
              <a:t>Rolling it (or not?)</a:t>
            </a:r>
          </a:p>
          <a:p>
            <a:pPr lvl="1"/>
            <a:r>
              <a:rPr lang="en-US" dirty="0"/>
              <a:t>Other certificates</a:t>
            </a:r>
          </a:p>
          <a:p>
            <a:pPr lvl="2"/>
            <a:r>
              <a:rPr lang="en-US" dirty="0"/>
              <a:t>Name for them?</a:t>
            </a:r>
          </a:p>
          <a:p>
            <a:pPr lvl="2"/>
            <a:r>
              <a:rPr lang="en-US" dirty="0"/>
              <a:t>Rolling?</a:t>
            </a:r>
          </a:p>
          <a:p>
            <a:pPr lvl="2"/>
            <a:r>
              <a:rPr lang="en-US" dirty="0"/>
              <a:t>Orchard use the X509Store only for its primary certificate, others are on disk, optionally protected by a password.</a:t>
            </a:r>
          </a:p>
          <a:p>
            <a:pPr marL="914400" lvl="2" indent="0">
              <a:buNone/>
            </a:pPr>
            <a:r>
              <a:rPr lang="en-US" dirty="0">
                <a:hlinkClick r:id="rId3"/>
              </a:rPr>
              <a:t>https://github.com/OrchardCMS/OrchardCore/blob/main/src/OrchardCore.Modules/OrchardCore.OpenId/Services/OpenIdServerService.cs</a:t>
            </a:r>
            <a:endParaRPr lang="en-US" dirty="0"/>
          </a:p>
          <a:p>
            <a:pPr lvl="1"/>
            <a:r>
              <a:rPr lang="en-US" dirty="0"/>
              <a:t>How to generate TSL compliant certificates?</a:t>
            </a:r>
          </a:p>
          <a:p>
            <a:r>
              <a:rPr lang="en-US" dirty="0"/>
              <a:t>Provide a way to monitor the </a:t>
            </a:r>
            <a:r>
              <a:rPr lang="en-US" dirty="0" err="1"/>
              <a:t>TransportMessage</a:t>
            </a:r>
            <a:r>
              <a:rPr lang="en-US" dirty="0"/>
              <a:t> Retain/Dispose errors </a:t>
            </a:r>
          </a:p>
          <a:p>
            <a:pPr lvl="1"/>
            <a:r>
              <a:rPr lang="en-US" dirty="0"/>
              <a:t>Because ref counting sucks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063971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EBC4F-39D3-FAF0-AB9D-35A61EBB7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Cris</a:t>
            </a:r>
            <a:r>
              <a:rPr lang="en-US" dirty="0"/>
              <a:t> feature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29E0310-D200-A432-CC9E-332FDFE41015}"/>
              </a:ext>
            </a:extLst>
          </p:cNvPr>
          <p:cNvSpPr txBox="1">
            <a:spLocks/>
          </p:cNvSpPr>
          <p:nvPr/>
        </p:nvSpPr>
        <p:spPr>
          <a:xfrm>
            <a:off x="838200" y="1562582"/>
            <a:ext cx="10515600" cy="4766781"/>
          </a:xfrm>
          <a:prstGeom prst="rect">
            <a:avLst/>
          </a:prstGeom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Common DI or 2 DI (one for the WebApp, one for </a:t>
            </a:r>
            <a:r>
              <a:rPr lang="en-US" dirty="0" err="1"/>
              <a:t>AppIdentity</a:t>
            </a:r>
            <a:r>
              <a:rPr lang="en-US" dirty="0"/>
              <a:t>)?</a:t>
            </a:r>
          </a:p>
          <a:p>
            <a:r>
              <a:rPr lang="en-US" dirty="0"/>
              <a:t>2 DI containers introduce the “Absolute Singletons” issue</a:t>
            </a:r>
          </a:p>
          <a:p>
            <a:pPr lvl="1"/>
            <a:r>
              <a:rPr lang="en-US" dirty="0"/>
              <a:t>Should the same instance of a singleton service be registered in both DI?</a:t>
            </a:r>
          </a:p>
          <a:p>
            <a:pPr lvl="1"/>
            <a:r>
              <a:rPr lang="en-US" dirty="0"/>
              <a:t>For all singleton services? May be for </a:t>
            </a:r>
            <a:r>
              <a:rPr lang="en-US" dirty="0" err="1"/>
              <a:t>IRealObject</a:t>
            </a:r>
            <a:r>
              <a:rPr lang="en-US" dirty="0"/>
              <a:t> only?</a:t>
            </a:r>
          </a:p>
          <a:p>
            <a:r>
              <a:rPr lang="en-US" dirty="0"/>
              <a:t>My preference:</a:t>
            </a:r>
          </a:p>
          <a:p>
            <a:pPr lvl="1"/>
            <a:r>
              <a:rPr lang="en-US" dirty="0"/>
              <a:t>A </a:t>
            </a:r>
            <a:r>
              <a:rPr lang="en-US" dirty="0" err="1"/>
              <a:t>CK-AppIdentity:Local:WebApplication</a:t>
            </a:r>
            <a:r>
              <a:rPr lang="en-US" dirty="0"/>
              <a:t> section that defines the WebApp as an “island” of the application.</a:t>
            </a:r>
          </a:p>
          <a:p>
            <a:pPr lvl="2"/>
            <a:r>
              <a:rPr lang="en-US" dirty="0"/>
              <a:t>DI of the app has no “Web” dependent services (“Process” services only).</a:t>
            </a:r>
          </a:p>
          <a:p>
            <a:pPr lvl="2"/>
            <a:r>
              <a:rPr lang="en-US" dirty="0"/>
              <a:t>The </a:t>
            </a:r>
            <a:r>
              <a:rPr lang="en-US" dirty="0" err="1"/>
              <a:t>WebApplicationBuilder.Services</a:t>
            </a:r>
            <a:r>
              <a:rPr lang="en-US" dirty="0"/>
              <a:t> is pre-configured with all the “process services” registrations.</a:t>
            </a:r>
          </a:p>
          <a:p>
            <a:pPr lvl="1"/>
            <a:r>
              <a:rPr lang="en-US" dirty="0"/>
              <a:t>Can we build the App DI without all the services that depends on the “Web” layer?</a:t>
            </a:r>
          </a:p>
          <a:p>
            <a:pPr lvl="2"/>
            <a:r>
              <a:rPr lang="en-US" dirty="0" err="1"/>
              <a:t>ScopedHttpContext</a:t>
            </a:r>
            <a:r>
              <a:rPr lang="en-US" dirty="0"/>
              <a:t>, </a:t>
            </a:r>
            <a:r>
              <a:rPr lang="en-US" dirty="0" err="1"/>
              <a:t>IAuthenticationService</a:t>
            </a:r>
            <a:r>
              <a:rPr lang="en-US" dirty="0"/>
              <a:t>, etc.</a:t>
            </a:r>
          </a:p>
          <a:p>
            <a:pPr lvl="1"/>
            <a:r>
              <a:rPr lang="en-US" dirty="0"/>
              <a:t>Is the “Front” vs. “Process” distinction enough?</a:t>
            </a:r>
          </a:p>
          <a:p>
            <a:pPr lvl="2"/>
            <a:r>
              <a:rPr lang="en-US" dirty="0"/>
              <a:t>In such case, “Front” means “Web”… </a:t>
            </a:r>
          </a:p>
          <a:p>
            <a:pPr lvl="2"/>
            <a:r>
              <a:rPr lang="en-US" dirty="0"/>
              <a:t>This may be a first approach, but ideally services are tagged with more than a single “trait”.</a:t>
            </a:r>
          </a:p>
          <a:p>
            <a:pPr lvl="2"/>
            <a:r>
              <a:rPr lang="en-US" dirty="0"/>
              <a:t>Or we skip any service defined in “</a:t>
            </a:r>
            <a:r>
              <a:rPr lang="en-US" dirty="0" err="1"/>
              <a:t>Microsoft.AspNetCore</a:t>
            </a:r>
            <a:r>
              <a:rPr lang="en-US" dirty="0"/>
              <a:t>” namespace ? A list of regex on AQN?</a:t>
            </a:r>
          </a:p>
          <a:p>
            <a:pPr lvl="2"/>
            <a:r>
              <a:rPr lang="en-US" dirty="0"/>
              <a:t>Does a “list of regex on AQN” defines an “End Point”?</a:t>
            </a:r>
          </a:p>
          <a:p>
            <a:pPr lvl="3"/>
            <a:r>
              <a:rPr lang="en-US" dirty="0"/>
              <a:t>If yes, one should be able to “</a:t>
            </a:r>
            <a:r>
              <a:rPr lang="en-US" dirty="0" err="1"/>
              <a:t>ConfigureServices</a:t>
            </a:r>
            <a:r>
              <a:rPr lang="en-US" dirty="0"/>
              <a:t>” with or without a set of “End Points”…</a:t>
            </a:r>
          </a:p>
          <a:p>
            <a:pPr lvl="1"/>
            <a:r>
              <a:rPr lang="en-US" dirty="0"/>
              <a:t>Even if this is possible, we have yet to synchronize the singleton instances (or not)…</a:t>
            </a:r>
          </a:p>
          <a:p>
            <a:pPr lvl="1"/>
            <a:r>
              <a:rPr lang="en-US" dirty="0"/>
              <a:t>This may be the best way in terms of architecture BUT it’s not a short-term solution.</a:t>
            </a:r>
          </a:p>
          <a:p>
            <a:r>
              <a:rPr lang="en-US" dirty="0"/>
              <a:t>The other way is that the Application DI is the WebApp one (if the app is a WebApp) just like today.</a:t>
            </a:r>
          </a:p>
          <a:p>
            <a:pPr lvl="1"/>
            <a:r>
              <a:rPr lang="en-US" dirty="0"/>
              <a:t>But now services must be “hidden”/”overridden” in </a:t>
            </a:r>
            <a:r>
              <a:rPr lang="en-US" dirty="0" err="1"/>
              <a:t>AppIdentity</a:t>
            </a:r>
            <a:r>
              <a:rPr lang="en-US" dirty="0"/>
              <a:t> services, at least for the </a:t>
            </a:r>
            <a:r>
              <a:rPr lang="en-US" dirty="0" err="1"/>
              <a:t>CrisExecutor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If a command handler relies on a “Web” singleton or scoped service, we are doomed (will fail at runtime).</a:t>
            </a:r>
          </a:p>
          <a:p>
            <a:pPr lvl="1"/>
            <a:r>
              <a:rPr lang="en-US" dirty="0"/>
              <a:t>But </a:t>
            </a:r>
            <a:r>
              <a:rPr lang="en-US" dirty="0" err="1"/>
              <a:t>CK.Cris.Executor</a:t>
            </a:r>
            <a:r>
              <a:rPr lang="en-US" dirty="0"/>
              <a:t> do its job (</a:t>
            </a:r>
            <a:r>
              <a:rPr lang="en-US" dirty="0" err="1"/>
              <a:t>CommandValidator</a:t>
            </a:r>
            <a:r>
              <a:rPr lang="en-US" dirty="0"/>
              <a:t>, </a:t>
            </a:r>
            <a:r>
              <a:rPr lang="en-US" dirty="0" err="1"/>
              <a:t>RawCommandExecutor</a:t>
            </a:r>
            <a:r>
              <a:rPr lang="en-US" dirty="0"/>
              <a:t>) based on an explicit </a:t>
            </a:r>
            <a:r>
              <a:rPr lang="en-US" dirty="0" err="1"/>
              <a:t>IServiceProvider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We can provide a </a:t>
            </a:r>
            <a:r>
              <a:rPr lang="en-US" dirty="0" err="1"/>
              <a:t>IServiceProvider</a:t>
            </a:r>
            <a:r>
              <a:rPr lang="en-US" dirty="0"/>
              <a:t> that hides/replaces some services for the command handling.</a:t>
            </a: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r>
              <a:rPr lang="en-US" dirty="0">
                <a:sym typeface="Wingdings" panose="05000000000000000000" pitchFamily="2" charset="2"/>
              </a:rPr>
              <a:t> This is not ideal, but it should work if not too many “Web” services are concerned and we can provide a replacement for the services at stake 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876741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82137-8E30-732F-A684-E7B1E4656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CrisSession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3B35E-C4A6-EA97-FFAD-FE9D1FB60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Non concurrent, non reentrant (just like the </a:t>
            </a:r>
            <a:r>
              <a:rPr lang="en-US" dirty="0" err="1"/>
              <a:t>ActivityMonitor</a:t>
            </a:r>
            <a:r>
              <a:rPr lang="en-US" dirty="0"/>
              <a:t>)</a:t>
            </a:r>
          </a:p>
          <a:p>
            <a:r>
              <a:rPr lang="en-US" dirty="0"/>
              <a:t>Exposes a </a:t>
            </a:r>
            <a:r>
              <a:rPr lang="en-US" dirty="0" err="1"/>
              <a:t>ActivityMonitor</a:t>
            </a:r>
            <a:endParaRPr lang="en-US" dirty="0"/>
          </a:p>
          <a:p>
            <a:r>
              <a:rPr lang="en-US" dirty="0"/>
              <a:t>Captures an initial command followed by events and subordinate sessions.</a:t>
            </a:r>
          </a:p>
          <a:p>
            <a:r>
              <a:rPr lang="en-US" dirty="0"/>
              <a:t>A session must be explicitly closed.</a:t>
            </a:r>
          </a:p>
          <a:p>
            <a:pPr lvl="1"/>
            <a:r>
              <a:rPr lang="en-US" dirty="0"/>
              <a:t>This handles “Super Asynchronous” pattern:</a:t>
            </a:r>
          </a:p>
          <a:p>
            <a:pPr lvl="2"/>
            <a:r>
              <a:rPr lang="en-US" dirty="0"/>
              <a:t>A “</a:t>
            </a:r>
            <a:r>
              <a:rPr lang="en-US" dirty="0" err="1"/>
              <a:t>StartXXX</a:t>
            </a:r>
            <a:r>
              <a:rPr lang="en-US" dirty="0"/>
              <a:t>” command starts a remote “activity”.</a:t>
            </a:r>
          </a:p>
          <a:p>
            <a:pPr lvl="2"/>
            <a:r>
              <a:rPr lang="en-US" dirty="0"/>
              <a:t>A “</a:t>
            </a:r>
            <a:r>
              <a:rPr lang="en-US" dirty="0" err="1"/>
              <a:t>StopXXX</a:t>
            </a:r>
            <a:r>
              <a:rPr lang="en-US" dirty="0"/>
              <a:t>” command stops it.</a:t>
            </a:r>
          </a:p>
          <a:p>
            <a:pPr lvl="1"/>
            <a:r>
              <a:rPr lang="en-US" dirty="0"/>
              <a:t>Optionally, the availability of the </a:t>
            </a:r>
            <a:r>
              <a:rPr lang="en-US" dirty="0" err="1"/>
              <a:t>TResult</a:t>
            </a:r>
            <a:r>
              <a:rPr lang="en-US" dirty="0"/>
              <a:t> of a </a:t>
            </a:r>
            <a:r>
              <a:rPr lang="en-US" dirty="0" err="1"/>
              <a:t>ICommand</a:t>
            </a:r>
            <a:r>
              <a:rPr lang="en-US" dirty="0"/>
              <a:t>&lt;</a:t>
            </a:r>
            <a:r>
              <a:rPr lang="en-US" dirty="0" err="1"/>
              <a:t>TResult</a:t>
            </a:r>
            <a:r>
              <a:rPr lang="en-US" dirty="0"/>
              <a:t>&gt; automatically closes the session.</a:t>
            </a:r>
          </a:p>
          <a:p>
            <a:r>
              <a:rPr lang="en-US" dirty="0"/>
              <a:t>A session seems to capture the result(s) of a </a:t>
            </a:r>
            <a:r>
              <a:rPr lang="en-US" b="1" dirty="0"/>
              <a:t>Workflow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252566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AFAF5-98A2-D125-4496-C05967A71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questions &amp; To do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C559C-F4C7-F864-231C-921ED15BE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Internalize </a:t>
            </a:r>
            <a:r>
              <a:rPr lang="en-US" dirty="0" err="1"/>
              <a:t>TransportMessage</a:t>
            </a:r>
            <a:endParaRPr lang="en-US" dirty="0"/>
          </a:p>
          <a:p>
            <a:pPr lvl="1"/>
            <a:r>
              <a:rPr lang="en-US" dirty="0"/>
              <a:t>Differentiate </a:t>
            </a:r>
            <a:r>
              <a:rPr lang="en-US" dirty="0" err="1"/>
              <a:t>IOutgoingTransportMessage</a:t>
            </a:r>
            <a:r>
              <a:rPr lang="en-US" dirty="0"/>
              <a:t> and </a:t>
            </a:r>
            <a:r>
              <a:rPr lang="en-US" dirty="0" err="1"/>
              <a:t>IIncomingTransportMessage</a:t>
            </a:r>
            <a:endParaRPr lang="en-US" dirty="0"/>
          </a:p>
          <a:p>
            <a:pPr lvl="1"/>
            <a:r>
              <a:rPr lang="en-US" dirty="0"/>
              <a:t>Assume the outgoing message mutability: Freeze and </a:t>
            </a:r>
            <a:r>
              <a:rPr lang="en-US" dirty="0" err="1"/>
              <a:t>IsFrozen</a:t>
            </a:r>
            <a:endParaRPr lang="en-US" dirty="0"/>
          </a:p>
          <a:p>
            <a:r>
              <a:rPr lang="en-US" dirty="0"/>
              <a:t>Add a “Layer” API on the </a:t>
            </a:r>
            <a:r>
              <a:rPr lang="en-US" dirty="0" err="1"/>
              <a:t>TransportMessage</a:t>
            </a:r>
            <a:endParaRPr lang="en-US" dirty="0"/>
          </a:p>
          <a:p>
            <a:r>
              <a:rPr lang="en-US" dirty="0"/>
              <a:t>Implements the “</a:t>
            </a:r>
            <a:r>
              <a:rPr lang="en-US" dirty="0" err="1"/>
              <a:t>BigMessage</a:t>
            </a:r>
            <a:r>
              <a:rPr lang="en-US" dirty="0"/>
              <a:t>” slicing (0 Protocol).</a:t>
            </a:r>
          </a:p>
          <a:p>
            <a:r>
              <a:rPr lang="en-US" dirty="0"/>
              <a:t>Should “Response” channel be renamed “</a:t>
            </a:r>
            <a:r>
              <a:rPr lang="en-US" dirty="0" err="1"/>
              <a:t>HighPriority</a:t>
            </a:r>
            <a:r>
              <a:rPr lang="en-US" dirty="0"/>
              <a:t>”?</a:t>
            </a:r>
          </a:p>
          <a:p>
            <a:pPr lvl="1"/>
            <a:r>
              <a:rPr lang="en-US" dirty="0"/>
              <a:t>Responses would use it but the “</a:t>
            </a:r>
            <a:r>
              <a:rPr lang="en-US" dirty="0" err="1"/>
              <a:t>CancelCurrentBigMessage</a:t>
            </a:r>
            <a:r>
              <a:rPr lang="en-US" dirty="0"/>
              <a:t>” would also use it (</a:t>
            </a:r>
            <a:r>
              <a:rPr lang="en-US"/>
              <a:t>and it is </a:t>
            </a:r>
            <a:r>
              <a:rPr lang="en-US" dirty="0"/>
              <a:t>not a response).</a:t>
            </a:r>
          </a:p>
        </p:txBody>
      </p:sp>
    </p:spTree>
    <p:extLst>
      <p:ext uri="{BB962C8B-B14F-4D97-AF65-F5344CB8AC3E}">
        <p14:creationId xmlns:p14="http://schemas.microsoft.com/office/powerpoint/2010/main" val="479290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12777</TotalTime>
  <Words>4937</Words>
  <Application>Microsoft Office PowerPoint</Application>
  <PresentationFormat>Widescreen</PresentationFormat>
  <Paragraphs>647</Paragraphs>
  <Slides>45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3" baseType="lpstr">
      <vt:lpstr>Arial</vt:lpstr>
      <vt:lpstr>Calibri</vt:lpstr>
      <vt:lpstr>Calibri Light</vt:lpstr>
      <vt:lpstr>Consolas</vt:lpstr>
      <vt:lpstr>Courier New</vt:lpstr>
      <vt:lpstr>Times New Roman</vt:lpstr>
      <vt:lpstr>Wingdings</vt:lpstr>
      <vt:lpstr>Office Theme</vt:lpstr>
      <vt:lpstr>CK-AppIdentity</vt:lpstr>
      <vt:lpstr>Primary Objectives</vt:lpstr>
      <vt:lpstr>Secondary Objectives</vt:lpstr>
      <vt:lpstr>DomainName/PartyName/EnvironmentName</vt:lpstr>
      <vt:lpstr>A FullName is autodescriptive</vt:lpstr>
      <vt:lpstr>Naming constraints</vt:lpstr>
      <vt:lpstr>A simple Agent.</vt:lpstr>
      <vt:lpstr>The SignatureBox.</vt:lpstr>
      <vt:lpstr>Simplifications</vt:lpstr>
      <vt:lpstr>What we have so far: a warehouse.</vt:lpstr>
      <vt:lpstr>OneCS (can reach the SignatureBox).</vt:lpstr>
      <vt:lpstr>OneCS (cannot reach the SignatureBox).</vt:lpstr>
      <vt:lpstr>LaToulousaine is actually a SaaS customer…</vt:lpstr>
      <vt:lpstr>LaToulousaine in SaaS is hosted by OneCS1</vt:lpstr>
      <vt:lpstr>Oups! LaToulousaine is NOT in production yet!</vt:lpstr>
      <vt:lpstr>LaToulousaine goes to London</vt:lpstr>
      <vt:lpstr>LaToulousaine goes to London!</vt:lpstr>
      <vt:lpstr>Security and privacy</vt:lpstr>
      <vt:lpstr>Other uses…</vt:lpstr>
      <vt:lpstr>Configuration Model</vt:lpstr>
      <vt:lpstr>Exploit the .Net Configuration API</vt:lpstr>
      <vt:lpstr>Runtime Model</vt:lpstr>
      <vt:lpstr>The “Features”</vt:lpstr>
      <vt:lpstr>Feature Driver</vt:lpstr>
      <vt:lpstr>Opt-In/Out and Allow/DisallowFeatures</vt:lpstr>
      <vt:lpstr>The TransportFeature</vt:lpstr>
      <vt:lpstr>Implementing Transports</vt:lpstr>
      <vt:lpstr>The Channels</vt:lpstr>
      <vt:lpstr>UNSTABLE REMAINDER</vt:lpstr>
      <vt:lpstr>TransportMessage</vt:lpstr>
      <vt:lpstr>The 8 protocols maximal count</vt:lpstr>
      <vt:lpstr>Creating new messages</vt:lpstr>
      <vt:lpstr>Reading incoming messages</vt:lpstr>
      <vt:lpstr>Channel Feature</vt:lpstr>
      <vt:lpstr>The BlobChannel</vt:lpstr>
      <vt:lpstr>Handling User Authentication</vt:lpstr>
      <vt:lpstr>User and Commands through Parties (1/2)</vt:lpstr>
      <vt:lpstr>User and Commands through Parties (2/2) </vt:lpstr>
      <vt:lpstr>The “PartyAuthenticationToken”</vt:lpstr>
      <vt:lpstr>How Alice gets her Token? (1/2)</vt:lpstr>
      <vt:lpstr>How Alice gets her Token? (2/2)</vt:lpstr>
      <vt:lpstr>Roadmap</vt:lpstr>
      <vt:lpstr>Cris feature</vt:lpstr>
      <vt:lpstr>CrisSession</vt:lpstr>
      <vt:lpstr>Other questions &amp; To 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CK-AppIdentity</dc:title>
  <dc:creator>Olivier Spinelli</dc:creator>
  <cp:lastModifiedBy>Olivier Spinelli</cp:lastModifiedBy>
  <cp:revision>43</cp:revision>
  <dcterms:created xsi:type="dcterms:W3CDTF">2023-03-08T10:35:35Z</dcterms:created>
  <dcterms:modified xsi:type="dcterms:W3CDTF">2023-07-03T11:06:09Z</dcterms:modified>
</cp:coreProperties>
</file>