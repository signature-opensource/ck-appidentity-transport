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ink/ink1.xml" ContentType="application/inkml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ink/ink2.xml" ContentType="application/inkml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8"/>
  </p:notesMasterIdLst>
  <p:sldIdLst>
    <p:sldId id="256" r:id="rId2"/>
    <p:sldId id="257" r:id="rId3"/>
    <p:sldId id="259" r:id="rId4"/>
    <p:sldId id="258" r:id="rId5"/>
    <p:sldId id="262" r:id="rId6"/>
    <p:sldId id="264" r:id="rId7"/>
    <p:sldId id="269" r:id="rId8"/>
    <p:sldId id="265" r:id="rId9"/>
    <p:sldId id="263" r:id="rId10"/>
    <p:sldId id="266" r:id="rId11"/>
    <p:sldId id="267" r:id="rId12"/>
    <p:sldId id="268" r:id="rId13"/>
    <p:sldId id="270" r:id="rId14"/>
    <p:sldId id="271" r:id="rId15"/>
    <p:sldId id="272" r:id="rId16"/>
    <p:sldId id="273" r:id="rId17"/>
    <p:sldId id="274" r:id="rId18"/>
    <p:sldId id="275" r:id="rId19"/>
    <p:sldId id="276" r:id="rId20"/>
    <p:sldId id="277" r:id="rId21"/>
    <p:sldId id="278" r:id="rId22"/>
    <p:sldId id="279" r:id="rId23"/>
    <p:sldId id="280" r:id="rId24"/>
    <p:sldId id="282" r:id="rId25"/>
    <p:sldId id="281" r:id="rId26"/>
    <p:sldId id="283" r:id="rId27"/>
    <p:sldId id="284" r:id="rId28"/>
    <p:sldId id="285" r:id="rId29"/>
    <p:sldId id="286" r:id="rId30"/>
    <p:sldId id="287" r:id="rId31"/>
    <p:sldId id="288" r:id="rId32"/>
    <p:sldId id="289" r:id="rId33"/>
    <p:sldId id="290" r:id="rId34"/>
    <p:sldId id="291" r:id="rId35"/>
    <p:sldId id="292" r:id="rId36"/>
    <p:sldId id="293" r:id="rId3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89573" autoAdjust="0"/>
  </p:normalViewPr>
  <p:slideViewPr>
    <p:cSldViewPr snapToGrid="0">
      <p:cViewPr varScale="1">
        <p:scale>
          <a:sx n="77" d="100"/>
          <a:sy n="77" d="100"/>
        </p:scale>
        <p:origin x="883" y="5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presProps" Target="presProps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notesMaster" Target="notesMasters/notesMaster1.xml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3-04-24T17:00:42.164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14 170,'51'0,"662"-22,-623 9,108-29,-25 4,-13 14,227-6,165 30,-231 3,1036-3,-1268 4,0 4,-1 4,0 4,-2 3,143 52,-172-48,-39-15,-1-1,1 0,0-1,0-1,1-1,22 2,267-7,48 4,-313 3,-38-3,-13 0,-63 4,-1-3,-139-10,133 1,0-4,0-4,1-3,-137-47,139 36,-97-21,160 46,-1 1,1-1,0 2,0 0,-1 1,1 0,0 0,-18 6,-11 5,-44 18,40-13,41-15,-37 14,0-2,-1-1,0-3,-58 7,-369 7,105-10,-11 0,307-16,26 0,1 2,-41 6,70-5,0 2,0-1,0 1,1 1,-1 0,1 1,0 0,0 0,1 1,0 1,-13 10,7-4,0-1,-1-1,-1 0,0-1,0-1,-29 10,-119 26,137-39,13-1,0 1,0 0,0 1,1 1,-15 9,19-9,-1-1,-1 0,1-1,-1-1,0 0,0 0,-1-1,-19 2,-3-4,0-1,0-2,-36-7,-106-24,100 16,-88-7,110 19,-18 0,-142-26,182 22,0 1,-69-3,86 10,-1 0,1 2,0 0,0 1,0 0,0 2,-30 11,-33 23,-20 9,86-43,1 0,-1-1,0-1,0 0,-25 1,35-4,-1 0,0 0,0-1,1 0,-1 0,0 0,1-1,-1 1,1-1,0 0,-1 0,1-1,0 1,0-1,1 0,-1 0,0 0,1-1,0 1,-5-7,-1-3,1 0,0-1,1 0,-11-28,17 39,0 0,0 0,0 0,0 0,0 0,1 0,-1 0,1-1,0 1,0 0,0 0,0 0,2-6,-1 7,0 1,0-1,0 1,0-1,1 1,-1-1,0 1,1-1,-1 1,1 0,0 0,-1 0,1 0,0 0,0 0,0 1,-1-1,1 1,0-1,0 1,0-1,0 1,0 0,0 0,2 0,34 0,-1 2,0 1,62 13,-27-3,39 5,121 17,-167-28,102-3,-144-4,0-2,-1-1,1-1,-1 0,0-2,0 0,35-17,-39 16,0 1,1 1,0 0,-1 2,1 0,1 1,-1 0,37 4,-20-2,624 3,-598 1,-1 3,1 2,105 32,-110-26,12 3,15 5,1-4,140 15,-208-35,0 0,0-1,0-1,0-1,-1 0,22-9,-9 4,89-26,199-32,-252 61,114 6,-77 2,738-2,-822 1,-1 1,34 7,21 4,-22-13,-1-1,1-3,96-20,-52 7,-77 14,1 1,0 0,-1 1,1 1,0 1,0 1,31 6,-26-2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3-04-23T09:50:11.223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0 130,'17'-1,"0"-1,-1 0,1-1,26-9,6-1,416-47,-296 44,-101 6,-46 6,0 1,26-1,-40 4,1 1,0 0,-1 0,1 1,-1 0,1 0,-1 1,0 0,8 5,35 22,-43-23,1-1,0-1,0 0,1 0,0 0,-1-1,1-1,1 0,18 3,21-3,62-5,39 2,-103 6,48 13,-50-9,54 4,340-7,-261-9,-157 1,0-1,41-11,-4 2,-42 7,0-1,0 0,20-9,-23 8,0 1,1 0,-1 1,1 0,18-1,20 4,-29 1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EBA75D8-A9A5-4FAF-B563-7A079B630A7E}" type="datetimeFigureOut">
              <a:rPr lang="en-US" smtClean="0"/>
              <a:t>4/25/2023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05EDB92-2FE2-4164-AA27-D03258A20DF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6904522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We are NOT going to use any relay </a:t>
            </a:r>
            <a:r>
              <a:rPr lang="en-US" b="0" dirty="0"/>
              <a:t>or </a:t>
            </a:r>
            <a:r>
              <a:rPr lang="en-US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hole punching strategies here. We require that A can reach B OR B can reach A directly, if both A and B are behind NAT this doesn’t work and that’s it. </a:t>
            </a:r>
            <a:br>
              <a:rPr lang="en-US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</a:br>
            <a:r>
              <a:rPr lang="en-US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See https://bford.info/pub/net/p2pnat/index.html for a detailed discussion about NAT traversing.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05EDB92-2FE2-4164-AA27-D03258A20DF4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9582091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05EDB92-2FE2-4164-AA27-D03258A20DF4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158046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05EDB92-2FE2-4164-AA27-D03258A20DF4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6145415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Allow/</a:t>
            </a:r>
            <a:r>
              <a:rPr lang="en-US" dirty="0" err="1"/>
              <a:t>DisallowFeatures</a:t>
            </a:r>
            <a:r>
              <a:rPr lang="en-US" dirty="0"/>
              <a:t> can be a string or an array of strings.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05EDB92-2FE2-4164-AA27-D03258A20DF4}" type="slidenum">
              <a:rPr lang="en-US" smtClean="0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5105975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Before detailing the Channels, we need to cover the </a:t>
            </a:r>
            <a:r>
              <a:rPr lang="en-US" dirty="0" err="1"/>
              <a:t>TransportMessage</a:t>
            </a:r>
            <a:r>
              <a:rPr lang="en-US" dirty="0"/>
              <a:t> and its Factories and the Transport and </a:t>
            </a:r>
            <a:r>
              <a:rPr lang="en-US" dirty="0" err="1"/>
              <a:t>TransportType</a:t>
            </a:r>
            <a:r>
              <a:rPr lang="en-US" dirty="0"/>
              <a:t> model.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05EDB92-2FE2-4164-AA27-D03258A20DF4}" type="slidenum">
              <a:rPr lang="en-US" smtClean="0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790776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All messages exchanged by the Transport layer are prefixed by the message's protocol and length.</a:t>
            </a:r>
          </a:p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- The prefix starts with a first byte: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`|L0|L1|CD|R0|R1|P0|P1|P2|`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</a:p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 - The 2 MSB (L0-L1) gives us the number of bytes of the message length:</a:t>
            </a:r>
          </a:p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-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`00`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1 byte, the message length is between 0 and 255 bytes.</a:t>
            </a:r>
          </a:p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-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`01`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2 bytes, the message length is between 256 and 65535 bytes.</a:t>
            </a:r>
          </a:p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-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`10`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3 bytes, the message length is between 65536 and 16 777 215 bytes.</a:t>
            </a:r>
          </a:p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-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`11`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4 bytes, the message length is between 16 777 216 and 2 147 483 648 bytes (2 Gib).</a:t>
            </a:r>
          </a:p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 - The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`CD`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bit is the "Control vs. Data" bit. This is a convenient bit that can be used by protocols</a:t>
            </a:r>
          </a:p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as a one bit discriminator, typically between a regular data message and one (or more) control message.</a:t>
            </a:r>
          </a:p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 -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`R0`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and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`R1`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bit are reserved for future use.</a:t>
            </a:r>
          </a:p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 - P0-P2 bits is the Protocol, a number between 0 and 7. This number defines the "type" of the</a:t>
            </a:r>
          </a:p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 message: the writer or serializer that has been used to write the payload and the reader or "</a:t>
            </a:r>
            <a:r>
              <a:rPr lang="en-US" sz="1800" dirty="0" err="1">
                <a:solidFill>
                  <a:srgbClr val="000000"/>
                </a:solidFill>
                <a:latin typeface="Consolas" panose="020B0609020204030204" pitchFamily="49" charset="0"/>
              </a:rPr>
              <a:t>deserializer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"</a:t>
            </a:r>
          </a:p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 that must be used to read it back.</a:t>
            </a:r>
          </a:p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- Then comes the message length itself (1 to 4 bytes)</a:t>
            </a:r>
          </a:p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- Then the message payload itself.</a:t>
            </a:r>
          </a:p>
          <a:p>
            <a:endParaRPr lang="en-US" sz="1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At a higher level </a:t>
            </a:r>
            <a:r>
              <a:rPr lang="en-US" sz="18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en-US" sz="1800" dirty="0" err="1">
                <a:solidFill>
                  <a:srgbClr val="000000"/>
                </a:solidFill>
                <a:latin typeface="Consolas" panose="020B0609020204030204" pitchFamily="49" charset="0"/>
              </a:rPr>
              <a:t>MessageProtocol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” are identified by a string (its unique name).</a:t>
            </a:r>
          </a:p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A protocol defines how the message is encoded and how they are exchanged: by merging these 2 concepts here,</a:t>
            </a:r>
          </a:p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we greatly simplify the implementation and the understandability of the Transport layer. The protocol simply</a:t>
            </a:r>
          </a:p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defines the encoding it uses.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05EDB92-2FE2-4164-AA27-D03258A20DF4}" type="slidenum">
              <a:rPr lang="en-US" smtClean="0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545231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The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`"0 Protocol"`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protocol name is reserved: this is the protocol of </a:t>
            </a:r>
            <a:r>
              <a:rPr lang="en-US" sz="1800" dirty="0" err="1">
                <a:solidFill>
                  <a:srgbClr val="000000"/>
                </a:solidFill>
                <a:latin typeface="Consolas" panose="020B0609020204030204" pitchFamily="49" charset="0"/>
              </a:rPr>
              <a:t>CK.AppIdentity.TransportLayer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itself that handles</a:t>
            </a:r>
          </a:p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special messages used to negotiate, accept, reject incoming parties and outgoing connections.</a:t>
            </a:r>
          </a:p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This lets 7 possible protocols. This may seem a limitation however this limit applies to a Remote party pair: there</a:t>
            </a:r>
          </a:p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can be any number of possible protocols in an application, among them 2 parties that start to interact initially</a:t>
            </a:r>
          </a:p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negotiate the ones they can and want to use. Any Transport between 2 parties can support up to 7 different protocols.</a:t>
            </a:r>
          </a:p>
          <a:p>
            <a:endParaRPr lang="en-US" sz="1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The final length of a message on the wire is between 2 bytes (the special Empty message, see below) and 2 Gib.</a:t>
            </a:r>
          </a:p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A minimal 1 byte message requires 3 bytes (in any of the 7 available protocols). 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05EDB92-2FE2-4164-AA27-D03258A20DF4}" type="slidenum">
              <a:rPr lang="en-US" smtClean="0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32549190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05EDB92-2FE2-4164-AA27-D03258A20DF4}" type="slidenum">
              <a:rPr lang="en-US" smtClean="0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4877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05EDB92-2FE2-4164-AA27-D03258A20DF4}" type="slidenum">
              <a:rPr lang="en-US" smtClean="0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7058649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E7F2D5-E4F2-4183-2FA0-7597E4E30A2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4231E75-63C6-99CA-DD2D-94406A7FFD5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DE54960-D074-ABBD-C28B-5BD2A95D3A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1F2140-8D48-49AC-AD8D-683E6FF4DC34}" type="datetimeFigureOut">
              <a:rPr lang="en-US" smtClean="0"/>
              <a:t>4/25/2023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75B7246-461C-4445-B1DB-D994924F10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0DEC3A5-EB37-0E8B-F389-3CD441ABA4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0A8711-97D1-4DAA-90FC-633E140F78E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5597763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9B0055-D087-1CB6-D663-194AA9610D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6177362-EEA0-6DC8-CDFD-5141C9EFB4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9953A8B-47D3-78CC-7CEC-7D20C80FEC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1F2140-8D48-49AC-AD8D-683E6FF4DC34}" type="datetimeFigureOut">
              <a:rPr lang="en-US" smtClean="0"/>
              <a:t>4/25/2023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D84A42A-B249-5085-9AAA-14761CADAE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74C1C8E-3B90-5727-0B6E-40BAC2781D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0A8711-97D1-4DAA-90FC-633E140F78E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399459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4AE484-88E1-69E3-02EB-AE8A29D3BE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DB1206E-C2FF-1582-171B-F223E33CFEA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D4E2E20-E63B-6C32-F313-550B8DFF8D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1F2140-8D48-49AC-AD8D-683E6FF4DC34}" type="datetimeFigureOut">
              <a:rPr lang="en-US" smtClean="0"/>
              <a:t>4/25/2023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7ECC305-E44C-FCBA-D4F7-1142FAEEB9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4323C59-025A-40C7-2FFB-2666C0CDF2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0A8711-97D1-4DAA-90FC-633E140F78E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4364219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4B1D4E-5B3B-7967-7E30-F95B4C7C1B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FFC803C-02A0-C743-1175-2423A52AD12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8EF84FA-89D4-3D95-931F-C5C07FC3629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8368711-0709-B75A-4A7E-6C4010287F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1F2140-8D48-49AC-AD8D-683E6FF4DC34}" type="datetimeFigureOut">
              <a:rPr lang="en-US" smtClean="0"/>
              <a:t>4/25/2023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618CF9A-8D24-23A9-9371-A60F43BD1F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C3A8033-E5FC-449B-38B4-8609F51216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0A8711-97D1-4DAA-90FC-633E140F78E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706600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ED696B-DFC3-2F8E-1DD9-4356B33722A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E727724-E553-2CBD-3D09-F97AF94EE11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31B2E43-DAD6-34F4-27B3-A926B719DE2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0788D27-43D1-299D-3CAF-9F31607844C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96E705F-8C88-25E0-8609-EF1BFC923C9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B15FA95-D2F5-9CF4-411D-50E18B21E0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1F2140-8D48-49AC-AD8D-683E6FF4DC34}" type="datetimeFigureOut">
              <a:rPr lang="en-US" smtClean="0"/>
              <a:t>4/25/2023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C65A856-4681-9E62-22C3-B16BD3DA21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39158A0-7326-860C-FCBA-9AFAA77B09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0A8711-97D1-4DAA-90FC-633E140F78E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9475806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9EC65E-558C-F72A-FF9B-8A6FFF4A0A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12B8621-74A9-A71E-DF3E-631C72139A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1F2140-8D48-49AC-AD8D-683E6FF4DC34}" type="datetimeFigureOut">
              <a:rPr lang="en-US" smtClean="0"/>
              <a:t>4/25/2023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E6DA8A1-C014-5363-66C4-C95BF87AAE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E169F9C-9BDD-AC6B-3460-E133B14660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0A8711-97D1-4DAA-90FC-633E140F78E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2606597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73286A8-4FE1-7984-DFFD-52F5064E97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1F2140-8D48-49AC-AD8D-683E6FF4DC34}" type="datetimeFigureOut">
              <a:rPr lang="en-US" smtClean="0"/>
              <a:t>4/25/2023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8DBCBF9-5C22-474E-3ED9-9B03D8A1CE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A67D150-7316-B6A2-E332-8D485D69A0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0A8711-97D1-4DAA-90FC-633E140F78E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8231729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C6E434-E03F-0BED-8977-078604DF3A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D4A034B-F805-9843-0400-D2FCC85853D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A576282-FBCD-95CF-07AD-8C9640ED574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55BD3DA-21D8-0F13-79E0-7E0B8355DC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1F2140-8D48-49AC-AD8D-683E6FF4DC34}" type="datetimeFigureOut">
              <a:rPr lang="en-US" smtClean="0"/>
              <a:t>4/25/2023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7AB9487-4F4C-6A53-0350-C528C65622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A9A53FF-1A98-9D9C-2A40-C53EFBDFAE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0A8711-97D1-4DAA-90FC-633E140F78E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8145982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1D3CF9-D0F1-A743-3019-FF2447BD4D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8731086-A7FA-B32B-3E1F-14A6E8C1F42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E09B33C-A741-B7C4-FB62-64B92D889E7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F0A3828-213F-2D23-3C9D-EB62C1EE4F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1F2140-8D48-49AC-AD8D-683E6FF4DC34}" type="datetimeFigureOut">
              <a:rPr lang="en-US" smtClean="0"/>
              <a:t>4/25/2023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087EE94-6900-747B-3C85-BE60492E98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80B6660-8F30-D26D-4BB0-5F399E2167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0A8711-97D1-4DAA-90FC-633E140F78E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123284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A3F7EA-A993-1692-743B-885E7003AB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AA3DBAC-9589-41F8-3925-DDC29178BE9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AE9D458-5F7D-023C-D9FC-E1316EB468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1F2140-8D48-49AC-AD8D-683E6FF4DC34}" type="datetimeFigureOut">
              <a:rPr lang="en-US" smtClean="0"/>
              <a:t>4/25/2023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22D0FA3-4707-7B2C-C788-38D10B0D7A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0C31F98-F69E-16C3-4413-D79284D275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0A8711-97D1-4DAA-90FC-633E140F78E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88740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5FBCB9F-0527-2978-A293-7A641B1A905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3E80312-CE7F-4ABA-9E1F-06A89D12879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9541F1D-611F-62EE-C25C-C1C4C597DE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1F2140-8D48-49AC-AD8D-683E6FF4DC34}" type="datetimeFigureOut">
              <a:rPr lang="en-US" smtClean="0"/>
              <a:t>4/25/2023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6D1321A-D9E4-0C85-0EB1-7DF90B6C8A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A077B46-5B7A-48CE-588F-DA4563218C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0A8711-97D1-4DAA-90FC-633E140F78E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924870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C07E465-A861-A20F-9483-01D3EB1BF7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BD6CCF6-2B83-8286-028E-2C51A14B578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2516736-027A-5CD8-C27D-FFA9869FA59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D1F2140-8D48-49AC-AD8D-683E6FF4DC34}" type="datetimeFigureOut">
              <a:rPr lang="en-US" smtClean="0"/>
              <a:t>4/25/2023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3E503E5-C5F0-5320-F806-3642A15D42E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6C994BE-A4B8-C9B3-A86F-45488CD8F1D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60A8711-97D1-4DAA-90FC-633E140F78E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255528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svg"/><Relationship Id="rId7" Type="http://schemas.openxmlformats.org/officeDocument/2006/relationships/image" Target="../media/image6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4.svg"/><Relationship Id="rId4" Type="http://schemas.openxmlformats.org/officeDocument/2006/relationships/image" Target="../media/image3.png"/><Relationship Id="rId9" Type="http://schemas.openxmlformats.org/officeDocument/2006/relationships/image" Target="../media/image8.svg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customXml" Target="../ink/ink1.xm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png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70.png"/><Relationship Id="rId4" Type="http://schemas.openxmlformats.org/officeDocument/2006/relationships/customXml" Target="../ink/ink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ignature-code/CK-AppIdentity/blob/develop/CK.AppIdentity.BlobChannel/BlobChannelFeatureDriver.cs" TargetMode="External"/><Relationship Id="rId2" Type="http://schemas.openxmlformats.org/officeDocument/2006/relationships/hyperlink" Target="https://github.com/signature-code/CK-AppIdentity/blob/develop/Tests/CK.AppIdentity.BlobChannel.Tests/BasicExchangeTests.cs#L14" TargetMode="Externa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9.png"/><Relationship Id="rId5" Type="http://schemas.openxmlformats.org/officeDocument/2006/relationships/hyperlink" Target="https://github.com/signature-code/CK-AppIdentity/blob/develop/CK.AppIdentity.BlobChannel/BlobChannelFeature.Protocol.cs" TargetMode="External"/><Relationship Id="rId4" Type="http://schemas.openxmlformats.org/officeDocument/2006/relationships/hyperlink" Target="https://github.com/signature-code/CK-AppIdentity/blob/develop/CK.AppIdentity.BlobChannel/BlobChannelFeature.cs" TargetMode="Externa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OrchardCMS/OrchardCore/blob/main/src/OrchardCore.Modules/OrchardCore.OpenId/Services/OpenIdServerService.cs" TargetMode="External"/><Relationship Id="rId2" Type="http://schemas.openxmlformats.org/officeDocument/2006/relationships/hyperlink" Target="https://github.com/microsoft/FASTER" TargetMode="Externa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B0C9BE-E61A-B6D0-5435-0685D27EF082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CK-</a:t>
            </a:r>
            <a:r>
              <a:rPr lang="en-US" dirty="0" err="1"/>
              <a:t>AppIdentity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6F244AE-14BD-A1DE-961C-D27D37FEFF3C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Basic Distributed Applications Topologic Model</a:t>
            </a:r>
          </a:p>
        </p:txBody>
      </p:sp>
    </p:spTree>
    <p:extLst>
      <p:ext uri="{BB962C8B-B14F-4D97-AF65-F5344CB8AC3E}">
        <p14:creationId xmlns:p14="http://schemas.microsoft.com/office/powerpoint/2010/main" val="173465142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0ABBD5-557D-D878-3AB3-3EFE70DA01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Primary Objectives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7DF8E7D-B68B-F926-CFD3-A5B66EF9B0A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575175"/>
          </a:xfrm>
        </p:spPr>
        <p:txBody>
          <a:bodyPr>
            <a:normAutofit fontScale="92500" lnSpcReduction="10000"/>
          </a:bodyPr>
          <a:lstStyle/>
          <a:p>
            <a:r>
              <a:rPr lang="en-US" dirty="0"/>
              <a:t>Be the simplest model to describe a distributed system topology.</a:t>
            </a:r>
          </a:p>
          <a:p>
            <a:r>
              <a:rPr lang="en-US" dirty="0"/>
              <a:t>Be as simple as possible to configure.</a:t>
            </a:r>
          </a:p>
          <a:p>
            <a:pPr lvl="1"/>
            <a:r>
              <a:rPr lang="en-US" dirty="0"/>
              <a:t>Configured identity related information are immutable during a run.</a:t>
            </a:r>
          </a:p>
          <a:p>
            <a:pPr lvl="1"/>
            <a:r>
              <a:rPr lang="en-US" dirty="0"/>
              <a:t>Dynamic identities can be added, removed and reconfigured while executing.</a:t>
            </a:r>
          </a:p>
          <a:p>
            <a:r>
              <a:rPr lang="en-US" dirty="0"/>
              <a:t>Supports different topologies</a:t>
            </a:r>
          </a:p>
          <a:p>
            <a:pPr lvl="1"/>
            <a:r>
              <a:rPr lang="en-US" dirty="0"/>
              <a:t>Centralized with a shared, central, directory of all the parties. </a:t>
            </a:r>
          </a:p>
          <a:p>
            <a:pPr lvl="1"/>
            <a:r>
              <a:rPr lang="en-US" dirty="0"/>
              <a:t>Decentralized where parties only sees peers.</a:t>
            </a:r>
          </a:p>
          <a:p>
            <a:pPr lvl="1"/>
            <a:r>
              <a:rPr lang="en-US" dirty="0"/>
              <a:t>With and/or without Message Bus.</a:t>
            </a:r>
          </a:p>
          <a:p>
            <a:r>
              <a:rPr lang="en-US" dirty="0"/>
              <a:t>Applies to simple Agents as well as Multi-Tenant site.</a:t>
            </a:r>
          </a:p>
          <a:p>
            <a:r>
              <a:rPr lang="en-US" dirty="0"/>
              <a:t>Handles totally external end points</a:t>
            </a:r>
          </a:p>
          <a:p>
            <a:pPr lvl="1"/>
            <a:r>
              <a:rPr lang="en-US" dirty="0"/>
              <a:t>Customer web services</a:t>
            </a:r>
          </a:p>
          <a:p>
            <a:pPr lvl="1"/>
            <a:r>
              <a:rPr lang="en-US" dirty="0"/>
              <a:t>Cloud Services (Azure, AWS, GitHub, etc.)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5033776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94FF63-04EA-BCC5-D34D-9C25D186AF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Secondary Objectives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36DC6D3-3B63-2CF7-C0E5-91BFC5BA126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Follows the “Package First” approach.</a:t>
            </a:r>
          </a:p>
          <a:p>
            <a:r>
              <a:rPr lang="en-US" dirty="0"/>
              <a:t>Encapsulates complexities</a:t>
            </a:r>
          </a:p>
          <a:p>
            <a:pPr lvl="1"/>
            <a:r>
              <a:rPr lang="en-US" dirty="0"/>
              <a:t>Capabilities discovery</a:t>
            </a:r>
          </a:p>
          <a:p>
            <a:pPr lvl="1"/>
            <a:r>
              <a:rPr lang="en-US" dirty="0"/>
              <a:t>Secret keys management</a:t>
            </a:r>
          </a:p>
          <a:p>
            <a:r>
              <a:rPr lang="en-US" dirty="0"/>
              <a:t>Supports “Observability”</a:t>
            </a:r>
          </a:p>
          <a:p>
            <a:pPr lvl="1"/>
            <a:r>
              <a:rPr lang="en-US" dirty="0"/>
              <a:t>Logs from a Party are identified and can be easily managed.</a:t>
            </a:r>
          </a:p>
          <a:p>
            <a:r>
              <a:rPr lang="en-US" dirty="0"/>
              <a:t>Be agnostic of deployment details</a:t>
            </a:r>
          </a:p>
          <a:p>
            <a:pPr lvl="1"/>
            <a:r>
              <a:rPr lang="en-US" dirty="0"/>
              <a:t>Transport layers (TCP/IP, </a:t>
            </a:r>
            <a:r>
              <a:rPr lang="en-US" dirty="0" err="1"/>
              <a:t>quic</a:t>
            </a:r>
            <a:r>
              <a:rPr lang="en-US" dirty="0"/>
              <a:t>, </a:t>
            </a:r>
            <a:r>
              <a:rPr lang="en-US" dirty="0" err="1"/>
              <a:t>mqtt</a:t>
            </a:r>
            <a:r>
              <a:rPr lang="en-US" dirty="0"/>
              <a:t>, etc.)</a:t>
            </a:r>
          </a:p>
          <a:p>
            <a:pPr lvl="1"/>
            <a:r>
              <a:rPr lang="en-US" dirty="0"/>
              <a:t>VLAN and/or WAN</a:t>
            </a:r>
          </a:p>
        </p:txBody>
      </p:sp>
    </p:spTree>
    <p:extLst>
      <p:ext uri="{BB962C8B-B14F-4D97-AF65-F5344CB8AC3E}">
        <p14:creationId xmlns:p14="http://schemas.microsoft.com/office/powerpoint/2010/main" val="129734135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6B8B24-8DD6-5A25-2C4D-FFCB005460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DomainName</a:t>
            </a:r>
            <a:r>
              <a:rPr lang="en-US" dirty="0"/>
              <a:t>/</a:t>
            </a:r>
            <a:r>
              <a:rPr lang="en-US" dirty="0" err="1"/>
              <a:t>EnvironmentName</a:t>
            </a:r>
            <a:r>
              <a:rPr lang="en-US" dirty="0"/>
              <a:t>/</a:t>
            </a:r>
            <a:r>
              <a:rPr lang="en-US" dirty="0" err="1"/>
              <a:t>PartyName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3871EE-3844-1222-56FF-A3C3C4D91B8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1813122"/>
          </a:xfrm>
        </p:spPr>
        <p:txBody>
          <a:bodyPr>
            <a:normAutofit/>
          </a:bodyPr>
          <a:lstStyle/>
          <a:p>
            <a:r>
              <a:rPr lang="en-US" dirty="0"/>
              <a:t>This triple identifies any Party in the Universe.</a:t>
            </a:r>
          </a:p>
          <a:p>
            <a:r>
              <a:rPr lang="en-US" dirty="0"/>
              <a:t>This drives the Observability layer</a:t>
            </a:r>
          </a:p>
          <a:p>
            <a:pPr lvl="1"/>
            <a:r>
              <a:rPr lang="en-US" dirty="0"/>
              <a:t>Logs are collected with this 3-levels hierarchy.</a:t>
            </a:r>
          </a:p>
          <a:p>
            <a:pPr lvl="1"/>
            <a:r>
              <a:rPr lang="en-US" dirty="0"/>
              <a:t>Any “Event Source” (whatever the </a:t>
            </a:r>
            <a:r>
              <a:rPr lang="en-US" i="1" dirty="0"/>
              <a:t>event</a:t>
            </a:r>
            <a:r>
              <a:rPr lang="en-US" dirty="0"/>
              <a:t> is) is identified by this triple.</a:t>
            </a:r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5D643F4-53C3-F19D-30F2-4CA46F7DD108}"/>
              </a:ext>
            </a:extLst>
          </p:cNvPr>
          <p:cNvSpPr txBox="1"/>
          <p:nvPr/>
        </p:nvSpPr>
        <p:spPr>
          <a:xfrm>
            <a:off x="527168" y="3773684"/>
            <a:ext cx="1113766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b="1" dirty="0"/>
              <a:t>How can a simple model like this one cover all our needs?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87FBD75-5C03-AE36-5F3B-9EC6B24A4DA1}"/>
              </a:ext>
            </a:extLst>
          </p:cNvPr>
          <p:cNvSpPr txBox="1"/>
          <p:nvPr/>
        </p:nvSpPr>
        <p:spPr>
          <a:xfrm>
            <a:off x="838200" y="4713402"/>
            <a:ext cx="10515600" cy="1200329"/>
          </a:xfrm>
          <a:prstGeom prst="rect">
            <a:avLst/>
          </a:prstGeom>
        </p:spPr>
        <p:txBody>
          <a:bodyPr vert="horz" lIns="91440" tIns="45720" rIns="91440" bIns="45720" rtlCol="0">
            <a:normAutofit fontScale="62500" lnSpcReduction="20000"/>
          </a:bodyPr>
          <a:lstStyle>
            <a:lvl1pPr marL="228600" indent="-228600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/>
            </a:lvl1pPr>
            <a:lvl2pPr marL="685800" lvl="1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/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/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r>
              <a:rPr lang="en-US" sz="2400" dirty="0"/>
              <a:t>We’ll now present different static configurations.</a:t>
            </a:r>
          </a:p>
          <a:p>
            <a:pPr lvl="1"/>
            <a:r>
              <a:rPr lang="en-US" sz="2000" dirty="0"/>
              <a:t>Starting with a simple Agent up to a multi-tenant site that drives multiple domains.</a:t>
            </a:r>
          </a:p>
          <a:p>
            <a:pPr lvl="1"/>
            <a:r>
              <a:rPr lang="en-US" sz="2000" dirty="0"/>
              <a:t>This will define the dream.</a:t>
            </a:r>
          </a:p>
          <a:p>
            <a:r>
              <a:rPr lang="en-US" sz="2400" dirty="0"/>
              <a:t>Then we’ll see the “dynamic” aspect, and some required “magic”…</a:t>
            </a:r>
          </a:p>
          <a:p>
            <a:pPr lvl="1"/>
            <a:r>
              <a:rPr lang="en-US" sz="2000" dirty="0"/>
              <a:t>…to make this the reality.</a:t>
            </a:r>
          </a:p>
          <a:p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17754839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4CA690-E7B9-FB17-D3F9-CD95B93175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 simple Agent.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3E00EFF-DD86-3588-5686-FCEFF2B8B8B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851587"/>
          </a:xfrm>
        </p:spPr>
        <p:txBody>
          <a:bodyPr vert="horz" lIns="91440" tIns="45720" rIns="91440" bIns="45720" rtlCol="0">
            <a:normAutofit lnSpcReduction="10000"/>
          </a:bodyPr>
          <a:lstStyle/>
          <a:p>
            <a:r>
              <a:rPr lang="en-US" dirty="0"/>
              <a:t>One should be able to understand the interactions of any Party by looking at its Application Identity configuration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BEF56BE-36E9-9C16-0573-8234C8D9F689}"/>
              </a:ext>
            </a:extLst>
          </p:cNvPr>
          <p:cNvSpPr txBox="1"/>
          <p:nvPr/>
        </p:nvSpPr>
        <p:spPr>
          <a:xfrm>
            <a:off x="769855" y="2812149"/>
            <a:ext cx="4414887" cy="35394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DomainName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":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LaToulousaine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EnvironmentName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": "Production",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"Local": 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"Name": "Trolley1"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},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"Remotes": [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"Name":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LogTower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"Address": "148.54.11.18:3712"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},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"Name":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SignatureBox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"Address": "155.88.22.22"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}]</a:t>
            </a:r>
            <a:b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E69884F-EC60-0B31-9E5D-FA31BD845EA1}"/>
              </a:ext>
            </a:extLst>
          </p:cNvPr>
          <p:cNvSpPr txBox="1"/>
          <p:nvPr/>
        </p:nvSpPr>
        <p:spPr>
          <a:xfrm>
            <a:off x="5184742" y="2924742"/>
            <a:ext cx="5857974" cy="2033758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10000"/>
          </a:bodyPr>
          <a:lstStyle>
            <a:lvl1pPr marL="228600" indent="-228600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/>
            </a:lvl1pPr>
            <a:lvl2pPr marL="685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/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/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r>
              <a:rPr lang="en-US" sz="2400" dirty="0"/>
              <a:t>There should be no more than that for our Trolley1:</a:t>
            </a:r>
          </a:p>
          <a:p>
            <a:pPr lvl="1"/>
            <a:r>
              <a:rPr lang="en-US" sz="2000" dirty="0"/>
              <a:t>Sends its logs to a “</a:t>
            </a:r>
            <a:r>
              <a:rPr lang="en-US" sz="2000" dirty="0" err="1"/>
              <a:t>LogTower</a:t>
            </a:r>
            <a:r>
              <a:rPr lang="en-US" sz="2000" dirty="0"/>
              <a:t>” party.</a:t>
            </a:r>
          </a:p>
          <a:p>
            <a:pPr lvl="1"/>
            <a:r>
              <a:rPr lang="en-US" sz="2000" dirty="0"/>
              <a:t>Can initiate communications with the “</a:t>
            </a:r>
            <a:r>
              <a:rPr lang="en-US" sz="2000" dirty="0" err="1"/>
              <a:t>SignatureBox</a:t>
            </a:r>
            <a:r>
              <a:rPr lang="en-US" sz="2000" dirty="0"/>
              <a:t>” party.</a:t>
            </a:r>
          </a:p>
          <a:p>
            <a:r>
              <a:rPr lang="en-US" sz="2400" dirty="0"/>
              <a:t>The “Address” is not a URI or URL. </a:t>
            </a:r>
          </a:p>
          <a:p>
            <a:pPr lvl="1"/>
            <a:r>
              <a:rPr lang="en-US" sz="2000" dirty="0"/>
              <a:t>It can be any string that makes the </a:t>
            </a:r>
            <a:r>
              <a:rPr lang="en-US" sz="2000" i="1" dirty="0"/>
              <a:t>remote reachable from this party</a:t>
            </a:r>
            <a:r>
              <a:rPr lang="en-US" sz="2000" dirty="0"/>
              <a:t>.</a:t>
            </a:r>
          </a:p>
          <a:p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91023286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4CA690-E7B9-FB17-D3F9-CD95B93175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</a:t>
            </a:r>
            <a:r>
              <a:rPr lang="en-US" dirty="0" err="1"/>
              <a:t>SignatureBox</a:t>
            </a:r>
            <a:r>
              <a:rPr lang="en-US" dirty="0"/>
              <a:t>.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3E00EFF-DD86-3588-5686-FCEFF2B8B8B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53087" y="1825624"/>
            <a:ext cx="6100713" cy="4113263"/>
          </a:xfrm>
        </p:spPr>
        <p:txBody>
          <a:bodyPr vert="horz" lIns="91440" tIns="45720" rIns="91440" bIns="45720" rtlCol="0">
            <a:normAutofit/>
          </a:bodyPr>
          <a:lstStyle/>
          <a:p>
            <a:r>
              <a:rPr lang="en-US" dirty="0"/>
              <a:t>The </a:t>
            </a:r>
            <a:r>
              <a:rPr lang="en-US" dirty="0" err="1"/>
              <a:t>SignatureBox</a:t>
            </a:r>
            <a:r>
              <a:rPr lang="en-US" dirty="0"/>
              <a:t> also sends its logs to the same </a:t>
            </a:r>
            <a:r>
              <a:rPr lang="en-US" dirty="0" err="1"/>
              <a:t>LogTower</a:t>
            </a:r>
            <a:r>
              <a:rPr lang="en-US" dirty="0"/>
              <a:t> and knows the Trolley1 but also the Trolley2 and a </a:t>
            </a:r>
            <a:r>
              <a:rPr lang="en-US" dirty="0" err="1"/>
              <a:t>PickingStation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/>
              <a:t>These 3 remotes have no Address.</a:t>
            </a:r>
          </a:p>
          <a:p>
            <a:pPr lvl="1"/>
            <a:r>
              <a:rPr lang="en-US" dirty="0"/>
              <a:t>"</a:t>
            </a:r>
            <a:r>
              <a:rPr lang="en-US" dirty="0" err="1"/>
              <a:t>LaToulousaine</a:t>
            </a:r>
            <a:r>
              <a:rPr lang="en-US" dirty="0"/>
              <a:t>/Production/</a:t>
            </a:r>
            <a:r>
              <a:rPr lang="en-US" dirty="0" err="1"/>
              <a:t>SignatureBox</a:t>
            </a:r>
            <a:r>
              <a:rPr lang="en-US" dirty="0"/>
              <a:t>" is a server for them.</a:t>
            </a:r>
          </a:p>
          <a:p>
            <a:pPr lvl="1"/>
            <a:r>
              <a:rPr lang="en-US" dirty="0"/>
              <a:t>This is enough for the warehouse to do its work.</a:t>
            </a:r>
          </a:p>
          <a:p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BEF56BE-36E9-9C16-0573-8234C8D9F689}"/>
              </a:ext>
            </a:extLst>
          </p:cNvPr>
          <p:cNvSpPr txBox="1"/>
          <p:nvPr/>
        </p:nvSpPr>
        <p:spPr>
          <a:xfrm>
            <a:off x="838200" y="1690688"/>
            <a:ext cx="4414887" cy="46166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DomainName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":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LaToulousaine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EnvironmentName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": "Production",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"Local": 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"Name":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SignatureBox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},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"Remotes": [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"Name":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LogTower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"Address": "148.54.11.18:3712"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},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"Name": "Trolley1"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},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"Name": "Trolley2"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},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"Name":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PickingStation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}]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236444897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091DDF-5F8E-30C5-91C2-873531F015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Simplifications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3D2D054-8D5E-BDF9-CD5B-68A72897473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From now on, we don't show the </a:t>
            </a:r>
            <a:r>
              <a:rPr lang="en-US" dirty="0" err="1"/>
              <a:t>LogTower</a:t>
            </a:r>
            <a:r>
              <a:rPr lang="en-US" dirty="0"/>
              <a:t> configuration	.</a:t>
            </a:r>
          </a:p>
          <a:p>
            <a:pPr lvl="1"/>
            <a:r>
              <a:rPr lang="en-US" dirty="0"/>
              <a:t>This is the same for every party (if we want to target the same </a:t>
            </a:r>
            <a:r>
              <a:rPr lang="en-US" dirty="0" err="1"/>
              <a:t>LogTower</a:t>
            </a:r>
            <a:r>
              <a:rPr lang="en-US" dirty="0"/>
              <a:t>).</a:t>
            </a:r>
          </a:p>
          <a:p>
            <a:r>
              <a:rPr lang="en-US" dirty="0"/>
              <a:t>We also don’t specify the “</a:t>
            </a:r>
            <a:r>
              <a:rPr lang="en-US" dirty="0" err="1"/>
              <a:t>EnvironmentName</a:t>
            </a:r>
            <a:r>
              <a:rPr lang="en-US" dirty="0"/>
              <a:t>” anymore.</a:t>
            </a:r>
          </a:p>
          <a:p>
            <a:pPr lvl="1"/>
            <a:r>
              <a:rPr lang="en-US" dirty="0"/>
              <a:t>This defaults to the </a:t>
            </a:r>
            <a:r>
              <a:rPr lang="en-US" dirty="0" err="1"/>
              <a:t>IHostEnvironment.EnvironmentName</a:t>
            </a:r>
            <a:r>
              <a:rPr lang="en-US" dirty="0"/>
              <a:t> (that defaults to “Development”)</a:t>
            </a:r>
          </a:p>
          <a:p>
            <a:r>
              <a:rPr lang="en-US" dirty="0"/>
              <a:t>Domain and Environment names configuration </a:t>
            </a:r>
            <a:r>
              <a:rPr lang="en-US" b="1" dirty="0"/>
              <a:t>inherit</a:t>
            </a:r>
            <a:r>
              <a:rPr lang="en-US" dirty="0"/>
              <a:t> from the root to the Remotes.</a:t>
            </a:r>
          </a:p>
          <a:p>
            <a:pPr lvl="1"/>
            <a:r>
              <a:rPr lang="en-US" dirty="0"/>
              <a:t>Inheriting is the default behavior.</a:t>
            </a:r>
          </a:p>
          <a:p>
            <a:pPr lvl="1"/>
            <a:r>
              <a:rPr lang="en-US" dirty="0"/>
              <a:t>Overriding the Domain and Environment names is possible: a Remote can be in another Domain and another Environment.</a:t>
            </a: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9301857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091DDF-5F8E-30C5-91C2-873531F015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we have so far: a warehouse.</a:t>
            </a:r>
          </a:p>
        </p:txBody>
      </p:sp>
      <p:pic>
        <p:nvPicPr>
          <p:cNvPr id="5" name="Content Placeholder 4" descr="Computer outline">
            <a:extLst>
              <a:ext uri="{FF2B5EF4-FFF2-40B4-BE49-F238E27FC236}">
                <a16:creationId xmlns:a16="http://schemas.microsoft.com/office/drawing/2014/main" id="{1F205C4E-1A30-7CEB-C70F-7863D2DBCF2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195226" y="1765570"/>
            <a:ext cx="914400" cy="914400"/>
          </a:xfrm>
        </p:spPr>
      </p:pic>
      <p:pic>
        <p:nvPicPr>
          <p:cNvPr id="7" name="Graphic 6" descr="Scale outline">
            <a:extLst>
              <a:ext uri="{FF2B5EF4-FFF2-40B4-BE49-F238E27FC236}">
                <a16:creationId xmlns:a16="http://schemas.microsoft.com/office/drawing/2014/main" id="{1926719C-988C-88D9-70C0-87A09285D96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264302" y="4927059"/>
            <a:ext cx="914400" cy="914400"/>
          </a:xfrm>
          <a:prstGeom prst="rect">
            <a:avLst/>
          </a:prstGeom>
        </p:spPr>
      </p:pic>
      <p:pic>
        <p:nvPicPr>
          <p:cNvPr id="9" name="Graphic 8" descr="Box trolley with solid fill">
            <a:extLst>
              <a:ext uri="{FF2B5EF4-FFF2-40B4-BE49-F238E27FC236}">
                <a16:creationId xmlns:a16="http://schemas.microsoft.com/office/drawing/2014/main" id="{EB137CF6-1985-8779-1B20-CD73FFAC2456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9597957" y="1895991"/>
            <a:ext cx="914400" cy="914400"/>
          </a:xfrm>
          <a:prstGeom prst="rect">
            <a:avLst/>
          </a:prstGeom>
        </p:spPr>
      </p:pic>
      <p:pic>
        <p:nvPicPr>
          <p:cNvPr id="10" name="Content Placeholder 4" descr="Computer outline">
            <a:extLst>
              <a:ext uri="{FF2B5EF4-FFF2-40B4-BE49-F238E27FC236}">
                <a16:creationId xmlns:a16="http://schemas.microsoft.com/office/drawing/2014/main" id="{85596109-C7DB-6ED7-C24B-E9503941605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140757" y="4227671"/>
            <a:ext cx="914400" cy="914400"/>
          </a:xfrm>
          <a:prstGeom prst="rect">
            <a:avLst/>
          </a:prstGeom>
        </p:spPr>
      </p:pic>
      <p:pic>
        <p:nvPicPr>
          <p:cNvPr id="12" name="Graphic 11" descr="Books on shelf outline">
            <a:extLst>
              <a:ext uri="{FF2B5EF4-FFF2-40B4-BE49-F238E27FC236}">
                <a16:creationId xmlns:a16="http://schemas.microsoft.com/office/drawing/2014/main" id="{DDC40D12-A2D5-AA8B-052F-8F1043AD1907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10264302" y="4227671"/>
            <a:ext cx="914400" cy="914400"/>
          </a:xfrm>
          <a:prstGeom prst="rect">
            <a:avLst/>
          </a:prstGeom>
        </p:spPr>
      </p:pic>
      <p:pic>
        <p:nvPicPr>
          <p:cNvPr id="13" name="Graphic 12" descr="Box trolley with solid fill">
            <a:extLst>
              <a:ext uri="{FF2B5EF4-FFF2-40B4-BE49-F238E27FC236}">
                <a16:creationId xmlns:a16="http://schemas.microsoft.com/office/drawing/2014/main" id="{E6BC6827-E41E-DB85-90B3-9496EFF90B73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8174225" y="3065203"/>
            <a:ext cx="914400" cy="914400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ADD276AA-5FA8-98EC-0CD5-C2C5D44D7B5D}"/>
              </a:ext>
            </a:extLst>
          </p:cNvPr>
          <p:cNvSpPr txBox="1"/>
          <p:nvPr/>
        </p:nvSpPr>
        <p:spPr>
          <a:xfrm>
            <a:off x="6944540" y="2495304"/>
            <a:ext cx="141577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SignatureBox</a:t>
            </a:r>
            <a:endParaRPr lang="en-US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44C1609-847A-56B1-19A8-DEB802EB14FA}"/>
              </a:ext>
            </a:extLst>
          </p:cNvPr>
          <p:cNvSpPr txBox="1"/>
          <p:nvPr/>
        </p:nvSpPr>
        <p:spPr>
          <a:xfrm>
            <a:off x="9682798" y="2646827"/>
            <a:ext cx="9217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Trolley1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08D30309-30D1-8CF8-5DBA-C5FF7DF15E2A}"/>
              </a:ext>
            </a:extLst>
          </p:cNvPr>
          <p:cNvSpPr txBox="1"/>
          <p:nvPr/>
        </p:nvSpPr>
        <p:spPr>
          <a:xfrm>
            <a:off x="8257859" y="3815494"/>
            <a:ext cx="9217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Trolley2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649DCBB5-73EB-5131-D02A-00CAC9CFBF41}"/>
              </a:ext>
            </a:extLst>
          </p:cNvPr>
          <p:cNvSpPr txBox="1"/>
          <p:nvPr/>
        </p:nvSpPr>
        <p:spPr>
          <a:xfrm>
            <a:off x="8931612" y="4927059"/>
            <a:ext cx="150381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PickingStation</a:t>
            </a:r>
            <a:endParaRPr lang="en-US" dirty="0"/>
          </a:p>
        </p:txBody>
      </p:sp>
      <p:sp>
        <p:nvSpPr>
          <p:cNvPr id="21" name="Speech Bubble: Oval 20">
            <a:extLst>
              <a:ext uri="{FF2B5EF4-FFF2-40B4-BE49-F238E27FC236}">
                <a16:creationId xmlns:a16="http://schemas.microsoft.com/office/drawing/2014/main" id="{6647B478-F3FF-650F-E6CD-207EC080B2C1}"/>
              </a:ext>
            </a:extLst>
          </p:cNvPr>
          <p:cNvSpPr/>
          <p:nvPr/>
        </p:nvSpPr>
        <p:spPr>
          <a:xfrm>
            <a:off x="9285402" y="5686774"/>
            <a:ext cx="1045112" cy="618009"/>
          </a:xfrm>
          <a:custGeom>
            <a:avLst/>
            <a:gdLst>
              <a:gd name="connsiteX0" fmla="*/ 1029603 w 1045112"/>
              <a:gd name="connsiteY0" fmla="*/ -220543 h 618009"/>
              <a:gd name="connsiteX1" fmla="*/ 862060 w 1045112"/>
              <a:gd name="connsiteY1" fmla="*/ 74102 h 618009"/>
              <a:gd name="connsiteX2" fmla="*/ 762303 w 1045112"/>
              <a:gd name="connsiteY2" fmla="*/ 583569 h 618009"/>
              <a:gd name="connsiteX3" fmla="*/ 274109 w 1045112"/>
              <a:gd name="connsiteY3" fmla="*/ 580851 h 618009"/>
              <a:gd name="connsiteX4" fmla="*/ 192528 w 1045112"/>
              <a:gd name="connsiteY4" fmla="*/ 69427 h 618009"/>
              <a:gd name="connsiteX5" fmla="*/ 688528 w 1045112"/>
              <a:gd name="connsiteY5" fmla="*/ 16001 h 618009"/>
              <a:gd name="connsiteX6" fmla="*/ 1029603 w 1045112"/>
              <a:gd name="connsiteY6" fmla="*/ -220543 h 61800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045112" h="618009" extrusionOk="0">
                <a:moveTo>
                  <a:pt x="1029603" y="-220543"/>
                </a:moveTo>
                <a:cubicBezTo>
                  <a:pt x="991918" y="-88520"/>
                  <a:pt x="927629" y="-62010"/>
                  <a:pt x="862060" y="74102"/>
                </a:cubicBezTo>
                <a:cubicBezTo>
                  <a:pt x="1164307" y="220667"/>
                  <a:pt x="1076787" y="417345"/>
                  <a:pt x="762303" y="583569"/>
                </a:cubicBezTo>
                <a:cubicBezTo>
                  <a:pt x="598357" y="622480"/>
                  <a:pt x="420203" y="641476"/>
                  <a:pt x="274109" y="580851"/>
                </a:cubicBezTo>
                <a:cubicBezTo>
                  <a:pt x="-52977" y="504404"/>
                  <a:pt x="-109451" y="165270"/>
                  <a:pt x="192528" y="69427"/>
                </a:cubicBezTo>
                <a:cubicBezTo>
                  <a:pt x="339789" y="-28383"/>
                  <a:pt x="482241" y="-41515"/>
                  <a:pt x="688528" y="16001"/>
                </a:cubicBezTo>
                <a:cubicBezTo>
                  <a:pt x="804924" y="-104642"/>
                  <a:pt x="964015" y="-149111"/>
                  <a:pt x="1029603" y="-220543"/>
                </a:cubicBezTo>
                <a:close/>
              </a:path>
            </a:pathLst>
          </a:custGeom>
          <a:noFill/>
          <a:ln>
            <a:prstDash val="sysDash"/>
            <a:extLst>
              <a:ext uri="{C807C97D-BFC1-408E-A445-0C87EB9F89A2}">
                <ask:lineSketchStyleProps xmlns:ask="http://schemas.microsoft.com/office/drawing/2018/sketchyshapes" sd="1219033472">
                  <a:prstGeom prst="wedgeEllipseCallout">
                    <a:avLst>
                      <a:gd name="adj1" fmla="val 48516"/>
                      <a:gd name="adj2" fmla="val -85686"/>
                    </a:avLst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</a:rPr>
              <a:t>Devices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28007A46-8ED0-90FC-9FDE-366CF044CB4E}"/>
              </a:ext>
            </a:extLst>
          </p:cNvPr>
          <p:cNvSpPr txBox="1"/>
          <p:nvPr/>
        </p:nvSpPr>
        <p:spPr>
          <a:xfrm>
            <a:off x="647502" y="1787738"/>
            <a:ext cx="6094378" cy="3139321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10000"/>
          </a:bodyPr>
          <a:lstStyle>
            <a:lvl1pPr marL="228600" indent="-228600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/>
            </a:lvl1pPr>
            <a:lvl2pPr marL="685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/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/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r>
              <a:rPr lang="en-US" dirty="0"/>
              <a:t>Now we want the </a:t>
            </a:r>
            <a:r>
              <a:rPr lang="en-US" dirty="0" err="1"/>
              <a:t>SignatureBox</a:t>
            </a:r>
            <a:r>
              <a:rPr lang="en-US" dirty="0"/>
              <a:t> to interact with a </a:t>
            </a:r>
            <a:r>
              <a:rPr lang="en-US" dirty="0" err="1"/>
              <a:t>OneCS</a:t>
            </a:r>
            <a:r>
              <a:rPr lang="en-US" dirty="0"/>
              <a:t> application (the supervision and operation portal).</a:t>
            </a:r>
          </a:p>
          <a:p>
            <a:r>
              <a:rPr lang="en-US" dirty="0"/>
              <a:t>The </a:t>
            </a:r>
            <a:r>
              <a:rPr lang="en-US" dirty="0" err="1"/>
              <a:t>OneCS</a:t>
            </a:r>
            <a:r>
              <a:rPr lang="en-US" dirty="0"/>
              <a:t> application typically lives in the cloud. </a:t>
            </a:r>
          </a:p>
          <a:p>
            <a:r>
              <a:rPr lang="en-US" b="1" dirty="0"/>
              <a:t>If</a:t>
            </a:r>
            <a:r>
              <a:rPr lang="en-US" dirty="0"/>
              <a:t> the </a:t>
            </a:r>
            <a:r>
              <a:rPr lang="en-US" dirty="0" err="1"/>
              <a:t>SignatureBox</a:t>
            </a:r>
            <a:r>
              <a:rPr lang="en-US" dirty="0"/>
              <a:t> can be reached from the outside, we just need to declare the new </a:t>
            </a:r>
            <a:r>
              <a:rPr lang="en-US" dirty="0" err="1"/>
              <a:t>OneCS</a:t>
            </a:r>
            <a:r>
              <a:rPr lang="en-US" dirty="0"/>
              <a:t> remote on the </a:t>
            </a:r>
            <a:r>
              <a:rPr lang="en-US" dirty="0" err="1"/>
              <a:t>SignatureBox</a:t>
            </a:r>
            <a:r>
              <a:rPr lang="en-US" dirty="0"/>
              <a:t>.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5112654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4CA690-E7B9-FB17-D3F9-CD95B93175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OneCS</a:t>
            </a:r>
            <a:r>
              <a:rPr lang="en-US" dirty="0"/>
              <a:t> (can reach the </a:t>
            </a:r>
            <a:r>
              <a:rPr lang="en-US" dirty="0" err="1"/>
              <a:t>SignatureBox</a:t>
            </a:r>
            <a:r>
              <a:rPr lang="en-US" dirty="0"/>
              <a:t>).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3E00EFF-DD86-3588-5686-FCEFF2B8B8B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6033940" cy="1143818"/>
          </a:xfrm>
        </p:spPr>
        <p:txBody>
          <a:bodyPr vert="horz" lIns="91440" tIns="45720" rIns="91440" bIns="45720" rtlCol="0">
            <a:normAutofit fontScale="92500" lnSpcReduction="10000"/>
          </a:bodyPr>
          <a:lstStyle/>
          <a:p>
            <a:r>
              <a:rPr lang="en-US" dirty="0"/>
              <a:t>The name of this new Party is the same as the </a:t>
            </a:r>
            <a:r>
              <a:rPr lang="en-US" dirty="0" err="1"/>
              <a:t>DomainName</a:t>
            </a:r>
            <a:r>
              <a:rPr lang="en-US" dirty="0"/>
              <a:t>: this Party is the "domain controller"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BEF56BE-36E9-9C16-0573-8234C8D9F689}"/>
              </a:ext>
            </a:extLst>
          </p:cNvPr>
          <p:cNvSpPr txBox="1"/>
          <p:nvPr/>
        </p:nvSpPr>
        <p:spPr>
          <a:xfrm>
            <a:off x="7628106" y="1833428"/>
            <a:ext cx="4414887" cy="418576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DomainName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":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LaToulousaine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"Local": 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"Name":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SignatureBox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},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"Remotes": [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"Name": "Trolley1"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},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"Name": "Trolley2"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},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"Name":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PickingStation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},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"Name": "</a:t>
            </a:r>
            <a:r>
              <a:rPr lang="en-US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LaToulousaine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}]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0FAFD25-AA21-5283-15FC-B790EE62F46D}"/>
              </a:ext>
            </a:extLst>
          </p:cNvPr>
          <p:cNvSpPr txBox="1"/>
          <p:nvPr/>
        </p:nvSpPr>
        <p:spPr>
          <a:xfrm>
            <a:off x="838201" y="2949401"/>
            <a:ext cx="3968479" cy="246221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1400">
                <a:latin typeface="Courier New" panose="02070309020205020404" pitchFamily="49" charset="0"/>
                <a:cs typeface="Courier New" panose="02070309020205020404" pitchFamily="49" charset="0"/>
              </a:defRPr>
            </a:lvl1pPr>
          </a:lstStyle>
          <a:p>
            <a:r>
              <a:rPr lang="en-US" dirty="0"/>
              <a:t>{</a:t>
            </a:r>
          </a:p>
          <a:p>
            <a:r>
              <a:rPr lang="en-US" dirty="0"/>
              <a:t>  "</a:t>
            </a:r>
            <a:r>
              <a:rPr lang="en-US" dirty="0" err="1"/>
              <a:t>DomainName</a:t>
            </a:r>
            <a:r>
              <a:rPr lang="en-US" dirty="0"/>
              <a:t>": "</a:t>
            </a:r>
            <a:r>
              <a:rPr lang="en-US" dirty="0" err="1"/>
              <a:t>LaToulousaine</a:t>
            </a:r>
            <a:r>
              <a:rPr lang="en-US" dirty="0"/>
              <a:t>",</a:t>
            </a:r>
          </a:p>
          <a:p>
            <a:r>
              <a:rPr lang="en-US" dirty="0"/>
              <a:t>   "Local": {</a:t>
            </a:r>
          </a:p>
          <a:p>
            <a:r>
              <a:rPr lang="en-US" dirty="0"/>
              <a:t>    "Name": "</a:t>
            </a:r>
            <a:r>
              <a:rPr lang="en-US" b="1" dirty="0" err="1"/>
              <a:t>LaToulousaine</a:t>
            </a:r>
            <a:r>
              <a:rPr lang="en-US" dirty="0"/>
              <a:t>"</a:t>
            </a:r>
          </a:p>
          <a:p>
            <a:r>
              <a:rPr lang="en-US" dirty="0"/>
              <a:t>  },</a:t>
            </a:r>
          </a:p>
          <a:p>
            <a:r>
              <a:rPr lang="en-US" dirty="0"/>
              <a:t>  "Remotes": [</a:t>
            </a:r>
          </a:p>
          <a:p>
            <a:r>
              <a:rPr lang="en-US" dirty="0"/>
              <a:t>  {</a:t>
            </a:r>
          </a:p>
          <a:p>
            <a:r>
              <a:rPr lang="en-US" dirty="0"/>
              <a:t>    "Name": "</a:t>
            </a:r>
            <a:r>
              <a:rPr lang="en-US" b="1" dirty="0" err="1"/>
              <a:t>SignatureBox</a:t>
            </a:r>
            <a:r>
              <a:rPr lang="en-US" dirty="0"/>
              <a:t>",</a:t>
            </a:r>
          </a:p>
          <a:p>
            <a:r>
              <a:rPr lang="en-US" dirty="0"/>
              <a:t>    </a:t>
            </a:r>
            <a:r>
              <a:rPr lang="en-US" b="1" dirty="0"/>
              <a:t>"Address": "65.12.13.14"</a:t>
            </a:r>
          </a:p>
          <a:p>
            <a:r>
              <a:rPr lang="en-US" dirty="0"/>
              <a:t>  }]</a:t>
            </a:r>
          </a:p>
          <a:p>
            <a:r>
              <a:rPr lang="en-US" dirty="0"/>
              <a:t>}</a:t>
            </a:r>
          </a:p>
        </p:txBody>
      </p:sp>
      <p:sp>
        <p:nvSpPr>
          <p:cNvPr id="7" name="Arrow: Right 6">
            <a:extLst>
              <a:ext uri="{FF2B5EF4-FFF2-40B4-BE49-F238E27FC236}">
                <a16:creationId xmlns:a16="http://schemas.microsoft.com/office/drawing/2014/main" id="{5E17AC8F-FBF4-B06F-0002-2452720D9DA0}"/>
              </a:ext>
            </a:extLst>
          </p:cNvPr>
          <p:cNvSpPr/>
          <p:nvPr/>
        </p:nvSpPr>
        <p:spPr>
          <a:xfrm>
            <a:off x="4806680" y="4165274"/>
            <a:ext cx="2821426" cy="474819"/>
          </a:xfrm>
          <a:prstGeom prst="rightArrow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Initiate</a:t>
            </a:r>
          </a:p>
        </p:txBody>
      </p:sp>
      <p:sp>
        <p:nvSpPr>
          <p:cNvPr id="9" name="Arrow: Left-Right 8">
            <a:extLst>
              <a:ext uri="{FF2B5EF4-FFF2-40B4-BE49-F238E27FC236}">
                <a16:creationId xmlns:a16="http://schemas.microsoft.com/office/drawing/2014/main" id="{31EAFA31-65C4-FFEF-4B78-407CABE4FBDC}"/>
              </a:ext>
            </a:extLst>
          </p:cNvPr>
          <p:cNvSpPr/>
          <p:nvPr/>
        </p:nvSpPr>
        <p:spPr>
          <a:xfrm>
            <a:off x="4912468" y="4517578"/>
            <a:ext cx="2485417" cy="474819"/>
          </a:xfrm>
          <a:prstGeom prst="leftRightArrow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2-ways exchange</a:t>
            </a:r>
          </a:p>
        </p:txBody>
      </p:sp>
    </p:spTree>
    <p:extLst>
      <p:ext uri="{BB962C8B-B14F-4D97-AF65-F5344CB8AC3E}">
        <p14:creationId xmlns:p14="http://schemas.microsoft.com/office/powerpoint/2010/main" val="108837285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4CA690-E7B9-FB17-D3F9-CD95B93175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OneCS</a:t>
            </a:r>
            <a:r>
              <a:rPr lang="en-US" dirty="0"/>
              <a:t> (cannot reach the </a:t>
            </a:r>
            <a:r>
              <a:rPr lang="en-US" dirty="0" err="1"/>
              <a:t>SignatureBox</a:t>
            </a:r>
            <a:r>
              <a:rPr lang="en-US" dirty="0"/>
              <a:t>).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3E00EFF-DD86-3588-5686-FCEFF2B8B8B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5257800" cy="1143818"/>
          </a:xfrm>
        </p:spPr>
        <p:txBody>
          <a:bodyPr vert="horz" lIns="91440" tIns="45720" rIns="91440" bIns="45720" rtlCol="0">
            <a:normAutofit/>
          </a:bodyPr>
          <a:lstStyle/>
          <a:p>
            <a:r>
              <a:rPr lang="en-US" dirty="0"/>
              <a:t>This may be the most common configuration pattern.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BEF56BE-36E9-9C16-0573-8234C8D9F689}"/>
              </a:ext>
            </a:extLst>
          </p:cNvPr>
          <p:cNvSpPr txBox="1"/>
          <p:nvPr/>
        </p:nvSpPr>
        <p:spPr>
          <a:xfrm>
            <a:off x="7512996" y="1690688"/>
            <a:ext cx="4113179" cy="46166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DomainName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":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LaToulousaine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EnvironmentName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": "Production",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"Local": 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"Name":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SignatureBox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},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"Remotes": [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"Name": "Trolley1"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},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"Name": "Trolley2"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},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"Name":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PickingStation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},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"Name": "</a:t>
            </a:r>
            <a:r>
              <a:rPr lang="en-US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LaToulousaine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",</a:t>
            </a:r>
          </a:p>
          <a:p>
            <a:pPr lvl="1"/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"Address": "27.28.29.30:3712"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}]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0FAFD25-AA21-5283-15FC-B790EE62F46D}"/>
              </a:ext>
            </a:extLst>
          </p:cNvPr>
          <p:cNvSpPr txBox="1"/>
          <p:nvPr/>
        </p:nvSpPr>
        <p:spPr>
          <a:xfrm>
            <a:off x="565825" y="3270414"/>
            <a:ext cx="3928353" cy="22467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1400">
                <a:latin typeface="Courier New" panose="02070309020205020404" pitchFamily="49" charset="0"/>
                <a:cs typeface="Courier New" panose="02070309020205020404" pitchFamily="49" charset="0"/>
              </a:defRPr>
            </a:lvl1pPr>
          </a:lstStyle>
          <a:p>
            <a:r>
              <a:rPr lang="en-US" dirty="0"/>
              <a:t>{</a:t>
            </a:r>
          </a:p>
          <a:p>
            <a:r>
              <a:rPr lang="en-US" dirty="0"/>
              <a:t>  "</a:t>
            </a:r>
            <a:r>
              <a:rPr lang="en-US" dirty="0" err="1"/>
              <a:t>DomainName</a:t>
            </a:r>
            <a:r>
              <a:rPr lang="en-US" dirty="0"/>
              <a:t>": "</a:t>
            </a:r>
            <a:r>
              <a:rPr lang="en-US" dirty="0" err="1"/>
              <a:t>LaToulousaine</a:t>
            </a:r>
            <a:r>
              <a:rPr lang="en-US" dirty="0"/>
              <a:t>",</a:t>
            </a:r>
          </a:p>
          <a:p>
            <a:r>
              <a:rPr lang="en-US" dirty="0"/>
              <a:t>  "Local": {</a:t>
            </a:r>
          </a:p>
          <a:p>
            <a:r>
              <a:rPr lang="en-US" dirty="0"/>
              <a:t>    "Name": "</a:t>
            </a:r>
            <a:r>
              <a:rPr lang="en-US" b="1" dirty="0" err="1"/>
              <a:t>LaToulousaine</a:t>
            </a:r>
            <a:r>
              <a:rPr lang="en-US" dirty="0"/>
              <a:t>"</a:t>
            </a:r>
          </a:p>
          <a:p>
            <a:r>
              <a:rPr lang="en-US" dirty="0"/>
              <a:t>  },</a:t>
            </a:r>
          </a:p>
          <a:p>
            <a:r>
              <a:rPr lang="en-US" dirty="0"/>
              <a:t>  "Remotes": [</a:t>
            </a:r>
          </a:p>
          <a:p>
            <a:r>
              <a:rPr lang="en-US" dirty="0"/>
              <a:t>  {</a:t>
            </a:r>
          </a:p>
          <a:p>
            <a:r>
              <a:rPr lang="en-US" dirty="0"/>
              <a:t>    "Name": "</a:t>
            </a:r>
            <a:r>
              <a:rPr lang="en-US" dirty="0" err="1"/>
              <a:t>SignatureBox</a:t>
            </a:r>
            <a:r>
              <a:rPr lang="en-US" dirty="0"/>
              <a:t>“</a:t>
            </a:r>
          </a:p>
          <a:p>
            <a:r>
              <a:rPr lang="en-US" dirty="0"/>
              <a:t>  }]</a:t>
            </a:r>
          </a:p>
          <a:p>
            <a:r>
              <a:rPr lang="en-US" dirty="0"/>
              <a:t>}</a:t>
            </a:r>
          </a:p>
        </p:txBody>
      </p:sp>
      <p:sp>
        <p:nvSpPr>
          <p:cNvPr id="5" name="Arrow: Right 4">
            <a:extLst>
              <a:ext uri="{FF2B5EF4-FFF2-40B4-BE49-F238E27FC236}">
                <a16:creationId xmlns:a16="http://schemas.microsoft.com/office/drawing/2014/main" id="{D35C4024-373F-D0A7-2707-CA2C02C6ED10}"/>
              </a:ext>
            </a:extLst>
          </p:cNvPr>
          <p:cNvSpPr/>
          <p:nvPr/>
        </p:nvSpPr>
        <p:spPr>
          <a:xfrm rot="10800000">
            <a:off x="4709400" y="4116634"/>
            <a:ext cx="2821426" cy="474819"/>
          </a:xfrm>
          <a:prstGeom prst="rightArrow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Initiate</a:t>
            </a:r>
          </a:p>
        </p:txBody>
      </p:sp>
      <p:sp>
        <p:nvSpPr>
          <p:cNvPr id="7" name="Arrow: Left-Right 6">
            <a:extLst>
              <a:ext uri="{FF2B5EF4-FFF2-40B4-BE49-F238E27FC236}">
                <a16:creationId xmlns:a16="http://schemas.microsoft.com/office/drawing/2014/main" id="{4A26B160-EE0D-09D3-3155-550502E8D3D1}"/>
              </a:ext>
            </a:extLst>
          </p:cNvPr>
          <p:cNvSpPr/>
          <p:nvPr/>
        </p:nvSpPr>
        <p:spPr>
          <a:xfrm>
            <a:off x="4912468" y="4517578"/>
            <a:ext cx="2485417" cy="474819"/>
          </a:xfrm>
          <a:prstGeom prst="leftRightArrow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2-ways exchange</a:t>
            </a:r>
          </a:p>
        </p:txBody>
      </p:sp>
    </p:spTree>
    <p:extLst>
      <p:ext uri="{BB962C8B-B14F-4D97-AF65-F5344CB8AC3E}">
        <p14:creationId xmlns:p14="http://schemas.microsoft.com/office/powerpoint/2010/main" val="51217299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4CA690-E7B9-FB17-D3F9-CD95B93175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LaToulousaine</a:t>
            </a:r>
            <a:r>
              <a:rPr lang="en-US" dirty="0"/>
              <a:t> is actually a SaaS customer…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3E00EFF-DD86-3588-5686-FCEFF2B8B8B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7"/>
            <a:ext cx="10640438" cy="4802187"/>
          </a:xfrm>
        </p:spPr>
        <p:txBody>
          <a:bodyPr vert="horz" lIns="91440" tIns="45720" rIns="91440" bIns="45720" rtlCol="0">
            <a:normAutofit/>
          </a:bodyPr>
          <a:lstStyle/>
          <a:p>
            <a:r>
              <a:rPr lang="en-US" dirty="0"/>
              <a:t>There is only one </a:t>
            </a:r>
            <a:r>
              <a:rPr lang="en-US" dirty="0" err="1"/>
              <a:t>OneCS</a:t>
            </a:r>
            <a:r>
              <a:rPr lang="en-US" dirty="0"/>
              <a:t> Application for multiple Domains. </a:t>
            </a:r>
            <a:r>
              <a:rPr lang="en-US" dirty="0" err="1"/>
              <a:t>LaToulousaine</a:t>
            </a:r>
            <a:r>
              <a:rPr lang="en-US" dirty="0"/>
              <a:t> is just one of them.</a:t>
            </a:r>
          </a:p>
          <a:p>
            <a:r>
              <a:rPr lang="en-US" dirty="0"/>
              <a:t>The SaaS offer scales horizontally:</a:t>
            </a:r>
          </a:p>
          <a:p>
            <a:pPr lvl="1"/>
            <a:r>
              <a:rPr lang="en-US" dirty="0"/>
              <a:t>A set of servers: </a:t>
            </a:r>
          </a:p>
          <a:p>
            <a:pPr lvl="2"/>
            <a:r>
              <a:rPr lang="en-US" dirty="0"/>
              <a:t>Parties are named “OneCS1”, “OneCS2”, “OneCS3”, etc. </a:t>
            </a:r>
          </a:p>
          <a:p>
            <a:pPr lvl="2"/>
            <a:r>
              <a:rPr lang="en-US" dirty="0"/>
              <a:t>And share the same Domain: “</a:t>
            </a:r>
            <a:r>
              <a:rPr lang="en-US" dirty="0" err="1"/>
              <a:t>SaasOneCS</a:t>
            </a:r>
            <a:r>
              <a:rPr lang="en-US" dirty="0"/>
              <a:t>” </a:t>
            </a:r>
          </a:p>
          <a:p>
            <a:r>
              <a:rPr lang="en-US" dirty="0"/>
              <a:t>Each </a:t>
            </a:r>
            <a:r>
              <a:rPr lang="en-US" dirty="0" err="1"/>
              <a:t>OneCS</a:t>
            </a:r>
            <a:r>
              <a:rPr lang="en-US" dirty="0"/>
              <a:t> application contains and defines the Domains they handle.</a:t>
            </a:r>
          </a:p>
        </p:txBody>
      </p:sp>
    </p:spTree>
    <p:extLst>
      <p:ext uri="{BB962C8B-B14F-4D97-AF65-F5344CB8AC3E}">
        <p14:creationId xmlns:p14="http://schemas.microsoft.com/office/powerpoint/2010/main" val="288370785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4CA690-E7B9-FB17-D3F9-CD95B93175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LaToulousaine</a:t>
            </a:r>
            <a:r>
              <a:rPr lang="en-US" dirty="0"/>
              <a:t> in SaaS is hosted by OneCS1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3E00EFF-DD86-3588-5686-FCEFF2B8B8B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11611" y="1511180"/>
            <a:ext cx="6225551" cy="539139"/>
          </a:xfrm>
        </p:spPr>
        <p:txBody>
          <a:bodyPr vert="horz" lIns="91440" tIns="45720" rIns="91440" bIns="45720" rtlCol="0">
            <a:normAutofit fontScale="77500" lnSpcReduction="20000"/>
          </a:bodyPr>
          <a:lstStyle/>
          <a:p>
            <a:r>
              <a:rPr lang="en-US" dirty="0"/>
              <a:t>The actual configuration of the Remote Party is: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BEF56BE-36E9-9C16-0573-8234C8D9F689}"/>
              </a:ext>
            </a:extLst>
          </p:cNvPr>
          <p:cNvSpPr txBox="1"/>
          <p:nvPr/>
        </p:nvSpPr>
        <p:spPr>
          <a:xfrm>
            <a:off x="838201" y="1690688"/>
            <a:ext cx="3782438" cy="48320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DomainName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":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SaasOneCS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"Local": 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"Name": "OneCS1"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},</a:t>
            </a:r>
            <a:b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"Remotes": [</a:t>
            </a:r>
            <a:b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"Name":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LaToulousaine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</a:t>
            </a:r>
            <a:r>
              <a:rPr lang="en-US" sz="14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Domain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": 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"Remotes": [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"Name": "Trolley1"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},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"Name": "Trolley2"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},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"Name":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PickingStation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}]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}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}]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4AF6B14-89CD-7852-A417-173476AAD20D}"/>
              </a:ext>
            </a:extLst>
          </p:cNvPr>
          <p:cNvSpPr txBox="1"/>
          <p:nvPr/>
        </p:nvSpPr>
        <p:spPr>
          <a:xfrm>
            <a:off x="5253245" y="1758853"/>
            <a:ext cx="3870497" cy="418576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{</a:t>
            </a:r>
            <a:b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lang="en-US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DomainName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": "</a:t>
            </a:r>
            <a:r>
              <a:rPr lang="en-US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SaasOneCS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"Name":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LaToulousaine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</a:t>
            </a:r>
            <a:r>
              <a:rPr lang="en-US" sz="14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Domain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": {</a:t>
            </a:r>
            <a:b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lang="en-US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DomainName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": "</a:t>
            </a:r>
            <a:r>
              <a:rPr lang="en-US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LaToulousaine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"Local": {</a:t>
            </a:r>
          </a:p>
          <a:p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  "Name": "</a:t>
            </a:r>
            <a:r>
              <a:rPr lang="en-US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LaToulousaine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</a:p>
          <a:p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}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"Remotes": [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"Name": "Trolley1"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},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"Name": "Trolley2"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},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"Name":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PickingStation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}]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}</a:t>
            </a:r>
          </a:p>
        </p:txBody>
      </p:sp>
      <p:sp>
        <p:nvSpPr>
          <p:cNvPr id="7" name="Flowchart: Process 6">
            <a:extLst>
              <a:ext uri="{FF2B5EF4-FFF2-40B4-BE49-F238E27FC236}">
                <a16:creationId xmlns:a16="http://schemas.microsoft.com/office/drawing/2014/main" id="{66D3FA9A-1ACF-0F0F-A825-F055FC6DDD64}"/>
              </a:ext>
            </a:extLst>
          </p:cNvPr>
          <p:cNvSpPr/>
          <p:nvPr/>
        </p:nvSpPr>
        <p:spPr>
          <a:xfrm>
            <a:off x="1060315" y="3287949"/>
            <a:ext cx="58366" cy="2607013"/>
          </a:xfrm>
          <a:prstGeom prst="flowChart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Flowchart: Process 7">
            <a:extLst>
              <a:ext uri="{FF2B5EF4-FFF2-40B4-BE49-F238E27FC236}">
                <a16:creationId xmlns:a16="http://schemas.microsoft.com/office/drawing/2014/main" id="{D7396A28-FA73-8D35-4321-6D645A98FA48}"/>
              </a:ext>
            </a:extLst>
          </p:cNvPr>
          <p:cNvSpPr/>
          <p:nvPr/>
        </p:nvSpPr>
        <p:spPr>
          <a:xfrm>
            <a:off x="5253245" y="2097663"/>
            <a:ext cx="58366" cy="3657600"/>
          </a:xfrm>
          <a:prstGeom prst="flowChart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ight Brace 9">
            <a:extLst>
              <a:ext uri="{FF2B5EF4-FFF2-40B4-BE49-F238E27FC236}">
                <a16:creationId xmlns:a16="http://schemas.microsoft.com/office/drawing/2014/main" id="{012D657E-3F85-7693-2306-7CDBA691D24C}"/>
              </a:ext>
            </a:extLst>
          </p:cNvPr>
          <p:cNvSpPr/>
          <p:nvPr/>
        </p:nvSpPr>
        <p:spPr>
          <a:xfrm>
            <a:off x="8987555" y="2652139"/>
            <a:ext cx="272374" cy="729575"/>
          </a:xfrm>
          <a:prstGeom prst="rightBrac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CA9A765-8C50-8FC6-1C65-47EDA54ED74A}"/>
              </a:ext>
            </a:extLst>
          </p:cNvPr>
          <p:cNvSpPr txBox="1"/>
          <p:nvPr/>
        </p:nvSpPr>
        <p:spPr>
          <a:xfrm>
            <a:off x="9224261" y="2832260"/>
            <a:ext cx="191328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Domain Controller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0CD1D9BD-FC2F-C5A4-41E3-48156C379A9A}"/>
              </a:ext>
            </a:extLst>
          </p:cNvPr>
          <p:cNvSpPr txBox="1">
            <a:spLocks/>
          </p:cNvSpPr>
          <p:nvPr/>
        </p:nvSpPr>
        <p:spPr>
          <a:xfrm>
            <a:off x="5311612" y="5944614"/>
            <a:ext cx="5670616" cy="539139"/>
          </a:xfrm>
          <a:prstGeom prst="rect">
            <a:avLst/>
          </a:prstGeom>
        </p:spPr>
        <p:txBody>
          <a:bodyPr vert="horz" lIns="91440" tIns="45720" rIns="91440" bIns="45720" rtlCol="0">
            <a:normAutofit fontScale="700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"</a:t>
            </a:r>
            <a:r>
              <a:rPr lang="en-US" dirty="0" err="1"/>
              <a:t>EnvironmentName</a:t>
            </a:r>
            <a:r>
              <a:rPr lang="en-US" dirty="0"/>
              <a:t>" is also under control of the Remote definition.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9365317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4CA690-E7B9-FB17-D3F9-CD95B93175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365125"/>
            <a:ext cx="10885251" cy="1325563"/>
          </a:xfrm>
        </p:spPr>
        <p:txBody>
          <a:bodyPr/>
          <a:lstStyle/>
          <a:p>
            <a:r>
              <a:rPr lang="en-US" dirty="0" err="1"/>
              <a:t>Oups</a:t>
            </a:r>
            <a:r>
              <a:rPr lang="en-US" dirty="0"/>
              <a:t>! </a:t>
            </a:r>
            <a:r>
              <a:rPr lang="en-US" dirty="0" err="1"/>
              <a:t>LaToulousaine</a:t>
            </a:r>
            <a:r>
              <a:rPr lang="en-US" dirty="0"/>
              <a:t> is NOT in production yet!</a:t>
            </a:r>
          </a:p>
        </p:txBody>
      </p:sp>
      <p:graphicFrame>
        <p:nvGraphicFramePr>
          <p:cNvPr id="14" name="Table 14">
            <a:extLst>
              <a:ext uri="{FF2B5EF4-FFF2-40B4-BE49-F238E27FC236}">
                <a16:creationId xmlns:a16="http://schemas.microsoft.com/office/drawing/2014/main" id="{88298F33-3702-CB79-CA00-2B1B2EB3EE33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912494569"/>
              </p:ext>
            </p:extLst>
          </p:nvPr>
        </p:nvGraphicFramePr>
        <p:xfrm>
          <a:off x="4620639" y="4387432"/>
          <a:ext cx="7102812" cy="2164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01957">
                  <a:extLst>
                    <a:ext uri="{9D8B030D-6E8A-4147-A177-3AD203B41FA5}">
                      <a16:colId xmlns:a16="http://schemas.microsoft.com/office/drawing/2014/main" val="1002437713"/>
                    </a:ext>
                  </a:extLst>
                </a:gridCol>
                <a:gridCol w="3600855">
                  <a:extLst>
                    <a:ext uri="{9D8B030D-6E8A-4147-A177-3AD203B41FA5}">
                      <a16:colId xmlns:a16="http://schemas.microsoft.com/office/drawing/2014/main" val="2669333865"/>
                    </a:ext>
                  </a:extLst>
                </a:gridCol>
              </a:tblGrid>
              <a:tr h="263240">
                <a:tc>
                  <a:txBody>
                    <a:bodyPr/>
                    <a:lstStyle/>
                    <a:p>
                      <a:pPr algn="ctr"/>
                      <a:r>
                        <a:rPr lang="en-US" sz="1600" dirty="0"/>
                        <a:t>Party Full 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/>
                        <a:t>Description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12680113"/>
                  </a:ext>
                </a:extLst>
              </a:tr>
              <a:tr h="263240">
                <a:tc>
                  <a:txBody>
                    <a:bodyPr/>
                    <a:lstStyle/>
                    <a:p>
                      <a:r>
                        <a:rPr lang="en-US" sz="1600" dirty="0" err="1"/>
                        <a:t>SaasOneCS</a:t>
                      </a:r>
                      <a:r>
                        <a:rPr lang="en-US" sz="1600" dirty="0"/>
                        <a:t>/Production/OneCS1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The server n°1 of the </a:t>
                      </a:r>
                      <a:r>
                        <a:rPr lang="en-US" sz="1600" dirty="0" err="1"/>
                        <a:t>SaasOffer</a:t>
                      </a:r>
                      <a:r>
                        <a:rPr lang="en-US" sz="1600" dirty="0"/>
                        <a:t>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0081413"/>
                  </a:ext>
                </a:extLst>
              </a:tr>
              <a:tr h="263240">
                <a:tc>
                  <a:txBody>
                    <a:bodyPr/>
                    <a:lstStyle/>
                    <a:p>
                      <a:r>
                        <a:rPr lang="en-US" sz="1600" dirty="0" err="1"/>
                        <a:t>SaasOneCS</a:t>
                      </a:r>
                      <a:r>
                        <a:rPr lang="en-US" sz="1600" dirty="0"/>
                        <a:t>/Staging/</a:t>
                      </a:r>
                      <a:r>
                        <a:rPr lang="en-US" sz="1600" dirty="0" err="1"/>
                        <a:t>LaToulousaine</a:t>
                      </a:r>
                      <a:endParaRPr 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Host of the Domain in the </a:t>
                      </a:r>
                      <a:r>
                        <a:rPr lang="en-US" sz="1600" dirty="0" err="1"/>
                        <a:t>Saas</a:t>
                      </a:r>
                      <a:r>
                        <a:rPr lang="en-US" sz="1600" dirty="0"/>
                        <a:t> offer.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68281902"/>
                  </a:ext>
                </a:extLst>
              </a:tr>
              <a:tr h="263240">
                <a:tc>
                  <a:txBody>
                    <a:bodyPr/>
                    <a:lstStyle/>
                    <a:p>
                      <a:r>
                        <a:rPr lang="en-US" sz="1600" dirty="0" err="1"/>
                        <a:t>LaToulousaine</a:t>
                      </a:r>
                      <a:r>
                        <a:rPr lang="en-US" sz="1600" dirty="0"/>
                        <a:t>/Staging/</a:t>
                      </a:r>
                      <a:r>
                        <a:rPr lang="en-US" sz="1600" dirty="0" err="1"/>
                        <a:t>LaToulousaine</a:t>
                      </a:r>
                      <a:endParaRPr 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The controller of the customer domain.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12232328"/>
                  </a:ext>
                </a:extLst>
              </a:tr>
              <a:tr h="757266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dirty="0" err="1"/>
                        <a:t>LaToulousaine</a:t>
                      </a:r>
                      <a:r>
                        <a:rPr lang="en-US" sz="1600" dirty="0"/>
                        <a:t>/Staging/Trolley1</a:t>
                      </a:r>
                      <a:br>
                        <a:rPr lang="en-US" sz="1600" dirty="0"/>
                      </a:br>
                      <a:r>
                        <a:rPr lang="en-US" sz="1600" dirty="0" err="1"/>
                        <a:t>LaToulousaine</a:t>
                      </a:r>
                      <a:r>
                        <a:rPr lang="en-US" sz="1600" dirty="0"/>
                        <a:t>/Staging/Trolley2</a:t>
                      </a:r>
                      <a:br>
                        <a:rPr lang="en-US" sz="1600" dirty="0"/>
                      </a:br>
                      <a:r>
                        <a:rPr lang="en-US" sz="1600" dirty="0"/>
                        <a:t>etc.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The customer’s agents.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15501826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1BEF56BE-36E9-9C16-0573-8234C8D9F689}"/>
              </a:ext>
            </a:extLst>
          </p:cNvPr>
          <p:cNvSpPr txBox="1"/>
          <p:nvPr/>
        </p:nvSpPr>
        <p:spPr>
          <a:xfrm>
            <a:off x="838201" y="1544768"/>
            <a:ext cx="3782438" cy="33239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DomainName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":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SaasOneCS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"Environment": "Production"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"Local": 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"Name": "OneCS1"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},</a:t>
            </a:r>
            <a:b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"Remotes": [</a:t>
            </a:r>
            <a:b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"Name":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LaToulousaine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"Environment": "Staging"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"Domain": 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"Remotes": [ … ]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}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}]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4AF6B14-89CD-7852-A417-173476AAD20D}"/>
              </a:ext>
            </a:extLst>
          </p:cNvPr>
          <p:cNvSpPr txBox="1"/>
          <p:nvPr/>
        </p:nvSpPr>
        <p:spPr>
          <a:xfrm>
            <a:off x="6096000" y="1544768"/>
            <a:ext cx="3870497" cy="2677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{</a:t>
            </a:r>
            <a:b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lang="en-US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DomainName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": "</a:t>
            </a:r>
            <a:r>
              <a:rPr lang="en-US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SaasOneCS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  <a:b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"Environment": "Staging"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"Name":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LaToulousaine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"Domain": {</a:t>
            </a:r>
            <a:b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lang="en-US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DomainName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": "</a:t>
            </a:r>
            <a:r>
              <a:rPr lang="en-US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LaToulousaine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</a:p>
          <a:p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"Environment": "Staging"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"Local": {</a:t>
            </a:r>
          </a:p>
          <a:p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  "Name": "</a:t>
            </a:r>
            <a:r>
              <a:rPr lang="en-US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LaToulousaine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</a:p>
          <a:p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}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"Remotes": [ … ]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}</a:t>
            </a:r>
          </a:p>
        </p:txBody>
      </p:sp>
      <p:sp>
        <p:nvSpPr>
          <p:cNvPr id="5" name="Right Brace 4">
            <a:extLst>
              <a:ext uri="{FF2B5EF4-FFF2-40B4-BE49-F238E27FC236}">
                <a16:creationId xmlns:a16="http://schemas.microsoft.com/office/drawing/2014/main" id="{C4E13CAF-C52E-CDC4-F2EC-218FF7FDF560}"/>
              </a:ext>
            </a:extLst>
          </p:cNvPr>
          <p:cNvSpPr/>
          <p:nvPr/>
        </p:nvSpPr>
        <p:spPr>
          <a:xfrm>
            <a:off x="3988340" y="3103117"/>
            <a:ext cx="311286" cy="1128409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ight Brace 8">
            <a:extLst>
              <a:ext uri="{FF2B5EF4-FFF2-40B4-BE49-F238E27FC236}">
                <a16:creationId xmlns:a16="http://schemas.microsoft.com/office/drawing/2014/main" id="{7CD21529-3AEE-6DC4-B3A4-36DD460C3AB7}"/>
              </a:ext>
            </a:extLst>
          </p:cNvPr>
          <p:cNvSpPr/>
          <p:nvPr/>
        </p:nvSpPr>
        <p:spPr>
          <a:xfrm rot="10800000">
            <a:off x="5784714" y="1704229"/>
            <a:ext cx="311286" cy="2323016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9AC5BC6D-74F1-02F9-F999-C814C8A3B146}"/>
              </a:ext>
            </a:extLst>
          </p:cNvPr>
          <p:cNvCxnSpPr>
            <a:stCxn id="5" idx="1"/>
            <a:endCxn id="9" idx="1"/>
          </p:cNvCxnSpPr>
          <p:nvPr/>
        </p:nvCxnSpPr>
        <p:spPr>
          <a:xfrm flipV="1">
            <a:off x="4299626" y="2865737"/>
            <a:ext cx="1485088" cy="80158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472432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02CAA5-AE8B-13AE-3860-23AA77D328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LaToulousaine</a:t>
            </a:r>
            <a:r>
              <a:rPr lang="en-US" dirty="0"/>
              <a:t> goes to London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6BE14D5-3E2D-7E2E-F06E-5A1F413D3A9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We may keep the single </a:t>
            </a:r>
            <a:r>
              <a:rPr lang="en-US" dirty="0" err="1"/>
              <a:t>LaToulousaine</a:t>
            </a:r>
            <a:r>
              <a:rPr lang="en-US" dirty="0"/>
              <a:t> domain and define the English Agents in them… </a:t>
            </a:r>
          </a:p>
          <a:p>
            <a:pPr lvl="1"/>
            <a:r>
              <a:rPr lang="en-US" dirty="0"/>
              <a:t>… and deal with “Trolley1” and “London_Trolley1”.</a:t>
            </a:r>
          </a:p>
          <a:p>
            <a:pPr lvl="1">
              <a:buFont typeface="Wingdings" panose="05000000000000000000" pitchFamily="2" charset="2"/>
              <a:buChar char="è"/>
            </a:pPr>
            <a:r>
              <a:rPr lang="en-US" dirty="0">
                <a:sym typeface="Wingdings" panose="05000000000000000000" pitchFamily="2" charset="2"/>
              </a:rPr>
              <a:t>This less than ideal!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We can do better but this requires a small adjustment to the Domain notion.</a:t>
            </a:r>
          </a:p>
          <a:p>
            <a:pPr lvl="1"/>
            <a:r>
              <a:rPr lang="en-US" dirty="0" err="1"/>
              <a:t>LaToulousaine</a:t>
            </a:r>
            <a:r>
              <a:rPr lang="en-US" dirty="0"/>
              <a:t> domain must continue to exists: its logs are grouped under this root key, a repository exists for “</a:t>
            </a:r>
            <a:r>
              <a:rPr lang="en-US" dirty="0" err="1"/>
              <a:t>LaToulousaine</a:t>
            </a:r>
            <a:r>
              <a:rPr lang="en-US" dirty="0"/>
              <a:t>” (and may be a Stack), we earn money from “</a:t>
            </a:r>
            <a:r>
              <a:rPr lang="en-US" dirty="0" err="1"/>
              <a:t>LaToulousaine</a:t>
            </a:r>
            <a:r>
              <a:rPr lang="en-US" dirty="0"/>
              <a:t>”, </a:t>
            </a:r>
            <a:r>
              <a:rPr lang="en-US" dirty="0" err="1"/>
              <a:t>OneCS</a:t>
            </a:r>
            <a:r>
              <a:rPr lang="en-US" dirty="0"/>
              <a:t> must continue to have a “</a:t>
            </a:r>
            <a:r>
              <a:rPr lang="en-US" dirty="0" err="1"/>
              <a:t>LaToulousaine</a:t>
            </a:r>
            <a:r>
              <a:rPr lang="en-US" dirty="0"/>
              <a:t>” landing page with its users (no matter how much warehouses there are and where they are).</a:t>
            </a:r>
          </a:p>
        </p:txBody>
      </p:sp>
    </p:spTree>
    <p:extLst>
      <p:ext uri="{BB962C8B-B14F-4D97-AF65-F5344CB8AC3E}">
        <p14:creationId xmlns:p14="http://schemas.microsoft.com/office/powerpoint/2010/main" val="243840398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372F0F-8616-38EC-EDA0-4EBA926032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“Extended Domain Name”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7E53221-6DCC-F2B1-538E-49199CB4462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We allow the </a:t>
            </a:r>
            <a:r>
              <a:rPr lang="en-US" dirty="0" err="1"/>
              <a:t>DomainName</a:t>
            </a:r>
            <a:r>
              <a:rPr lang="en-US" dirty="0"/>
              <a:t> to contain “/”.</a:t>
            </a:r>
          </a:p>
          <a:p>
            <a:r>
              <a:rPr lang="en-US" dirty="0"/>
              <a:t>“</a:t>
            </a:r>
            <a:r>
              <a:rPr lang="en-US" dirty="0" err="1"/>
              <a:t>LaToulousaine</a:t>
            </a:r>
            <a:r>
              <a:rPr lang="en-US" dirty="0"/>
              <a:t>/London” and “</a:t>
            </a:r>
            <a:r>
              <a:rPr lang="en-US" dirty="0" err="1"/>
              <a:t>LaToulousaine</a:t>
            </a:r>
            <a:r>
              <a:rPr lang="en-US" dirty="0"/>
              <a:t>/France/Toulouse” are valid domain names.</a:t>
            </a:r>
          </a:p>
          <a:p>
            <a:r>
              <a:rPr lang="en-US" dirty="0"/>
              <a:t>Everything that has been said about the fundamental triple Domain/Environment/Party is still true.</a:t>
            </a:r>
          </a:p>
          <a:p>
            <a:pPr lvl="1"/>
            <a:r>
              <a:rPr lang="en-US" dirty="0"/>
              <a:t>We don’t manage a tree of resources.</a:t>
            </a:r>
          </a:p>
          <a:p>
            <a:pPr lvl="1"/>
            <a:r>
              <a:rPr lang="en-US" dirty="0"/>
              <a:t>The 2-levels only architecture of the Application Identity is unchanged.</a:t>
            </a:r>
          </a:p>
          <a:p>
            <a:r>
              <a:rPr lang="en-US" dirty="0"/>
              <a:t>Only the “Full Path” of a Party must be redesigned:</a:t>
            </a:r>
          </a:p>
          <a:p>
            <a:pPr lvl="1"/>
            <a:r>
              <a:rPr lang="en-US" dirty="0"/>
              <a:t>The </a:t>
            </a:r>
            <a:r>
              <a:rPr lang="en-US" i="1" dirty="0"/>
              <a:t>Environment</a:t>
            </a:r>
            <a:r>
              <a:rPr lang="en-US" dirty="0"/>
              <a:t> is injected after the first part of the domain name.</a:t>
            </a:r>
          </a:p>
        </p:txBody>
      </p:sp>
    </p:spTree>
    <p:extLst>
      <p:ext uri="{BB962C8B-B14F-4D97-AF65-F5344CB8AC3E}">
        <p14:creationId xmlns:p14="http://schemas.microsoft.com/office/powerpoint/2010/main" val="132078355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B34E8B-9831-25D5-4048-520F1F267C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final D/E/P Party identity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F5FFBCC-C4FE-178F-C6A4-F5F4B3B0EAA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857979"/>
          </a:xfrm>
        </p:spPr>
        <p:txBody>
          <a:bodyPr>
            <a:normAutofit/>
          </a:bodyPr>
          <a:lstStyle/>
          <a:p>
            <a:r>
              <a:rPr lang="en-US" dirty="0"/>
              <a:t>The logical identity is a triple of string “</a:t>
            </a:r>
            <a:r>
              <a:rPr lang="en-US" dirty="0" err="1"/>
              <a:t>DomainName</a:t>
            </a:r>
            <a:r>
              <a:rPr lang="en-US" dirty="0"/>
              <a:t>”, ”</a:t>
            </a:r>
            <a:r>
              <a:rPr lang="en-US" dirty="0" err="1"/>
              <a:t>EnvironmentName</a:t>
            </a:r>
            <a:r>
              <a:rPr lang="en-US" dirty="0"/>
              <a:t>”, “</a:t>
            </a:r>
            <a:r>
              <a:rPr lang="en-US" dirty="0" err="1"/>
              <a:t>PartyName</a:t>
            </a:r>
            <a:r>
              <a:rPr lang="en-US" dirty="0"/>
              <a:t>”.</a:t>
            </a:r>
          </a:p>
          <a:p>
            <a:r>
              <a:rPr lang="en-US" dirty="0"/>
              <a:t>Its full name is a </a:t>
            </a:r>
            <a:r>
              <a:rPr lang="en-US" dirty="0" err="1"/>
              <a:t>NormalizedPath</a:t>
            </a:r>
            <a:r>
              <a:rPr lang="en-US" dirty="0"/>
              <a:t>.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It ultimately defaults to “</a:t>
            </a:r>
            <a:r>
              <a:rPr lang="en-US" b="0" i="0" dirty="0">
                <a:solidFill>
                  <a:srgbClr val="222222"/>
                </a:solidFill>
                <a:effectLst/>
                <a:latin typeface="Segoe UI" panose="020B0502040204020203" pitchFamily="34" charset="0"/>
              </a:rPr>
              <a:t>Undefined/Development/Unknown”.</a:t>
            </a:r>
            <a:endParaRPr lang="en-US" dirty="0"/>
          </a:p>
          <a:p>
            <a:endParaRPr lang="en-US" dirty="0"/>
          </a:p>
        </p:txBody>
      </p:sp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30142BB9-7E7C-5474-04FE-CD0469B97CE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71560791"/>
              </p:ext>
            </p:extLst>
          </p:nvPr>
        </p:nvGraphicFramePr>
        <p:xfrm>
          <a:off x="1198125" y="3239311"/>
          <a:ext cx="8977007" cy="221641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58701">
                  <a:extLst>
                    <a:ext uri="{9D8B030D-6E8A-4147-A177-3AD203B41FA5}">
                      <a16:colId xmlns:a16="http://schemas.microsoft.com/office/drawing/2014/main" val="883587408"/>
                    </a:ext>
                  </a:extLst>
                </a:gridCol>
                <a:gridCol w="5418306">
                  <a:extLst>
                    <a:ext uri="{9D8B030D-6E8A-4147-A177-3AD203B41FA5}">
                      <a16:colId xmlns:a16="http://schemas.microsoft.com/office/drawing/2014/main" val="517308239"/>
                    </a:ext>
                  </a:extLst>
                </a:gridCol>
              </a:tblGrid>
              <a:tr h="298805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DEP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Path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15917829"/>
                  </a:ext>
                </a:extLst>
              </a:tr>
              <a:tr h="720197">
                <a:tc>
                  <a:txBody>
                    <a:bodyPr/>
                    <a:lstStyle/>
                    <a:p>
                      <a:r>
                        <a:rPr lang="en-US" dirty="0"/>
                        <a:t>D: </a:t>
                      </a:r>
                      <a:r>
                        <a:rPr lang="en-US" dirty="0" err="1"/>
                        <a:t>LaToulousaine</a:t>
                      </a:r>
                      <a:r>
                        <a:rPr lang="en-US" dirty="0"/>
                        <a:t>/France/Toulouse</a:t>
                      </a:r>
                    </a:p>
                    <a:p>
                      <a:r>
                        <a:rPr lang="en-US" dirty="0"/>
                        <a:t>E: Production</a:t>
                      </a:r>
                    </a:p>
                    <a:p>
                      <a:r>
                        <a:rPr lang="en-US" dirty="0"/>
                        <a:t>P: Trolley45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 err="1"/>
                        <a:t>LaToulousaine</a:t>
                      </a:r>
                      <a:r>
                        <a:rPr lang="en-US" dirty="0"/>
                        <a:t>/Production/France/Toulouse/Trolley45</a:t>
                      </a:r>
                    </a:p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70824639"/>
                  </a:ext>
                </a:extLst>
              </a:tr>
              <a:tr h="936257">
                <a:tc>
                  <a:txBody>
                    <a:bodyPr/>
                    <a:lstStyle/>
                    <a:p>
                      <a:r>
                        <a:rPr lang="en-US" dirty="0"/>
                        <a:t>D: </a:t>
                      </a:r>
                      <a:r>
                        <a:rPr lang="en-US" dirty="0" err="1"/>
                        <a:t>LaToulousaine</a:t>
                      </a:r>
                      <a:r>
                        <a:rPr lang="en-US" dirty="0"/>
                        <a:t>/London</a:t>
                      </a:r>
                    </a:p>
                    <a:p>
                      <a:r>
                        <a:rPr lang="en-US" dirty="0"/>
                        <a:t>E: Development</a:t>
                      </a:r>
                    </a:p>
                    <a:p>
                      <a:r>
                        <a:rPr lang="en-US" dirty="0"/>
                        <a:t>P: </a:t>
                      </a:r>
                      <a:r>
                        <a:rPr lang="en-US" dirty="0" err="1"/>
                        <a:t>RobotTrolley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 err="1"/>
                        <a:t>LaToulousaine</a:t>
                      </a:r>
                      <a:r>
                        <a:rPr lang="en-US" dirty="0"/>
                        <a:t>/Development/London/</a:t>
                      </a:r>
                      <a:r>
                        <a:rPr lang="en-US" dirty="0" err="1"/>
                        <a:t>RobotTrolley</a:t>
                      </a:r>
                      <a:endParaRPr lang="en-US" dirty="0"/>
                    </a:p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0846935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69533770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ABB2F6-6A3B-0600-9CA6-236A6AB60D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Security and privacy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5AD752E-3F69-B30A-607A-3285A0B1B36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No keys appear in the configuration.</a:t>
            </a:r>
          </a:p>
          <a:p>
            <a:r>
              <a:rPr lang="en-US" dirty="0"/>
              <a:t>At least one X509 certificate must be available per Party.</a:t>
            </a:r>
          </a:p>
          <a:p>
            <a:pPr lvl="1"/>
            <a:r>
              <a:rPr lang="en-US" dirty="0" err="1"/>
              <a:t>SaasOneCS</a:t>
            </a:r>
            <a:r>
              <a:rPr lang="en-US" dirty="0"/>
              <a:t>/Production/OneCS1 can work with a single certificate.</a:t>
            </a:r>
          </a:p>
          <a:p>
            <a:r>
              <a:rPr lang="en-US" dirty="0"/>
              <a:t>Keys are managed “by design” in a store by </a:t>
            </a:r>
            <a:r>
              <a:rPr lang="en-US" dirty="0" err="1"/>
              <a:t>CK.AppIdentity</a:t>
            </a:r>
            <a:r>
              <a:rPr lang="en-US" dirty="0"/>
              <a:t>.</a:t>
            </a:r>
          </a:p>
          <a:p>
            <a:pPr lvl="1"/>
            <a:r>
              <a:rPr lang="en-US" dirty="0"/>
              <a:t>The simplest store is a folder with folders and/or files that contain the certificate files.</a:t>
            </a:r>
          </a:p>
          <a:p>
            <a:pPr lvl="1"/>
            <a:r>
              <a:rPr lang="en-US" dirty="0"/>
              <a:t>Stronger key store may be implemented later.</a:t>
            </a:r>
          </a:p>
          <a:p>
            <a:r>
              <a:rPr lang="en-US" dirty="0"/>
              <a:t>Any relationship between 2 parties can be protected with a dedicated pair of keys.</a:t>
            </a:r>
          </a:p>
        </p:txBody>
      </p:sp>
    </p:spTree>
    <p:extLst>
      <p:ext uri="{BB962C8B-B14F-4D97-AF65-F5344CB8AC3E}">
        <p14:creationId xmlns:p14="http://schemas.microsoft.com/office/powerpoint/2010/main" val="294511184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7F35EA-9815-CA8C-A80D-1857A5FDB0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Other uses…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DFA97AC-5D6A-7874-9EEB-5565D4A1902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888392"/>
          </a:xfrm>
        </p:spPr>
        <p:txBody>
          <a:bodyPr/>
          <a:lstStyle/>
          <a:p>
            <a:r>
              <a:rPr lang="en-US" dirty="0"/>
              <a:t>Describing and configuring external services.</a:t>
            </a:r>
          </a:p>
          <a:p>
            <a:pPr lvl="1"/>
            <a:r>
              <a:rPr lang="en-US" dirty="0"/>
              <a:t>Package First…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62D17C1F-A51E-C522-33E4-E7D2F26CB586}"/>
              </a:ext>
            </a:extLst>
          </p:cNvPr>
          <p:cNvSpPr txBox="1">
            <a:spLocks/>
          </p:cNvSpPr>
          <p:nvPr/>
        </p:nvSpPr>
        <p:spPr>
          <a:xfrm>
            <a:off x="838200" y="2714017"/>
            <a:ext cx="6749374" cy="3778857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{ 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DomainName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": "Signature",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EnvironmentName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": "Production",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"Local": {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"Name":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CodeCenter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},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"Remotes": [</a:t>
            </a:r>
            <a:b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{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lang="en-US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DomainName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": "Undefined"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"Name":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GitOpenSource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",</a:t>
            </a:r>
            <a:b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"GitHub": {</a:t>
            </a:r>
            <a:b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"Organization": "Signature-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OpenSource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",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SecretToken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": "45kKJDHldf57dsj87f6fefAsdjhfsdfzr654ZEd5zf"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}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},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{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DomainName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": "Undefined",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"Name":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GitSource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",</a:t>
            </a:r>
            <a:b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"GitHub": {</a:t>
            </a:r>
            <a:b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"Organization": "Signature-Code",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SecretToken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": “Lkjdchbej236ecec6876edc3evqwx57d2455zefdaa"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}</a:t>
            </a:r>
            <a:b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}]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endParaRPr lang="en-US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83D65CE2-9D81-5111-5961-A05FE0BFA74C}"/>
              </a:ext>
            </a:extLst>
          </p:cNvPr>
          <p:cNvSpPr txBox="1">
            <a:spLocks/>
          </p:cNvSpPr>
          <p:nvPr/>
        </p:nvSpPr>
        <p:spPr>
          <a:xfrm>
            <a:off x="7511374" y="3122579"/>
            <a:ext cx="4206144" cy="2529191"/>
          </a:xfrm>
          <a:prstGeom prst="rect">
            <a:avLst/>
          </a:prstGeom>
        </p:spPr>
        <p:txBody>
          <a:bodyPr vert="horz" lIns="91440" tIns="45720" rIns="91440" bIns="45720" rtlCol="0">
            <a:normAutofit fontScale="700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“Undefined” is the reserved Domain name that means “external to the System”</a:t>
            </a:r>
          </a:p>
          <a:p>
            <a:r>
              <a:rPr lang="en-US" dirty="0"/>
              <a:t>We don’t need an “Address”: this remote is a </a:t>
            </a:r>
            <a:r>
              <a:rPr lang="en-US" dirty="0" err="1"/>
              <a:t>GitHubApp</a:t>
            </a:r>
            <a:r>
              <a:rPr lang="en-US" dirty="0"/>
              <a:t> because of the “GitHub” configuration key. </a:t>
            </a:r>
          </a:p>
          <a:p>
            <a:r>
              <a:rPr lang="en-US" dirty="0"/>
              <a:t>The package </a:t>
            </a:r>
            <a:r>
              <a:rPr lang="en-US" dirty="0" err="1"/>
              <a:t>CK.AppIdentity.GitHubApp</a:t>
            </a:r>
            <a:r>
              <a:rPr lang="en-US" dirty="0"/>
              <a:t> handles this automatically.</a:t>
            </a:r>
          </a:p>
        </p:txBody>
      </p:sp>
    </p:spTree>
    <p:extLst>
      <p:ext uri="{BB962C8B-B14F-4D97-AF65-F5344CB8AC3E}">
        <p14:creationId xmlns:p14="http://schemas.microsoft.com/office/powerpoint/2010/main" val="234365611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98245F-DD26-ADCC-6CD2-D5ED5F5598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 simple Configuration Model</a:t>
            </a:r>
          </a:p>
        </p:txBody>
      </p:sp>
      <p:pic>
        <p:nvPicPr>
          <p:cNvPr id="9" name="Content Placeholder 8" descr="Class diagram.">
            <a:extLst>
              <a:ext uri="{FF2B5EF4-FFF2-40B4-BE49-F238E27FC236}">
                <a16:creationId xmlns:a16="http://schemas.microsoft.com/office/drawing/2014/main" id="{EB82A400-7337-4C1F-868E-D34B84F5DF2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2025" y="1585180"/>
            <a:ext cx="11794531" cy="4802187"/>
          </a:xfrm>
        </p:spPr>
      </p:pic>
    </p:spTree>
    <p:extLst>
      <p:ext uri="{BB962C8B-B14F-4D97-AF65-F5344CB8AC3E}">
        <p14:creationId xmlns:p14="http://schemas.microsoft.com/office/powerpoint/2010/main" val="248340843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23BC01-7B97-621A-1FC3-D810DD8455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Exploit the .Net Configuration model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1674851-0267-8A9E-EE42-41E103A0A22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879976"/>
          </a:xfrm>
        </p:spPr>
        <p:txBody>
          <a:bodyPr/>
          <a:lstStyle/>
          <a:p>
            <a:r>
              <a:rPr lang="en-US" sz="2800">
                <a:solidFill>
                  <a:srgbClr val="000000"/>
                </a:solidFill>
                <a:latin typeface="Consolas" panose="020B0609020204030204" pitchFamily="49" charset="0"/>
              </a:rPr>
              <a:t>ApplicationIdentityConfiguration </a:t>
            </a:r>
            <a:r>
              <a:rPr lang="en-US"/>
              <a:t>supports any .Net Configuration source.</a:t>
            </a:r>
            <a:br>
              <a:rPr lang="en-US"/>
            </a:br>
            <a:endParaRPr lang="en-US" sz="1400"/>
          </a:p>
          <a:p>
            <a:endParaRPr lang="en-US"/>
          </a:p>
          <a:p>
            <a:endParaRPr lang="en-US"/>
          </a:p>
          <a:p>
            <a:r>
              <a:rPr lang="en-US"/>
              <a:t>Provides 2 helpers and MutableConfigurationSection and ImmutableConfigurationSection to support direct manipulation code</a:t>
            </a:r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8A48426-17BB-0C9E-781D-10055513B8B9}"/>
              </a:ext>
            </a:extLst>
          </p:cNvPr>
          <p:cNvSpPr txBox="1"/>
          <p:nvPr/>
        </p:nvSpPr>
        <p:spPr>
          <a:xfrm>
            <a:off x="1066803" y="4760763"/>
            <a:ext cx="10609382" cy="18158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>
                <a:solidFill>
                  <a:srgbClr val="0000FF"/>
                </a:solidFill>
                <a:latin typeface="Consolas" panose="020B0609020204030204" pitchFamily="49" charset="0"/>
              </a:rPr>
              <a:t>var</a:t>
            </a:r>
            <a:r>
              <a:rPr lang="en-US" sz="1600">
                <a:solidFill>
                  <a:srgbClr val="000000"/>
                </a:solidFill>
                <a:latin typeface="Consolas" panose="020B0609020204030204" pitchFamily="49" charset="0"/>
              </a:rPr>
              <a:t> configuration = ApplicationIdentityConfiguration.Create( monitor, c =&gt;</a:t>
            </a:r>
          </a:p>
          <a:p>
            <a:r>
              <a:rPr lang="en-US" sz="1600">
                <a:solidFill>
                  <a:srgbClr val="000000"/>
                </a:solidFill>
                <a:latin typeface="Consolas" panose="020B0609020204030204" pitchFamily="49" charset="0"/>
              </a:rPr>
              <a:t>{</a:t>
            </a:r>
          </a:p>
          <a:p>
            <a:r>
              <a:rPr lang="en-US" sz="1600">
                <a:solidFill>
                  <a:srgbClr val="000000"/>
                </a:solidFill>
                <a:latin typeface="Consolas" panose="020B0609020204030204" pitchFamily="49" charset="0"/>
              </a:rPr>
              <a:t>  c[</a:t>
            </a:r>
            <a:r>
              <a:rPr lang="en-US" sz="1600">
                <a:solidFill>
                  <a:srgbClr val="A31515"/>
                </a:solidFill>
                <a:latin typeface="Consolas" panose="020B0609020204030204" pitchFamily="49" charset="0"/>
              </a:rPr>
              <a:t>"DomainName"</a:t>
            </a:r>
            <a:r>
              <a:rPr lang="en-US" sz="1600">
                <a:solidFill>
                  <a:srgbClr val="000000"/>
                </a:solidFill>
                <a:latin typeface="Consolas" panose="020B0609020204030204" pitchFamily="49" charset="0"/>
              </a:rPr>
              <a:t>] = </a:t>
            </a:r>
            <a:r>
              <a:rPr lang="en-US" sz="1600">
                <a:solidFill>
                  <a:srgbClr val="A31515"/>
                </a:solidFill>
                <a:latin typeface="Consolas" panose="020B0609020204030204" pitchFamily="49" charset="0"/>
              </a:rPr>
              <a:t>"Test"</a:t>
            </a:r>
            <a:r>
              <a:rPr lang="en-US" sz="160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en-US" sz="1600">
                <a:solidFill>
                  <a:srgbClr val="000000"/>
                </a:solidFill>
                <a:latin typeface="Consolas" panose="020B0609020204030204" pitchFamily="49" charset="0"/>
              </a:rPr>
              <a:t>  c[</a:t>
            </a:r>
            <a:r>
              <a:rPr lang="en-US" sz="1600">
                <a:solidFill>
                  <a:srgbClr val="A31515"/>
                </a:solidFill>
                <a:latin typeface="Consolas" panose="020B0609020204030204" pitchFamily="49" charset="0"/>
              </a:rPr>
              <a:t>"Local:Name"</a:t>
            </a:r>
            <a:r>
              <a:rPr lang="en-US" sz="1600">
                <a:solidFill>
                  <a:srgbClr val="000000"/>
                </a:solidFill>
                <a:latin typeface="Consolas" panose="020B0609020204030204" pitchFamily="49" charset="0"/>
              </a:rPr>
              <a:t>] = </a:t>
            </a:r>
            <a:r>
              <a:rPr lang="en-US" sz="1600">
                <a:solidFill>
                  <a:srgbClr val="A31515"/>
                </a:solidFill>
                <a:latin typeface="Consolas" panose="020B0609020204030204" pitchFamily="49" charset="0"/>
              </a:rPr>
              <a:t>"Listener"</a:t>
            </a:r>
            <a:r>
              <a:rPr lang="en-US" sz="160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en-US" sz="1600">
                <a:solidFill>
                  <a:srgbClr val="000000"/>
                </a:solidFill>
                <a:latin typeface="Consolas" panose="020B0609020204030204" pitchFamily="49" charset="0"/>
              </a:rPr>
              <a:t>  c[</a:t>
            </a:r>
            <a:r>
              <a:rPr lang="en-US" sz="1600">
                <a:solidFill>
                  <a:srgbClr val="A31515"/>
                </a:solidFill>
                <a:latin typeface="Consolas" panose="020B0609020204030204" pitchFamily="49" charset="0"/>
              </a:rPr>
              <a:t>"Remotes:0:Name"</a:t>
            </a:r>
            <a:r>
              <a:rPr lang="en-US" sz="1600">
                <a:solidFill>
                  <a:srgbClr val="000000"/>
                </a:solidFill>
                <a:latin typeface="Consolas" panose="020B0609020204030204" pitchFamily="49" charset="0"/>
              </a:rPr>
              <a:t>] = </a:t>
            </a:r>
            <a:r>
              <a:rPr lang="en-US" sz="1600">
                <a:solidFill>
                  <a:srgbClr val="A31515"/>
                </a:solidFill>
                <a:latin typeface="Consolas" panose="020B0609020204030204" pitchFamily="49" charset="0"/>
              </a:rPr>
              <a:t>"Sender"</a:t>
            </a:r>
            <a:r>
              <a:rPr lang="en-US" sz="160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en-US" sz="1600">
                <a:solidFill>
                  <a:srgbClr val="000000"/>
                </a:solidFill>
                <a:latin typeface="Consolas" panose="020B0609020204030204" pitchFamily="49" charset="0"/>
              </a:rPr>
              <a:t>  c[</a:t>
            </a:r>
            <a:r>
              <a:rPr lang="en-US" sz="1600">
                <a:solidFill>
                  <a:srgbClr val="A31515"/>
                </a:solidFill>
                <a:latin typeface="Consolas" panose="020B0609020204030204" pitchFamily="49" charset="0"/>
              </a:rPr>
              <a:t>"AllowFeatures"</a:t>
            </a:r>
            <a:r>
              <a:rPr lang="en-US" sz="1600">
                <a:solidFill>
                  <a:srgbClr val="000000"/>
                </a:solidFill>
                <a:latin typeface="Consolas" panose="020B0609020204030204" pitchFamily="49" charset="0"/>
              </a:rPr>
              <a:t>] = </a:t>
            </a:r>
            <a:r>
              <a:rPr lang="en-US" sz="1600">
                <a:solidFill>
                  <a:srgbClr val="A31515"/>
                </a:solidFill>
                <a:latin typeface="Consolas" panose="020B0609020204030204" pitchFamily="49" charset="0"/>
              </a:rPr>
              <a:t>"BlobChannel"</a:t>
            </a:r>
            <a:r>
              <a:rPr lang="en-US" sz="160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en-US" sz="1600">
                <a:solidFill>
                  <a:srgbClr val="000000"/>
                </a:solidFill>
                <a:latin typeface="Consolas" panose="020B0609020204030204" pitchFamily="49" charset="0"/>
              </a:rPr>
              <a:t>} );</a:t>
            </a:r>
            <a:endParaRPr lang="en-US" sz="16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00B2343-7BBF-FDBA-3857-E5364B963659}"/>
              </a:ext>
            </a:extLst>
          </p:cNvPr>
          <p:cNvSpPr txBox="1"/>
          <p:nvPr/>
        </p:nvSpPr>
        <p:spPr>
          <a:xfrm>
            <a:off x="644770" y="2754585"/>
            <a:ext cx="11183815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>
                <a:solidFill>
                  <a:srgbClr val="0000FF"/>
                </a:solidFill>
                <a:latin typeface="Consolas" panose="020B0609020204030204" pitchFamily="49" charset="0"/>
              </a:rPr>
              <a:t>static</a:t>
            </a:r>
            <a:r>
              <a:rPr lang="en-US" sz="1600">
                <a:solidFill>
                  <a:srgbClr val="000000"/>
                </a:solidFill>
                <a:latin typeface="Consolas" panose="020B0609020204030204" pitchFamily="49" charset="0"/>
              </a:rPr>
              <a:t> ApplicationIdentityConfiguration? Create( IActivityMonitor monitor,</a:t>
            </a:r>
          </a:p>
          <a:p>
            <a:r>
              <a:rPr lang="en-US" sz="1600">
                <a:solidFill>
                  <a:srgbClr val="000000"/>
                </a:solidFill>
                <a:latin typeface="Consolas" panose="020B0609020204030204" pitchFamily="49" charset="0"/>
              </a:rPr>
              <a:t>						IConfigurationSection configuration,</a:t>
            </a:r>
          </a:p>
          <a:p>
            <a:r>
              <a:rPr lang="en-US" sz="1600">
                <a:solidFill>
                  <a:srgbClr val="0000FF"/>
                </a:solidFill>
                <a:latin typeface="Consolas" panose="020B0609020204030204" pitchFamily="49" charset="0"/>
              </a:rPr>
              <a:t>						string</a:t>
            </a:r>
            <a:r>
              <a:rPr lang="en-US" sz="1600">
                <a:solidFill>
                  <a:srgbClr val="000000"/>
                </a:solidFill>
                <a:latin typeface="Consolas" panose="020B0609020204030204" pitchFamily="49" charset="0"/>
              </a:rPr>
              <a:t>? defaultLocalName = </a:t>
            </a:r>
            <a:r>
              <a:rPr lang="en-US" sz="1600">
                <a:solidFill>
                  <a:srgbClr val="0000FF"/>
                </a:solidFill>
                <a:latin typeface="Consolas" panose="020B0609020204030204" pitchFamily="49" charset="0"/>
              </a:rPr>
              <a:t>null</a:t>
            </a:r>
            <a:r>
              <a:rPr lang="en-US" sz="1600">
                <a:solidFill>
                  <a:srgbClr val="000000"/>
                </a:solidFill>
                <a:latin typeface="Consolas" panose="020B0609020204030204" pitchFamily="49" charset="0"/>
              </a:rPr>
              <a:t>,</a:t>
            </a:r>
          </a:p>
          <a:p>
            <a:r>
              <a:rPr lang="en-US" sz="1600">
                <a:solidFill>
                  <a:srgbClr val="0000FF"/>
                </a:solidFill>
                <a:latin typeface="Consolas" panose="020B0609020204030204" pitchFamily="49" charset="0"/>
              </a:rPr>
              <a:t>						string</a:t>
            </a:r>
            <a:r>
              <a:rPr lang="en-US" sz="1600">
                <a:solidFill>
                  <a:srgbClr val="000000"/>
                </a:solidFill>
                <a:latin typeface="Consolas" panose="020B0609020204030204" pitchFamily="49" charset="0"/>
              </a:rPr>
              <a:t>? defaultEnvironmentName = </a:t>
            </a:r>
            <a:r>
              <a:rPr lang="en-US" sz="1600">
                <a:solidFill>
                  <a:srgbClr val="A31515"/>
                </a:solidFill>
                <a:latin typeface="Consolas" panose="020B0609020204030204" pitchFamily="49" charset="0"/>
              </a:rPr>
              <a:t>"Development"</a:t>
            </a:r>
            <a:r>
              <a:rPr lang="en-US" sz="1600">
                <a:solidFill>
                  <a:srgbClr val="000000"/>
                </a:solidFill>
                <a:latin typeface="Consolas" panose="020B0609020204030204" pitchFamily="49" charset="0"/>
              </a:rPr>
              <a:t> )</a:t>
            </a:r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213578639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89E005-AE23-CC8A-D9FD-5DE8B52393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Runtime Model</a:t>
            </a:r>
            <a:endParaRPr lang="en-US" dirty="0"/>
          </a:p>
        </p:txBody>
      </p:sp>
      <p:pic>
        <p:nvPicPr>
          <p:cNvPr id="10" name="Content Placeholder 9" descr="Diagram&#10;&#10;Description automatically generated">
            <a:extLst>
              <a:ext uri="{FF2B5EF4-FFF2-40B4-BE49-F238E27FC236}">
                <a16:creationId xmlns:a16="http://schemas.microsoft.com/office/drawing/2014/main" id="{C7A97C5F-BEC2-106C-7C1F-260735E0467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45938" y="269631"/>
            <a:ext cx="4963777" cy="6223244"/>
          </a:xfrm>
        </p:spPr>
      </p:pic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8C3E3FC0-3C38-85FF-9917-A63D6C4B2A74}"/>
              </a:ext>
            </a:extLst>
          </p:cNvPr>
          <p:cNvSpPr txBox="1">
            <a:spLocks/>
          </p:cNvSpPr>
          <p:nvPr/>
        </p:nvSpPr>
        <p:spPr>
          <a:xfrm>
            <a:off x="117232" y="1825624"/>
            <a:ext cx="6541476" cy="4667251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Root </a:t>
            </a:r>
            <a:r>
              <a:rPr lang="en-US" sz="2000" dirty="0" err="1">
                <a:latin typeface="Consolas" panose="020B0609020204030204" pitchFamily="49" charset="0"/>
                <a:cs typeface="Courier New" panose="02070309020205020404" pitchFamily="49" charset="0"/>
              </a:rPr>
              <a:t>ApplicationIdentityService</a:t>
            </a:r>
            <a:r>
              <a:rPr lang="en-US" dirty="0"/>
              <a:t> is an automatic hosted service singleton.</a:t>
            </a:r>
          </a:p>
          <a:p>
            <a:r>
              <a:rPr lang="en-US" dirty="0"/>
              <a:t>A Remote can define a Domain.</a:t>
            </a:r>
          </a:p>
          <a:p>
            <a:r>
              <a:rPr lang="en-US" dirty="0"/>
              <a:t>New Remotes can be added dynamically (</a:t>
            </a:r>
            <a:r>
              <a:rPr lang="en-US" sz="2000" dirty="0" err="1">
                <a:latin typeface="Consolas" panose="020B0609020204030204" pitchFamily="49" charset="0"/>
                <a:cs typeface="Courier New" panose="02070309020205020404" pitchFamily="49" charset="0"/>
              </a:rPr>
              <a:t>AddDynamicRemoteAsync</a:t>
            </a:r>
            <a:r>
              <a:rPr lang="en-US" dirty="0"/>
              <a:t>).</a:t>
            </a:r>
          </a:p>
          <a:p>
            <a:r>
              <a:rPr lang="en-US" dirty="0"/>
              <a:t>Only dynamic Remotes can be destroyed (</a:t>
            </a:r>
            <a:r>
              <a:rPr lang="en-US" sz="2000" dirty="0" err="1">
                <a:latin typeface="Consolas" panose="020B0609020204030204" pitchFamily="49" charset="0"/>
                <a:cs typeface="Courier New" panose="02070309020205020404" pitchFamily="49" charset="0"/>
              </a:rPr>
              <a:t>SetDestroyed</a:t>
            </a:r>
            <a:r>
              <a:rPr lang="en-US" dirty="0"/>
              <a:t> or </a:t>
            </a:r>
            <a:r>
              <a:rPr lang="en-US" sz="2000" dirty="0" err="1">
                <a:latin typeface="Consolas" panose="020B0609020204030204" pitchFamily="49" charset="0"/>
                <a:cs typeface="Courier New" panose="02070309020205020404" pitchFamily="49" charset="0"/>
              </a:rPr>
              <a:t>DestroyAsync</a:t>
            </a:r>
            <a:r>
              <a:rPr lang="en-US" dirty="0"/>
              <a:t>).</a:t>
            </a:r>
          </a:p>
          <a:p>
            <a:r>
              <a:rPr lang="en-US" dirty="0"/>
              <a:t>Thread safety</a:t>
            </a:r>
          </a:p>
          <a:p>
            <a:pPr lvl="1"/>
            <a:r>
              <a:rPr lang="en-US" dirty="0"/>
              <a:t>Once </a:t>
            </a:r>
            <a:r>
              <a:rPr lang="en-US" sz="2000" dirty="0" err="1">
                <a:latin typeface="Consolas" panose="020B0609020204030204" pitchFamily="49" charset="0"/>
                <a:cs typeface="Courier New" panose="02070309020205020404" pitchFamily="49" charset="0"/>
              </a:rPr>
              <a:t>InitializationTask</a:t>
            </a:r>
            <a:r>
              <a:rPr lang="en-US" dirty="0"/>
              <a:t> is resolved, everything is stable.</a:t>
            </a:r>
          </a:p>
          <a:p>
            <a:pPr lvl="1"/>
            <a:r>
              <a:rPr lang="en-US" dirty="0"/>
              <a:t>A background micro agent handles the dynamic Remotes mutations.</a:t>
            </a:r>
          </a:p>
          <a:p>
            <a:pPr lvl="1"/>
            <a:endParaRPr lang="en-US" dirty="0"/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9729740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C7CD06-D47B-E95B-1EEA-8DBB232E43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“Features”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A33983B-5F64-FFC1-70BD-79B40405F7C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Developer uses Features.</a:t>
            </a:r>
          </a:p>
          <a:p>
            <a:r>
              <a:rPr lang="en-US" dirty="0"/>
              <a:t>Features are </a:t>
            </a:r>
            <a:r>
              <a:rPr lang="en-US" sz="2000" dirty="0" err="1">
                <a:solidFill>
                  <a:srgbClr val="000000"/>
                </a:solidFill>
                <a:latin typeface="Consolas" panose="020B0609020204030204" pitchFamily="49" charset="0"/>
              </a:rPr>
              <a:t>IEnumerable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&lt;</a:t>
            </a:r>
            <a:r>
              <a:rPr lang="en-US" sz="2000" dirty="0">
                <a:solidFill>
                  <a:srgbClr val="0000FF"/>
                </a:solidFill>
                <a:latin typeface="Consolas" panose="020B0609020204030204" pitchFamily="49" charset="0"/>
              </a:rPr>
              <a:t>object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&gt;</a:t>
            </a:r>
            <a:r>
              <a:rPr lang="en-US" dirty="0"/>
              <a:t> available on:</a:t>
            </a:r>
          </a:p>
          <a:p>
            <a:pPr lvl="1"/>
            <a:r>
              <a:rPr lang="en-US" dirty="0"/>
              <a:t>The root </a:t>
            </a:r>
            <a:r>
              <a:rPr lang="en-US" sz="2000" dirty="0" err="1">
                <a:latin typeface="Consolas" panose="020B0609020204030204" pitchFamily="49" charset="0"/>
                <a:cs typeface="Courier New" panose="02070309020205020404" pitchFamily="49" charset="0"/>
              </a:rPr>
              <a:t>ApplicationIdentityService</a:t>
            </a:r>
            <a:endParaRPr lang="en-US" sz="2000" dirty="0">
              <a:latin typeface="Consolas" panose="020B06090202040302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dirty="0"/>
              <a:t>Local and Remote parties (but not on the </a:t>
            </a:r>
            <a:r>
              <a:rPr lang="en-US" sz="2000" dirty="0" err="1">
                <a:latin typeface="Consolas" panose="020B0609020204030204" pitchFamily="49" charset="0"/>
                <a:cs typeface="Courier New" panose="02070309020205020404" pitchFamily="49" charset="0"/>
              </a:rPr>
              <a:t>DomainApplicationIdentity</a:t>
            </a:r>
            <a:r>
              <a:rPr lang="en-US" dirty="0"/>
              <a:t>).</a:t>
            </a:r>
            <a:b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US" dirty="0"/>
          </a:p>
          <a:p>
            <a:r>
              <a:rPr lang="en-US" dirty="0"/>
              <a:t>One can only add a Feature “from the outside”:</a:t>
            </a:r>
          </a:p>
          <a:p>
            <a:pPr lvl="1"/>
            <a:r>
              <a:rPr lang="en-US" dirty="0"/>
              <a:t> </a:t>
            </a:r>
            <a:r>
              <a:rPr lang="en-US" sz="1900" dirty="0">
                <a:solidFill>
                  <a:srgbClr val="0000FF"/>
                </a:solidFill>
                <a:latin typeface="Consolas" panose="020B0609020204030204" pitchFamily="49" charset="0"/>
              </a:rPr>
              <a:t>void</a:t>
            </a:r>
            <a:r>
              <a:rPr lang="en-US" sz="19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900" dirty="0" err="1">
                <a:solidFill>
                  <a:srgbClr val="000000"/>
                </a:solidFill>
                <a:latin typeface="Consolas" panose="020B0609020204030204" pitchFamily="49" charset="0"/>
              </a:rPr>
              <a:t>AddFeature</a:t>
            </a:r>
            <a:r>
              <a:rPr lang="en-US" sz="1900" dirty="0">
                <a:solidFill>
                  <a:srgbClr val="000000"/>
                </a:solidFill>
                <a:latin typeface="Consolas" panose="020B0609020204030204" pitchFamily="49" charset="0"/>
              </a:rPr>
              <a:t>( </a:t>
            </a:r>
            <a:r>
              <a:rPr lang="en-US" sz="1900" dirty="0">
                <a:solidFill>
                  <a:srgbClr val="0000FF"/>
                </a:solidFill>
                <a:latin typeface="Consolas" panose="020B0609020204030204" pitchFamily="49" charset="0"/>
              </a:rPr>
              <a:t>object</a:t>
            </a:r>
            <a:r>
              <a:rPr lang="en-US" sz="1900" dirty="0">
                <a:solidFill>
                  <a:srgbClr val="000000"/>
                </a:solidFill>
                <a:latin typeface="Consolas" panose="020B0609020204030204" pitchFamily="49" charset="0"/>
              </a:rPr>
              <a:t> feature )</a:t>
            </a:r>
            <a:r>
              <a:rPr lang="en-US" dirty="0"/>
              <a:t> </a:t>
            </a:r>
          </a:p>
          <a:p>
            <a:pPr lvl="1"/>
            <a:endParaRPr lang="en-US" dirty="0"/>
          </a:p>
          <a:p>
            <a:r>
              <a:rPr lang="en-US" dirty="0"/>
              <a:t>But Feature are primarily instantiated, configured and added to the relevant parties thanks to </a:t>
            </a:r>
            <a:r>
              <a:rPr lang="en-US" sz="2000" dirty="0" err="1">
                <a:solidFill>
                  <a:srgbClr val="000000"/>
                </a:solidFill>
                <a:latin typeface="Consolas" panose="020B0609020204030204" pitchFamily="49" charset="0"/>
              </a:rPr>
              <a:t>ApplicationIdentityFeatureDriver</a:t>
            </a:r>
            <a:r>
              <a:rPr lang="en-US" dirty="0"/>
              <a:t> specialized services</a:t>
            </a:r>
            <a:r>
              <a:rPr lang="en-US" sz="1800" dirty="0">
                <a:solidFill>
                  <a:srgbClr val="2B91AF"/>
                </a:solidFill>
                <a:latin typeface="Consolas" panose="020B0609020204030204" pitchFamily="49" charset="0"/>
              </a:rPr>
              <a:t>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1154396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BEB0FE-B752-52E9-DFC1-C32DC2286E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Feature Driver</a:t>
            </a:r>
          </a:p>
        </p:txBody>
      </p:sp>
      <p:pic>
        <p:nvPicPr>
          <p:cNvPr id="9" name="Content Placeholder 8" descr="Graphical user interface, text">
            <a:extLst>
              <a:ext uri="{FF2B5EF4-FFF2-40B4-BE49-F238E27FC236}">
                <a16:creationId xmlns:a16="http://schemas.microsoft.com/office/drawing/2014/main" id="{3CFA42ED-F5B9-C118-B2B2-15CE4E6B30C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20973" y="156674"/>
            <a:ext cx="7399243" cy="6544652"/>
          </a:xfrm>
        </p:spPr>
      </p:pic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777EFC9A-B42F-2335-F286-66BC9143F1D7}"/>
              </a:ext>
            </a:extLst>
          </p:cNvPr>
          <p:cNvSpPr txBox="1">
            <a:spLocks/>
          </p:cNvSpPr>
          <p:nvPr/>
        </p:nvSpPr>
        <p:spPr>
          <a:xfrm>
            <a:off x="117232" y="1825624"/>
            <a:ext cx="4607168" cy="466725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Setup the whole service.</a:t>
            </a:r>
          </a:p>
          <a:p>
            <a:r>
              <a:rPr lang="en-US" sz="2400" dirty="0"/>
              <a:t>Setup new dynamic Remotes.</a:t>
            </a:r>
          </a:p>
          <a:p>
            <a:r>
              <a:rPr lang="en-US" sz="2400" dirty="0"/>
              <a:t>Teardown destroyed Remotes.</a:t>
            </a:r>
          </a:p>
          <a:p>
            <a:r>
              <a:rPr lang="en-US" dirty="0"/>
              <a:t>Teardown the whole service.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A feature driver type name MUST be suffixed with '</a:t>
            </a:r>
            <a:r>
              <a:rPr lang="en-US" dirty="0" err="1"/>
              <a:t>FeatureDriver</a:t>
            </a:r>
            <a:r>
              <a:rPr lang="en-US" dirty="0"/>
              <a:t>'</a:t>
            </a: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2649813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62F962-D950-EB5B-C8CD-82EC873A97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Opt-In/Out and Allow/</a:t>
            </a:r>
            <a:r>
              <a:rPr lang="en-US" dirty="0" err="1"/>
              <a:t>DisallowFeatures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8830683-E16F-BEF2-A1A6-603A2557DC8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10515600" cy="5014911"/>
          </a:xfrm>
        </p:spPr>
        <p:txBody>
          <a:bodyPr/>
          <a:lstStyle/>
          <a:p>
            <a:r>
              <a:rPr lang="en-US" dirty="0"/>
              <a:t>Features can be opt-in or opt-out.</a:t>
            </a:r>
          </a:p>
          <a:p>
            <a:pPr lvl="1"/>
            <a:r>
              <a:rPr lang="en-US" dirty="0"/>
              <a:t>This is provided when calling the base </a:t>
            </a:r>
            <a:r>
              <a:rPr lang="en-US" sz="1800" dirty="0" err="1">
                <a:latin typeface="Consolas" panose="020B0609020204030204" pitchFamily="49" charset="0"/>
              </a:rPr>
              <a:t>ApplicationIdentityFeatureDriver</a:t>
            </a:r>
            <a:r>
              <a:rPr lang="en-US" sz="2400" dirty="0">
                <a:solidFill>
                  <a:srgbClr val="2B91AF"/>
                </a:solidFill>
                <a:latin typeface="Consolas" panose="020B0609020204030204" pitchFamily="49" charset="0"/>
              </a:rPr>
              <a:t> </a:t>
            </a:r>
            <a:r>
              <a:rPr lang="en-US" dirty="0"/>
              <a:t>constructor</a:t>
            </a:r>
            <a:r>
              <a:rPr lang="en-US" sz="2400" dirty="0">
                <a:solidFill>
                  <a:srgbClr val="2B91AF"/>
                </a:solidFill>
                <a:latin typeface="Consolas" panose="020B0609020204030204" pitchFamily="49" charset="0"/>
              </a:rPr>
              <a:t>.</a:t>
            </a:r>
          </a:p>
          <a:p>
            <a:pPr lvl="1"/>
            <a:endParaRPr lang="en-US" sz="2400" dirty="0">
              <a:solidFill>
                <a:srgbClr val="2B91AF"/>
              </a:solidFill>
              <a:latin typeface="Consolas" panose="020B0609020204030204" pitchFamily="49" charset="0"/>
            </a:endParaRPr>
          </a:p>
          <a:p>
            <a:pPr lvl="1"/>
            <a:endParaRPr lang="en-US" dirty="0">
              <a:solidFill>
                <a:srgbClr val="2B91AF"/>
              </a:solidFill>
              <a:latin typeface="Consolas" panose="020B0609020204030204" pitchFamily="49" charset="0"/>
            </a:endParaRPr>
          </a:p>
          <a:p>
            <a:r>
              <a:rPr lang="en-US" dirty="0"/>
              <a:t>Features can then be allowed or disallowed by the configuration.</a:t>
            </a:r>
          </a:p>
          <a:p>
            <a:pPr lvl="1"/>
            <a:r>
              <a:rPr lang="en-US" dirty="0"/>
              <a:t>The </a:t>
            </a:r>
            <a:r>
              <a:rPr lang="en-US" dirty="0" err="1"/>
              <a:t>BlobChannel</a:t>
            </a:r>
            <a:r>
              <a:rPr lang="en-US" dirty="0"/>
              <a:t> is an opt-in feature. To exchange 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byte[]</a:t>
            </a:r>
            <a:r>
              <a:rPr lang="en-US" dirty="0"/>
              <a:t> it must be allowed.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EF786D5-8D89-BF31-3133-9EF6545D8B9B}"/>
              </a:ext>
            </a:extLst>
          </p:cNvPr>
          <p:cNvSpPr txBox="1"/>
          <p:nvPr/>
        </p:nvSpPr>
        <p:spPr>
          <a:xfrm>
            <a:off x="1521655" y="2961041"/>
            <a:ext cx="841248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</a:rPr>
              <a:t>protected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 err="1">
                <a:solidFill>
                  <a:srgbClr val="2B91AF"/>
                </a:solidFill>
                <a:latin typeface="Consolas" panose="020B0609020204030204" pitchFamily="49" charset="0"/>
              </a:rPr>
              <a:t>ApplicationIdentityFeatureDriver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( </a:t>
            </a:r>
            <a:r>
              <a:rPr lang="en-US" sz="1600" dirty="0" err="1">
                <a:solidFill>
                  <a:srgbClr val="000000"/>
                </a:solidFill>
                <a:latin typeface="Consolas" panose="020B0609020204030204" pitchFamily="49" charset="0"/>
              </a:rPr>
              <a:t>ApplicationIdentityService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s, </a:t>
            </a:r>
            <a:b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                                           </a:t>
            </a:r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</a:rPr>
              <a:t>bool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 err="1">
                <a:solidFill>
                  <a:srgbClr val="000000"/>
                </a:solidFill>
                <a:latin typeface="Consolas" panose="020B0609020204030204" pitchFamily="49" charset="0"/>
              </a:rPr>
              <a:t>isAllowedByDefault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)</a:t>
            </a:r>
            <a:endParaRPr lang="en-US" sz="1600" dirty="0"/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7D8761A4-78FC-CB22-E1A6-B3ED78F917D8}"/>
              </a:ext>
            </a:extLst>
          </p:cNvPr>
          <p:cNvSpPr txBox="1">
            <a:spLocks/>
          </p:cNvSpPr>
          <p:nvPr/>
        </p:nvSpPr>
        <p:spPr>
          <a:xfrm>
            <a:off x="720968" y="4682479"/>
            <a:ext cx="3897924" cy="2198966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{ 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DomainName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": "Test",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"Local": { "Name": "Sender" },</a:t>
            </a:r>
            <a:b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lang="en-US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AllowFeatures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": "</a:t>
            </a:r>
            <a:r>
              <a:rPr lang="en-US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BlobChannel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"Remotes": [</a:t>
            </a:r>
            <a:b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{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"Name": "Target",</a:t>
            </a:r>
            <a:b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"Address": "tcp:127.0.0.1“</a:t>
            </a:r>
            <a:b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}]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endParaRPr lang="en-US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6B6BF118-345A-7326-4BCF-5CE27028026A}"/>
              </a:ext>
            </a:extLst>
          </p:cNvPr>
          <p:cNvSpPr txBox="1">
            <a:spLocks/>
          </p:cNvSpPr>
          <p:nvPr/>
        </p:nvSpPr>
        <p:spPr>
          <a:xfrm>
            <a:off x="6441829" y="4687451"/>
            <a:ext cx="4226170" cy="219896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{ 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DomainName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": "Test",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"Local": { "Name": “Target" },</a:t>
            </a:r>
            <a:b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"Remotes": [</a:t>
            </a:r>
            <a:b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{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"Name": "Sender",</a:t>
            </a:r>
            <a:b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lang="en-US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AllowFeatures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": ["</a:t>
            </a:r>
            <a:r>
              <a:rPr lang="en-US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BlobChannel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"]</a:t>
            </a:r>
            <a:b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}]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endParaRPr lang="en-US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4" name="Ink 3">
                <a:extLst>
                  <a:ext uri="{FF2B5EF4-FFF2-40B4-BE49-F238E27FC236}">
                    <a16:creationId xmlns:a16="http://schemas.microsoft.com/office/drawing/2014/main" id="{B7B4A735-853C-A50C-B584-BA5FB8D4C33A}"/>
                  </a:ext>
                </a:extLst>
              </p14:cNvPr>
              <p14:cNvContentPartPr/>
              <p14:nvPr/>
            </p14:nvContentPartPr>
            <p14:xfrm>
              <a:off x="7101000" y="3347750"/>
              <a:ext cx="2017080" cy="191160"/>
            </p14:xfrm>
          </p:contentPart>
        </mc:Choice>
        <mc:Fallback xmlns="">
          <p:pic>
            <p:nvPicPr>
              <p:cNvPr id="4" name="Ink 3">
                <a:extLst>
                  <a:ext uri="{FF2B5EF4-FFF2-40B4-BE49-F238E27FC236}">
                    <a16:creationId xmlns:a16="http://schemas.microsoft.com/office/drawing/2014/main" id="{B7B4A735-853C-A50C-B584-BA5FB8D4C33A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7047360" y="3240110"/>
                <a:ext cx="2124720" cy="40680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21341338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1D9BD9-E7B8-0308-F846-C5AE6E739C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</a:t>
            </a:r>
            <a:r>
              <a:rPr lang="en-US" dirty="0" err="1"/>
              <a:t>TransportFeature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C60C7C5-6DBE-8D49-F647-8952029E2AD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081954" cy="2833921"/>
          </a:xfrm>
        </p:spPr>
        <p:txBody>
          <a:bodyPr>
            <a:normAutofit/>
          </a:bodyPr>
          <a:lstStyle/>
          <a:p>
            <a:r>
              <a:rPr lang="en-US" dirty="0"/>
              <a:t>Opt-out feature: available by default on all Remotes that are not in the domain “Undefined”</a:t>
            </a:r>
          </a:p>
          <a:p>
            <a:pPr lvl="1"/>
            <a:r>
              <a:rPr lang="en-US" dirty="0"/>
              <a:t>To remove it: </a:t>
            </a:r>
            <a:br>
              <a:rPr lang="en-US" dirty="0"/>
            </a:br>
            <a:r>
              <a:rPr lang="en-US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lang="en-US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DisallowFeatures</a:t>
            </a:r>
            <a:r>
              <a:rPr lang="en-US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": "Transport“</a:t>
            </a:r>
          </a:p>
          <a:p>
            <a:r>
              <a:rPr lang="en-US" dirty="0"/>
              <a:t>Transport is “on” by default but can be </a:t>
            </a:r>
            <a:r>
              <a:rPr lang="en-US" sz="2000" dirty="0" err="1">
                <a:latin typeface="Consolas" panose="020B0609020204030204" pitchFamily="49" charset="0"/>
                <a:cs typeface="Courier New" panose="02070309020205020404" pitchFamily="49" charset="0"/>
              </a:rPr>
              <a:t>SwithOff</a:t>
            </a:r>
            <a:r>
              <a:rPr lang="en-US" dirty="0"/>
              <a:t>/</a:t>
            </a:r>
            <a:r>
              <a:rPr lang="en-US" sz="2000" dirty="0" err="1">
                <a:latin typeface="Consolas" panose="020B0609020204030204" pitchFamily="49" charset="0"/>
                <a:cs typeface="Courier New" panose="02070309020205020404" pitchFamily="49" charset="0"/>
              </a:rPr>
              <a:t>SwitchOn</a:t>
            </a:r>
            <a:endParaRPr lang="en-US" sz="2000" dirty="0">
              <a:latin typeface="Consolas" panose="020B0609020204030204" pitchFamily="49" charset="0"/>
              <a:cs typeface="Courier New" panose="02070309020205020404" pitchFamily="49" charset="0"/>
            </a:endParaRPr>
          </a:p>
        </p:txBody>
      </p:sp>
      <p:pic>
        <p:nvPicPr>
          <p:cNvPr id="7" name="Picture 6" descr="Graphical user interface, diagram&#10;&#10;Description automatically generated">
            <a:extLst>
              <a:ext uri="{FF2B5EF4-FFF2-40B4-BE49-F238E27FC236}">
                <a16:creationId xmlns:a16="http://schemas.microsoft.com/office/drawing/2014/main" id="{145D6F04-76EB-0D08-22E0-99122639C34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20154" y="194454"/>
            <a:ext cx="6164199" cy="4465092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71690184-9A00-DA38-F75D-7518FDA3E2C3}"/>
              </a:ext>
            </a:extLst>
          </p:cNvPr>
          <p:cNvSpPr txBox="1"/>
          <p:nvPr/>
        </p:nvSpPr>
        <p:spPr>
          <a:xfrm>
            <a:off x="838200" y="4830217"/>
            <a:ext cx="9419492" cy="19000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28600" indent="-228600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US" sz="2800" dirty="0" err="1"/>
              <a:t>DisallowEviction</a:t>
            </a:r>
            <a:r>
              <a:rPr lang="en-US" sz="2800" dirty="0"/>
              <a:t> is false by default (like MQTT).</a:t>
            </a:r>
          </a:p>
          <a:p>
            <a:pPr marL="228600" indent="-228600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US" sz="2800" dirty="0"/>
              <a:t>The </a:t>
            </a:r>
            <a:r>
              <a:rPr lang="en-US" sz="2800" dirty="0" err="1"/>
              <a:t>ReadyTask</a:t>
            </a:r>
            <a:r>
              <a:rPr lang="en-US" sz="2800" dirty="0"/>
              <a:t> can be awaited before using the Transport:</a:t>
            </a:r>
          </a:p>
          <a:p>
            <a:pPr marL="685800" lvl="1" indent="-228600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US" sz="2800" dirty="0"/>
              <a:t>At least one connection has been established </a:t>
            </a:r>
            <a:r>
              <a:rPr lang="en-US" sz="2800" b="1" dirty="0"/>
              <a:t>recently</a:t>
            </a:r>
            <a:r>
              <a:rPr lang="en-US" sz="2800" dirty="0"/>
              <a:t> with the other side</a:t>
            </a:r>
          </a:p>
        </p:txBody>
      </p:sp>
    </p:spTree>
    <p:extLst>
      <p:ext uri="{BB962C8B-B14F-4D97-AF65-F5344CB8AC3E}">
        <p14:creationId xmlns:p14="http://schemas.microsoft.com/office/powerpoint/2010/main" val="3935174584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8F16C2-5FE3-B18B-1F5B-429CD7308A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exchange Channels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819622E-A74C-BCB9-B3FA-CB06EC5A319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10732477" cy="4351338"/>
          </a:xfrm>
        </p:spPr>
        <p:txBody>
          <a:bodyPr/>
          <a:lstStyle/>
          <a:p>
            <a:r>
              <a:rPr lang="en-US" dirty="0"/>
              <a:t>A Remote’s </a:t>
            </a:r>
            <a:r>
              <a:rPr lang="en-US" dirty="0" err="1"/>
              <a:t>TransportFeature</a:t>
            </a:r>
            <a:r>
              <a:rPr lang="en-US" dirty="0"/>
              <a:t> handles the transport to the other side.</a:t>
            </a:r>
          </a:p>
          <a:p>
            <a:pPr lvl="1"/>
            <a:r>
              <a:rPr lang="en-US" dirty="0"/>
              <a:t>Listener vs. Sender is automatically handled based on the configuration.</a:t>
            </a:r>
          </a:p>
          <a:p>
            <a:pPr lvl="1"/>
            <a:r>
              <a:rPr lang="en-US" dirty="0"/>
              <a:t>The transport technology can be specified. The default is “</a:t>
            </a:r>
            <a:r>
              <a:rPr lang="en-US" dirty="0" err="1"/>
              <a:t>tcp</a:t>
            </a:r>
            <a:r>
              <a:rPr lang="en-US" dirty="0"/>
              <a:t>”.</a:t>
            </a:r>
          </a:p>
          <a:p>
            <a:r>
              <a:rPr lang="en-US" dirty="0"/>
              <a:t>The </a:t>
            </a:r>
            <a:r>
              <a:rPr lang="en-US" dirty="0" err="1"/>
              <a:t>TransportFeatures</a:t>
            </a:r>
            <a:r>
              <a:rPr lang="en-US" dirty="0"/>
              <a:t> exposes the properties relevant to the communication but is not itself in charge of exchanging data.</a:t>
            </a:r>
          </a:p>
          <a:p>
            <a:r>
              <a:rPr lang="en-US" dirty="0"/>
              <a:t>Channels are Features that implements a protocol and exposes it to the developer.</a:t>
            </a:r>
          </a:p>
          <a:p>
            <a:r>
              <a:rPr lang="en-US" dirty="0"/>
              <a:t>Channels implementation provides:</a:t>
            </a:r>
          </a:p>
          <a:p>
            <a:pPr lvl="1"/>
            <a:r>
              <a:rPr lang="en-US" dirty="0"/>
              <a:t>A Protocol that can be in multiple versions.</a:t>
            </a:r>
          </a:p>
          <a:p>
            <a:pPr lvl="1"/>
            <a:r>
              <a:rPr lang="en-US" dirty="0"/>
              <a:t>A way to build and send, receive and parse </a:t>
            </a:r>
            <a:r>
              <a:rPr lang="en-US" dirty="0" err="1"/>
              <a:t>TransportMessage</a:t>
            </a:r>
            <a:r>
              <a:rPr lang="en-US" dirty="0"/>
              <a:t> objects.</a:t>
            </a:r>
          </a:p>
        </p:txBody>
      </p:sp>
    </p:spTree>
    <p:extLst>
      <p:ext uri="{BB962C8B-B14F-4D97-AF65-F5344CB8AC3E}">
        <p14:creationId xmlns:p14="http://schemas.microsoft.com/office/powerpoint/2010/main" val="857479250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34F961-5C07-CC54-4D89-C39917A7A6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TransportMessage</a:t>
            </a:r>
            <a:endParaRPr lang="en-US" dirty="0"/>
          </a:p>
        </p:txBody>
      </p:sp>
      <p:pic>
        <p:nvPicPr>
          <p:cNvPr id="9" name="Content Placeholder 8" descr="Graphical user interface">
            <a:extLst>
              <a:ext uri="{FF2B5EF4-FFF2-40B4-BE49-F238E27FC236}">
                <a16:creationId xmlns:a16="http://schemas.microsoft.com/office/drawing/2014/main" id="{8F2564D2-6F15-2301-1548-C78BCB93926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23851" y="127222"/>
            <a:ext cx="6684324" cy="5335732"/>
          </a:xfrm>
        </p:spPr>
      </p:pic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D166F694-1BE5-D7EE-ACC5-2723D274C19E}"/>
              </a:ext>
            </a:extLst>
          </p:cNvPr>
          <p:cNvSpPr txBox="1">
            <a:spLocks/>
          </p:cNvSpPr>
          <p:nvPr/>
        </p:nvSpPr>
        <p:spPr>
          <a:xfrm>
            <a:off x="838199" y="1825625"/>
            <a:ext cx="10732477" cy="4667250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Prefix-Length encoding</a:t>
            </a:r>
          </a:p>
          <a:p>
            <a:pPr lvl="1"/>
            <a:r>
              <a:rPr lang="en-US" dirty="0"/>
              <a:t>Single header byte</a:t>
            </a:r>
          </a:p>
          <a:p>
            <a:pPr lvl="1"/>
            <a:r>
              <a:rPr lang="en-US" dirty="0" err="1"/>
              <a:t>MessageLength</a:t>
            </a:r>
            <a:r>
              <a:rPr lang="en-US" dirty="0"/>
              <a:t> (0 to 4 bytes)</a:t>
            </a:r>
          </a:p>
          <a:p>
            <a:pPr lvl="1"/>
            <a:r>
              <a:rPr lang="en-US" dirty="0"/>
              <a:t>Payload (up to 2 GiB)</a:t>
            </a:r>
          </a:p>
          <a:p>
            <a:endParaRPr lang="en-US" dirty="0"/>
          </a:p>
          <a:p>
            <a:r>
              <a:rPr lang="en-US" dirty="0"/>
              <a:t>Header byte: </a:t>
            </a: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L0|L1|CD|R0|R1|P0|P1|P2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dirty="0"/>
              <a:t>L0-L1: number of bytes of the message length.</a:t>
            </a:r>
          </a:p>
          <a:p>
            <a:pPr lvl="1"/>
            <a:r>
              <a:rPr lang="en-US" dirty="0"/>
              <a:t>CD: “Control/ Data” bit.</a:t>
            </a:r>
          </a:p>
          <a:p>
            <a:pPr lvl="1"/>
            <a:r>
              <a:rPr lang="en-US" dirty="0"/>
              <a:t>R0-R1: Reserved for future use.</a:t>
            </a:r>
          </a:p>
          <a:p>
            <a:pPr lvl="1"/>
            <a:r>
              <a:rPr lang="en-US" dirty="0"/>
              <a:t>P0-P2: Protocol number (0 to 7).</a:t>
            </a:r>
          </a:p>
          <a:p>
            <a:endParaRPr lang="en-US" dirty="0"/>
          </a:p>
          <a:p>
            <a:r>
              <a:rPr lang="en-US" dirty="0"/>
              <a:t>The Protocol Number defines the "type" of the message: the writer/serializer that has been used to write the payload and the reader/</a:t>
            </a:r>
            <a:r>
              <a:rPr lang="en-US" dirty="0" err="1"/>
              <a:t>deserializer</a:t>
            </a:r>
            <a:r>
              <a:rPr lang="en-US" dirty="0"/>
              <a:t> that must be used to read it back.</a:t>
            </a:r>
          </a:p>
        </p:txBody>
      </p:sp>
    </p:spTree>
    <p:extLst>
      <p:ext uri="{BB962C8B-B14F-4D97-AF65-F5344CB8AC3E}">
        <p14:creationId xmlns:p14="http://schemas.microsoft.com/office/powerpoint/2010/main" val="200001624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FC278E-8E30-3459-41D7-7185BA8629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8 protocols maximal count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C71B80D-91E5-6DC7-AB87-2CFAAF04179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516560"/>
          </a:xfrm>
        </p:spPr>
        <p:txBody>
          <a:bodyPr>
            <a:normAutofit lnSpcReduction="10000"/>
          </a:bodyPr>
          <a:lstStyle/>
          <a:p>
            <a:r>
              <a:rPr lang="en-US" dirty="0"/>
              <a:t>Only 8 protocols can be expressed.</a:t>
            </a:r>
          </a:p>
          <a:p>
            <a:pPr lvl="1"/>
            <a:r>
              <a:rPr lang="en-US" dirty="0"/>
              <a:t>The “0 Protocol” protocol is reserved: this is the protocol of </a:t>
            </a:r>
            <a:r>
              <a:rPr lang="en-US" dirty="0" err="1"/>
              <a:t>CK.AppIdentity.TransportLayer</a:t>
            </a:r>
            <a:r>
              <a:rPr lang="en-US" dirty="0"/>
              <a:t> itself that handles special messages used to negotiate, accept, reject incoming parties and outgoing connections.</a:t>
            </a:r>
          </a:p>
          <a:p>
            <a:pPr lvl="1"/>
            <a:r>
              <a:rPr lang="en-US" dirty="0"/>
              <a:t>This lets 7 possible protocols. </a:t>
            </a:r>
          </a:p>
          <a:p>
            <a:pPr lvl="1"/>
            <a:endParaRPr lang="en-US" dirty="0"/>
          </a:p>
          <a:p>
            <a:r>
              <a:rPr lang="en-US" dirty="0"/>
              <a:t>This limit applies to a Remote party pair: </a:t>
            </a:r>
          </a:p>
          <a:p>
            <a:pPr lvl="1"/>
            <a:r>
              <a:rPr lang="en-US" dirty="0"/>
              <a:t>There can be any number of possible protocols in an application</a:t>
            </a:r>
          </a:p>
          <a:p>
            <a:pPr lvl="1"/>
            <a:r>
              <a:rPr lang="en-US" dirty="0"/>
              <a:t>2 parties that start to interact initially negotiate the ones they can and want to use. </a:t>
            </a:r>
          </a:p>
          <a:p>
            <a:r>
              <a:rPr lang="en-US" dirty="0"/>
              <a:t>Any Transport between 2 parties can simultaneously support up to 7 different protocols.</a:t>
            </a:r>
          </a:p>
        </p:txBody>
      </p:sp>
    </p:spTree>
    <p:extLst>
      <p:ext uri="{BB962C8B-B14F-4D97-AF65-F5344CB8AC3E}">
        <p14:creationId xmlns:p14="http://schemas.microsoft.com/office/powerpoint/2010/main" val="1820346205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F456EA-A507-E17F-1FF5-0DDC0C51BB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Creating new messages</a:t>
            </a:r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1CC84568-F688-2F94-8756-D5862C7EDE27}"/>
              </a:ext>
            </a:extLst>
          </p:cNvPr>
          <p:cNvSpPr txBox="1">
            <a:spLocks/>
          </p:cNvSpPr>
          <p:nvPr/>
        </p:nvSpPr>
        <p:spPr>
          <a:xfrm>
            <a:off x="838200" y="1825625"/>
            <a:ext cx="10515600" cy="4516560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Only an </a:t>
            </a:r>
            <a:r>
              <a:rPr lang="en-US" sz="2000" dirty="0" err="1">
                <a:latin typeface="Consolas" panose="020B0609020204030204" pitchFamily="49" charset="0"/>
                <a:cs typeface="Courier New" panose="02070309020205020404" pitchFamily="49" charset="0"/>
              </a:rPr>
              <a:t>OutgoingMessageFactory</a:t>
            </a:r>
            <a:r>
              <a:rPr lang="en-US" dirty="0"/>
              <a:t> can </a:t>
            </a:r>
            <a:br>
              <a:rPr lang="en-US" dirty="0"/>
            </a:br>
            <a:r>
              <a:rPr lang="en-US" dirty="0"/>
              <a:t>create new messages: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Messages must be disposed once done with them</a:t>
            </a:r>
          </a:p>
          <a:p>
            <a:pPr lvl="1"/>
            <a:r>
              <a:rPr lang="en-US" dirty="0"/>
              <a:t>Allocated memory is reused.</a:t>
            </a:r>
          </a:p>
          <a:p>
            <a:r>
              <a:rPr lang="en-US" dirty="0"/>
              <a:t>Messages can be “Retained” when needed (reference counting)</a:t>
            </a:r>
          </a:p>
          <a:p>
            <a:r>
              <a:rPr lang="en-US" dirty="0" err="1"/>
              <a:t>CreateStatic</a:t>
            </a:r>
            <a:r>
              <a:rPr lang="en-US" dirty="0"/>
              <a:t> returns messages don’t need to be disposed.</a:t>
            </a:r>
          </a:p>
          <a:p>
            <a:pPr lvl="1"/>
            <a:r>
              <a:rPr lang="en-US" dirty="0"/>
              <a:t>Dispose()/Retain() calls are ignored.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101A3D9-3364-B380-BE27-B3376CE6CD06}"/>
              </a:ext>
            </a:extLst>
          </p:cNvPr>
          <p:cNvSpPr txBox="1"/>
          <p:nvPr/>
        </p:nvSpPr>
        <p:spPr>
          <a:xfrm>
            <a:off x="1078524" y="2715481"/>
            <a:ext cx="9448800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public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latin typeface="Consolas" panose="020B0609020204030204" pitchFamily="49" charset="0"/>
              </a:rPr>
              <a:t>TransportMessage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Create( Action&lt;</a:t>
            </a:r>
            <a:r>
              <a:rPr lang="en-US" sz="1800" dirty="0" err="1">
                <a:solidFill>
                  <a:srgbClr val="000000"/>
                </a:solidFill>
                <a:latin typeface="Consolas" panose="020B0609020204030204" pitchFamily="49" charset="0"/>
              </a:rPr>
              <a:t>IBufferWriter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&lt;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byte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&gt;&gt; writer,</a:t>
            </a:r>
          </a:p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                         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bool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latin typeface="Consolas" panose="020B0609020204030204" pitchFamily="49" charset="0"/>
              </a:rPr>
              <a:t>isControl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false 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);</a:t>
            </a:r>
          </a:p>
          <a:p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public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latin typeface="Consolas" panose="020B0609020204030204" pitchFamily="49" charset="0"/>
              </a:rPr>
              <a:t>TransportMessage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Create( Action&lt;</a:t>
            </a:r>
            <a:r>
              <a:rPr lang="en-US" sz="1800" dirty="0" err="1">
                <a:solidFill>
                  <a:srgbClr val="000000"/>
                </a:solidFill>
                <a:latin typeface="Consolas" panose="020B0609020204030204" pitchFamily="49" charset="0"/>
              </a:rPr>
              <a:t>MutableSequence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&lt;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byte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&gt;&gt; writer,</a:t>
            </a:r>
          </a:p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                         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bool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latin typeface="Consolas" panose="020B0609020204030204" pitchFamily="49" charset="0"/>
              </a:rPr>
              <a:t>isControl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false 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);</a:t>
            </a:r>
          </a:p>
          <a:p>
            <a:endParaRPr lang="en-US" sz="18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  <p:pic>
        <p:nvPicPr>
          <p:cNvPr id="16" name="Content Placeholder 15" descr="Graphical user interface, text, application, chat or text message&#10;&#10;Description automatically generated">
            <a:extLst>
              <a:ext uri="{FF2B5EF4-FFF2-40B4-BE49-F238E27FC236}">
                <a16:creationId xmlns:a16="http://schemas.microsoft.com/office/drawing/2014/main" id="{B9C368B7-B971-1A32-863D-EFEC2CD1A66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65630" y="515815"/>
            <a:ext cx="5716130" cy="2047266"/>
          </a:xfrm>
        </p:spPr>
      </p:pic>
    </p:spTree>
    <p:extLst>
      <p:ext uri="{BB962C8B-B14F-4D97-AF65-F5344CB8AC3E}">
        <p14:creationId xmlns:p14="http://schemas.microsoft.com/office/powerpoint/2010/main" val="3573920614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028A174E-C40C-EE9F-57EC-1C6C06A73727}"/>
              </a:ext>
            </a:extLst>
          </p:cNvPr>
          <p:cNvSpPr txBox="1">
            <a:spLocks/>
          </p:cNvSpPr>
          <p:nvPr/>
        </p:nvSpPr>
        <p:spPr>
          <a:xfrm>
            <a:off x="838200" y="1825625"/>
            <a:ext cx="8607669" cy="4516560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Only an </a:t>
            </a:r>
            <a:r>
              <a:rPr lang="en-US" sz="2000" dirty="0" err="1">
                <a:latin typeface="Consolas" panose="020B0609020204030204" pitchFamily="49" charset="0"/>
                <a:cs typeface="Courier New" panose="02070309020205020404" pitchFamily="49" charset="0"/>
              </a:rPr>
              <a:t>IncomingMessageFactory</a:t>
            </a:r>
            <a:r>
              <a:rPr lang="en-US" dirty="0"/>
              <a:t> can read messages: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From any asynchronous function that can fill a buffer with an exact count of bytes.</a:t>
            </a:r>
          </a:p>
          <a:p>
            <a:r>
              <a:rPr lang="en-US" dirty="0"/>
              <a:t>The developer never interacts directly with an </a:t>
            </a:r>
            <a:r>
              <a:rPr lang="en-US" dirty="0" err="1"/>
              <a:t>IncomingMessageFactory</a:t>
            </a:r>
            <a:r>
              <a:rPr lang="en-US" dirty="0"/>
              <a:t>.</a:t>
            </a:r>
          </a:p>
          <a:p>
            <a:r>
              <a:rPr lang="en-US" dirty="0"/>
              <a:t>Concrete Transport implementations provide the </a:t>
            </a:r>
            <a:r>
              <a:rPr lang="en-US" sz="2200" dirty="0" err="1">
                <a:solidFill>
                  <a:srgbClr val="000000"/>
                </a:solidFill>
                <a:latin typeface="Consolas" panose="020B0609020204030204" pitchFamily="49" charset="0"/>
              </a:rPr>
              <a:t>exactReader</a:t>
            </a:r>
            <a:r>
              <a:rPr lang="en-US" dirty="0"/>
              <a:t> function.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0FD56D0-2F2C-42C4-3EEA-E4CCE70C90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Reading incoming messages</a:t>
            </a:r>
          </a:p>
        </p:txBody>
      </p:sp>
      <p:pic>
        <p:nvPicPr>
          <p:cNvPr id="5" name="Content Placeholder 4" descr="Graphical user interface, application&#10;&#10;Description automatically generated">
            <a:extLst>
              <a:ext uri="{FF2B5EF4-FFF2-40B4-BE49-F238E27FC236}">
                <a16:creationId xmlns:a16="http://schemas.microsoft.com/office/drawing/2014/main" id="{CD2D2A67-F26C-B52C-0846-6487A7DF0B1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01200" y="146641"/>
            <a:ext cx="2454795" cy="6564718"/>
          </a:xfr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ADFAAF37-5FFB-5FCF-739F-A7F6192E67D4}"/>
              </a:ext>
            </a:extLst>
          </p:cNvPr>
          <p:cNvSpPr txBox="1"/>
          <p:nvPr/>
        </p:nvSpPr>
        <p:spPr>
          <a:xfrm>
            <a:off x="993531" y="2329579"/>
            <a:ext cx="8452338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public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Task&lt;</a:t>
            </a:r>
            <a:r>
              <a:rPr lang="en-US" sz="1800" dirty="0" err="1">
                <a:solidFill>
                  <a:srgbClr val="000000"/>
                </a:solidFill>
                <a:latin typeface="Consolas" panose="020B0609020204030204" pitchFamily="49" charset="0"/>
              </a:rPr>
              <a:t>TransportMessage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&gt; </a:t>
            </a:r>
            <a:r>
              <a:rPr lang="en-US" sz="1800" dirty="0" err="1">
                <a:solidFill>
                  <a:srgbClr val="000000"/>
                </a:solidFill>
                <a:latin typeface="Consolas" panose="020B0609020204030204" pitchFamily="49" charset="0"/>
              </a:rPr>
              <a:t>ReadAsync</a:t>
            </a:r>
            <a:endParaRPr lang="en-US" sz="1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( </a:t>
            </a: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US" sz="1800" dirty="0" err="1">
                <a:solidFill>
                  <a:srgbClr val="000000"/>
                </a:solidFill>
                <a:latin typeface="Consolas" panose="020B0609020204030204" pitchFamily="49" charset="0"/>
              </a:rPr>
              <a:t>Func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&lt;Memory&lt;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byte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&gt;, </a:t>
            </a:r>
            <a:r>
              <a:rPr lang="en-US" sz="1800" dirty="0" err="1">
                <a:solidFill>
                  <a:srgbClr val="000000"/>
                </a:solidFill>
                <a:latin typeface="Consolas" panose="020B0609020204030204" pitchFamily="49" charset="0"/>
              </a:rPr>
              <a:t>CancellationToken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sz="1800" dirty="0" err="1">
                <a:solidFill>
                  <a:srgbClr val="000000"/>
                </a:solidFill>
                <a:latin typeface="Consolas" panose="020B0609020204030204" pitchFamily="49" charset="0"/>
              </a:rPr>
              <a:t>ValueTask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&gt; </a:t>
            </a:r>
            <a:r>
              <a:rPr lang="en-US" sz="1800" dirty="0" err="1">
                <a:solidFill>
                  <a:srgbClr val="000000"/>
                </a:solidFill>
                <a:latin typeface="Consolas" panose="020B0609020204030204" pitchFamily="49" charset="0"/>
              </a:rPr>
              <a:t>exactReader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,</a:t>
            </a:r>
          </a:p>
          <a:p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    int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latin typeface="Consolas" panose="020B0609020204030204" pitchFamily="49" charset="0"/>
              </a:rPr>
              <a:t>maxMessageLength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sz="1800" dirty="0" err="1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en-US" sz="1800" dirty="0" err="1">
                <a:solidFill>
                  <a:srgbClr val="000000"/>
                </a:solidFill>
                <a:latin typeface="Consolas" panose="020B0609020204030204" pitchFamily="49" charset="0"/>
              </a:rPr>
              <a:t>.MaxValue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,</a:t>
            </a:r>
          </a:p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US" sz="1800" dirty="0" err="1">
                <a:solidFill>
                  <a:srgbClr val="000000"/>
                </a:solidFill>
                <a:latin typeface="Consolas" panose="020B0609020204030204" pitchFamily="49" charset="0"/>
              </a:rPr>
              <a:t>CancellationToken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cancellation =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default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</a:p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74243622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8CEF7E-C184-9ED5-678F-E522EE7861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Implementing</a:t>
            </a:r>
            <a:br>
              <a:rPr lang="en-US" dirty="0"/>
            </a:br>
            <a:r>
              <a:rPr lang="en-US" dirty="0"/>
              <a:t>Transports</a:t>
            </a: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9F56818D-148F-7DD5-0B72-C665916F8DD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85800" y="2395330"/>
            <a:ext cx="4446248" cy="4273825"/>
          </a:xfrm>
        </p:spPr>
        <p:txBody>
          <a:bodyPr>
            <a:normAutofit/>
          </a:bodyPr>
          <a:lstStyle/>
          <a:p>
            <a:r>
              <a:rPr lang="en-US" sz="2400" dirty="0"/>
              <a:t>3 classes to specialize.</a:t>
            </a:r>
          </a:p>
          <a:p>
            <a:r>
              <a:rPr lang="en-US" sz="2400" dirty="0"/>
              <a:t>Straight wrappers, no error management required.</a:t>
            </a:r>
          </a:p>
          <a:p>
            <a:r>
              <a:rPr lang="en-US" sz="2400" dirty="0"/>
              <a:t>Package First</a:t>
            </a:r>
          </a:p>
          <a:p>
            <a:endParaRPr lang="en-US" sz="2400" dirty="0"/>
          </a:p>
          <a:p>
            <a:r>
              <a:rPr lang="en-US" sz="2400" dirty="0"/>
              <a:t>Example of </a:t>
            </a:r>
            <a:r>
              <a:rPr lang="en-US" sz="2400" dirty="0" err="1"/>
              <a:t>TCPSocket</a:t>
            </a:r>
            <a:endParaRPr lang="en-US" sz="2400" dirty="0"/>
          </a:p>
          <a:p>
            <a:pPr lvl="1"/>
            <a:r>
              <a:rPr lang="en-US" sz="2000" dirty="0" err="1"/>
              <a:t>AddressProtocolName</a:t>
            </a:r>
            <a:r>
              <a:rPr lang="en-US" sz="2000" dirty="0"/>
              <a:t>: “</a:t>
            </a:r>
            <a:r>
              <a:rPr lang="en-US" sz="2000" dirty="0" err="1"/>
              <a:t>tcp</a:t>
            </a:r>
            <a:r>
              <a:rPr lang="en-US" sz="2000" dirty="0"/>
              <a:t>”</a:t>
            </a:r>
          </a:p>
          <a:p>
            <a:endParaRPr lang="en-US" sz="2400" dirty="0"/>
          </a:p>
          <a:p>
            <a:r>
              <a:rPr lang="en-US" sz="2400" dirty="0"/>
              <a:t>Developers don’t interact with Transports layer.</a:t>
            </a:r>
          </a:p>
          <a:p>
            <a:pPr lvl="1"/>
            <a:endParaRPr lang="en-US" sz="2000" dirty="0"/>
          </a:p>
          <a:p>
            <a:pPr lvl="1"/>
            <a:endParaRPr lang="en-US" sz="2000" dirty="0"/>
          </a:p>
        </p:txBody>
      </p:sp>
      <p:pic>
        <p:nvPicPr>
          <p:cNvPr id="13" name="Picture 12" descr="Diagram&#10;&#10;Description automatically generated">
            <a:extLst>
              <a:ext uri="{FF2B5EF4-FFF2-40B4-BE49-F238E27FC236}">
                <a16:creationId xmlns:a16="http://schemas.microsoft.com/office/drawing/2014/main" id="{5B7E97A0-34C4-CC0C-12FC-6AFA8966FE2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04165" y="90854"/>
            <a:ext cx="6812870" cy="6767146"/>
          </a:xfrm>
          <a:prstGeom prst="rect">
            <a:avLst/>
          </a:prstGeom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16" name="Ink 15">
                <a:extLst>
                  <a:ext uri="{FF2B5EF4-FFF2-40B4-BE49-F238E27FC236}">
                    <a16:creationId xmlns:a16="http://schemas.microsoft.com/office/drawing/2014/main" id="{50624A14-49A3-0F8D-AD90-36507C62CCDD}"/>
                  </a:ext>
                </a:extLst>
              </p14:cNvPr>
              <p14:cNvContentPartPr/>
              <p14:nvPr/>
            </p14:nvContentPartPr>
            <p14:xfrm>
              <a:off x="8249071" y="2795776"/>
              <a:ext cx="1032840" cy="57600"/>
            </p14:xfrm>
          </p:contentPart>
        </mc:Choice>
        <mc:Fallback xmlns="">
          <p:pic>
            <p:nvPicPr>
              <p:cNvPr id="16" name="Ink 15">
                <a:extLst>
                  <a:ext uri="{FF2B5EF4-FFF2-40B4-BE49-F238E27FC236}">
                    <a16:creationId xmlns:a16="http://schemas.microsoft.com/office/drawing/2014/main" id="{50624A14-49A3-0F8D-AD90-36507C62CCDD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8195071" y="2687776"/>
                <a:ext cx="1140480" cy="27324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227821959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512CBA-34FC-5769-694A-E657A80519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Channel Feature</a:t>
            </a:r>
          </a:p>
        </p:txBody>
      </p:sp>
      <p:sp>
        <p:nvSpPr>
          <p:cNvPr id="6" name="Content Placeholder 8">
            <a:extLst>
              <a:ext uri="{FF2B5EF4-FFF2-40B4-BE49-F238E27FC236}">
                <a16:creationId xmlns:a16="http://schemas.microsoft.com/office/drawing/2014/main" id="{AACCB99C-C551-6BC4-005D-BC5314B48110}"/>
              </a:ext>
            </a:extLst>
          </p:cNvPr>
          <p:cNvSpPr txBox="1">
            <a:spLocks/>
          </p:cNvSpPr>
          <p:nvPr/>
        </p:nvSpPr>
        <p:spPr>
          <a:xfrm>
            <a:off x="556592" y="1890023"/>
            <a:ext cx="5165782" cy="442132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400" dirty="0"/>
              <a:t>3 classes to specialize.</a:t>
            </a:r>
          </a:p>
          <a:p>
            <a:pPr lvl="1"/>
            <a:r>
              <a:rPr lang="en-US" sz="2000" dirty="0"/>
              <a:t>3 abstract methods.</a:t>
            </a:r>
          </a:p>
          <a:p>
            <a:pPr lvl="1"/>
            <a:endParaRPr lang="en-US" sz="2000" dirty="0"/>
          </a:p>
          <a:p>
            <a:r>
              <a:rPr lang="en-US" sz="2400" dirty="0"/>
              <a:t>Protocols can optionally be versioned.</a:t>
            </a:r>
          </a:p>
          <a:p>
            <a:pPr lvl="1"/>
            <a:r>
              <a:rPr lang="en-US" sz="2000" dirty="0"/>
              <a:t>Negotiation is automatic.</a:t>
            </a:r>
          </a:p>
          <a:p>
            <a:pPr lvl="1"/>
            <a:endParaRPr lang="en-US" sz="2000" dirty="0"/>
          </a:p>
          <a:p>
            <a:r>
              <a:rPr lang="en-US" sz="2400" dirty="0"/>
              <a:t>Driver’s type name must be suffixed by  "</a:t>
            </a:r>
            <a:r>
              <a:rPr lang="en-US" sz="2400" dirty="0" err="1"/>
              <a:t>ChannelFeatureDriver</a:t>
            </a:r>
            <a:r>
              <a:rPr lang="en-US" sz="2400" dirty="0"/>
              <a:t>“.</a:t>
            </a:r>
          </a:p>
        </p:txBody>
      </p:sp>
      <p:pic>
        <p:nvPicPr>
          <p:cNvPr id="10" name="Content Placeholder 9" descr="Diagram">
            <a:extLst>
              <a:ext uri="{FF2B5EF4-FFF2-40B4-BE49-F238E27FC236}">
                <a16:creationId xmlns:a16="http://schemas.microsoft.com/office/drawing/2014/main" id="{B9505869-E6FE-3131-7CB2-E37EF0D5904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08322" y="75482"/>
            <a:ext cx="6302438" cy="5410917"/>
          </a:xfrm>
        </p:spPr>
      </p:pic>
    </p:spTree>
    <p:extLst>
      <p:ext uri="{BB962C8B-B14F-4D97-AF65-F5344CB8AC3E}">
        <p14:creationId xmlns:p14="http://schemas.microsoft.com/office/powerpoint/2010/main" val="1174634535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ABD18F-1304-001E-4845-8CF4F7B6EF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</a:t>
            </a:r>
            <a:r>
              <a:rPr lang="en-US" dirty="0" err="1"/>
              <a:t>BlobChannel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55CEFAF-0B14-02E7-656C-CF64B5F5FAD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The </a:t>
            </a:r>
            <a:r>
              <a:rPr lang="en-US" dirty="0" err="1"/>
              <a:t>BlobChannel</a:t>
            </a:r>
            <a:r>
              <a:rPr lang="en-US" dirty="0"/>
              <a:t> is more a sample than a useful channel.</a:t>
            </a:r>
            <a:br>
              <a:rPr lang="en-US" dirty="0"/>
            </a:br>
            <a:endParaRPr lang="en-US" dirty="0"/>
          </a:p>
          <a:p>
            <a:r>
              <a:rPr lang="en-US" dirty="0"/>
              <a:t>Using a Channel</a:t>
            </a:r>
          </a:p>
          <a:p>
            <a:pPr lvl="1"/>
            <a:r>
              <a:rPr lang="en-US" dirty="0" err="1">
                <a:hlinkClick r:id="rId2"/>
              </a:rPr>
              <a:t>CK.AppIdentity.BlobChannel.Tests</a:t>
            </a:r>
            <a:r>
              <a:rPr lang="en-US" dirty="0">
                <a:hlinkClick r:id="rId2"/>
              </a:rPr>
              <a:t>/</a:t>
            </a:r>
            <a:r>
              <a:rPr lang="en-US" dirty="0" err="1">
                <a:hlinkClick r:id="rId2"/>
              </a:rPr>
              <a:t>BasicExchangeTests</a:t>
            </a:r>
            <a:r>
              <a:rPr lang="en-US" dirty="0"/>
              <a:t> </a:t>
            </a:r>
          </a:p>
          <a:p>
            <a:endParaRPr lang="en-US" dirty="0"/>
          </a:p>
          <a:p>
            <a:r>
              <a:rPr lang="en-US" dirty="0"/>
              <a:t>The </a:t>
            </a:r>
            <a:r>
              <a:rPr lang="en-US" dirty="0" err="1"/>
              <a:t>CK.AppIdentity.BlobChannel</a:t>
            </a:r>
            <a:r>
              <a:rPr lang="en-US" dirty="0"/>
              <a:t> implementation</a:t>
            </a:r>
          </a:p>
          <a:p>
            <a:pPr lvl="1"/>
            <a:r>
              <a:rPr lang="en-US" dirty="0" err="1">
                <a:hlinkClick r:id="rId3"/>
              </a:rPr>
              <a:t>BlobChannelFeatureDriver.cs</a:t>
            </a:r>
            <a:endParaRPr lang="en-US" dirty="0"/>
          </a:p>
          <a:p>
            <a:pPr lvl="1"/>
            <a:r>
              <a:rPr lang="en-US" dirty="0" err="1">
                <a:hlinkClick r:id="rId4"/>
              </a:rPr>
              <a:t>BlobChannelFeature.cs</a:t>
            </a:r>
            <a:endParaRPr lang="en-US" dirty="0"/>
          </a:p>
          <a:p>
            <a:pPr lvl="1"/>
            <a:r>
              <a:rPr lang="en-US" dirty="0" err="1">
                <a:hlinkClick r:id="rId5"/>
              </a:rPr>
              <a:t>BlobChannelFeature.Protocol.cs</a:t>
            </a:r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8774651-B1CD-A9F7-EE21-593DAEFC486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42522" y="4391215"/>
            <a:ext cx="3276987" cy="13242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87487120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430CD7-8283-9031-1738-32DC1DF85B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Roadmap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E6F859C-4726-43EF-F0A8-B73939B7027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62500" lnSpcReduction="20000"/>
          </a:bodyPr>
          <a:lstStyle/>
          <a:p>
            <a:r>
              <a:rPr lang="en-US" dirty="0" err="1"/>
              <a:t>Cris</a:t>
            </a:r>
            <a:r>
              <a:rPr lang="en-US" dirty="0"/>
              <a:t> feature (next slide).</a:t>
            </a:r>
          </a:p>
          <a:p>
            <a:r>
              <a:rPr lang="en-US" dirty="0"/>
              <a:t>Enlistment of new Parties: </a:t>
            </a:r>
            <a:r>
              <a:rPr lang="en-US" dirty="0" err="1"/>
              <a:t>AcceptUri</a:t>
            </a:r>
            <a:r>
              <a:rPr lang="en-US" dirty="0"/>
              <a:t> &amp; </a:t>
            </a:r>
            <a:r>
              <a:rPr lang="en-US" dirty="0" err="1"/>
              <a:t>UnknownRemote</a:t>
            </a:r>
            <a:endParaRPr lang="en-US" dirty="0"/>
          </a:p>
          <a:p>
            <a:r>
              <a:rPr lang="en-US" dirty="0"/>
              <a:t>Poco store (</a:t>
            </a:r>
            <a:r>
              <a:rPr lang="en-US" dirty="0">
                <a:hlinkClick r:id="rId2"/>
              </a:rPr>
              <a:t>https://github.com/microsoft/FASTER</a:t>
            </a:r>
            <a:r>
              <a:rPr lang="en-US" dirty="0"/>
              <a:t>)</a:t>
            </a:r>
          </a:p>
          <a:p>
            <a:pPr lvl="1"/>
            <a:r>
              <a:rPr lang="en-US" dirty="0"/>
              <a:t>KV or Log?</a:t>
            </a:r>
          </a:p>
          <a:p>
            <a:pPr lvl="1"/>
            <a:r>
              <a:rPr lang="en-US" dirty="0"/>
              <a:t>For the moment, we can live with a in-memory only store.</a:t>
            </a:r>
          </a:p>
          <a:p>
            <a:r>
              <a:rPr lang="en-US" dirty="0"/>
              <a:t>“X509Store” (</a:t>
            </a:r>
            <a:r>
              <a:rPr lang="en-US" dirty="0" err="1"/>
              <a:t>.Net</a:t>
            </a:r>
            <a:r>
              <a:rPr lang="en-US" dirty="0"/>
              <a:t> core or not?)</a:t>
            </a:r>
          </a:p>
          <a:p>
            <a:pPr lvl="1"/>
            <a:r>
              <a:rPr lang="en-US" dirty="0"/>
              <a:t>First step</a:t>
            </a:r>
          </a:p>
          <a:p>
            <a:pPr lvl="2"/>
            <a:r>
              <a:rPr lang="en-US" dirty="0"/>
              <a:t>The primary signing certificate that identifies the party.</a:t>
            </a:r>
          </a:p>
          <a:p>
            <a:pPr lvl="2"/>
            <a:r>
              <a:rPr lang="en-US" dirty="0"/>
              <a:t>Rolling it (or not?)</a:t>
            </a:r>
          </a:p>
          <a:p>
            <a:pPr lvl="1"/>
            <a:r>
              <a:rPr lang="en-US" dirty="0"/>
              <a:t>Other certificates</a:t>
            </a:r>
          </a:p>
          <a:p>
            <a:pPr lvl="2"/>
            <a:r>
              <a:rPr lang="en-US" dirty="0"/>
              <a:t>Name for them?</a:t>
            </a:r>
          </a:p>
          <a:p>
            <a:pPr lvl="2"/>
            <a:r>
              <a:rPr lang="en-US" dirty="0"/>
              <a:t>Rolling?</a:t>
            </a:r>
          </a:p>
          <a:p>
            <a:pPr lvl="2"/>
            <a:r>
              <a:rPr lang="en-US" dirty="0"/>
              <a:t>Orchard use the X509Store only for its primary certificate, others are on disk, optionally protected by a password.</a:t>
            </a:r>
          </a:p>
          <a:p>
            <a:pPr marL="914400" lvl="2" indent="0">
              <a:buNone/>
            </a:pPr>
            <a:r>
              <a:rPr lang="en-US" dirty="0">
                <a:hlinkClick r:id="rId3"/>
              </a:rPr>
              <a:t>https://github.com/OrchardCMS/OrchardCore/blob/main/src/OrchardCore.Modules/OrchardCore.OpenId/Services/OpenIdServerService.cs</a:t>
            </a:r>
            <a:endParaRPr lang="en-US" dirty="0"/>
          </a:p>
          <a:p>
            <a:pPr lvl="1"/>
            <a:r>
              <a:rPr lang="en-US" dirty="0"/>
              <a:t>How to generate TSL compliant certificates?</a:t>
            </a:r>
          </a:p>
          <a:p>
            <a:r>
              <a:rPr lang="en-US" dirty="0"/>
              <a:t>Provide a way to monitor the </a:t>
            </a:r>
            <a:r>
              <a:rPr lang="en-US" dirty="0" err="1"/>
              <a:t>TransportMessage</a:t>
            </a:r>
            <a:r>
              <a:rPr lang="en-US" dirty="0"/>
              <a:t> Retain/Dispose errors </a:t>
            </a:r>
          </a:p>
          <a:p>
            <a:pPr lvl="1"/>
            <a:r>
              <a:rPr lang="en-US" dirty="0"/>
              <a:t>Because ref counting sucks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40639712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1EBC4F-39D3-FAF0-AB9D-35A61EBB7F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Cris</a:t>
            </a:r>
            <a:r>
              <a:rPr lang="en-US" dirty="0"/>
              <a:t> feature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C29E0310-D200-A432-CC9E-332FDFE41015}"/>
              </a:ext>
            </a:extLst>
          </p:cNvPr>
          <p:cNvSpPr txBox="1">
            <a:spLocks/>
          </p:cNvSpPr>
          <p:nvPr/>
        </p:nvSpPr>
        <p:spPr>
          <a:xfrm>
            <a:off x="838200" y="1562582"/>
            <a:ext cx="10515600" cy="4766781"/>
          </a:xfrm>
          <a:prstGeom prst="rect">
            <a:avLst/>
          </a:prstGeom>
        </p:spPr>
        <p:txBody>
          <a:bodyPr vert="horz" lIns="91440" tIns="45720" rIns="91440" bIns="45720" rtlCol="0">
            <a:normAutofit fontScale="47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Common DI or 2 DI (one for the WebApp, one for </a:t>
            </a:r>
            <a:r>
              <a:rPr lang="en-US" dirty="0" err="1"/>
              <a:t>AppIdentity</a:t>
            </a:r>
            <a:r>
              <a:rPr lang="en-US" dirty="0"/>
              <a:t>)?</a:t>
            </a:r>
          </a:p>
          <a:p>
            <a:r>
              <a:rPr lang="en-US" dirty="0"/>
              <a:t>2 DI containers introduce the “Absolute Singletons” issue</a:t>
            </a:r>
          </a:p>
          <a:p>
            <a:pPr lvl="1"/>
            <a:r>
              <a:rPr lang="en-US" dirty="0"/>
              <a:t>Should the same instance of a singleton service be registered in both DI?</a:t>
            </a:r>
          </a:p>
          <a:p>
            <a:pPr lvl="1"/>
            <a:r>
              <a:rPr lang="en-US" dirty="0"/>
              <a:t>For all singleton services? May be for </a:t>
            </a:r>
            <a:r>
              <a:rPr lang="en-US" dirty="0" err="1"/>
              <a:t>IRealObject</a:t>
            </a:r>
            <a:r>
              <a:rPr lang="en-US" dirty="0"/>
              <a:t> only?</a:t>
            </a:r>
          </a:p>
          <a:p>
            <a:r>
              <a:rPr lang="en-US" dirty="0"/>
              <a:t>My preference:</a:t>
            </a:r>
          </a:p>
          <a:p>
            <a:pPr lvl="1"/>
            <a:r>
              <a:rPr lang="en-US" dirty="0"/>
              <a:t>A </a:t>
            </a:r>
            <a:r>
              <a:rPr lang="en-US" dirty="0" err="1"/>
              <a:t>CK-AppIdentity:Local:WebApplication</a:t>
            </a:r>
            <a:r>
              <a:rPr lang="en-US" dirty="0"/>
              <a:t> section that defines the WebApp as an “island” of the application.</a:t>
            </a:r>
          </a:p>
          <a:p>
            <a:pPr lvl="2"/>
            <a:r>
              <a:rPr lang="en-US" dirty="0"/>
              <a:t>DI of the app has no “Web” dependent services (“Process” services only).</a:t>
            </a:r>
          </a:p>
          <a:p>
            <a:pPr lvl="2"/>
            <a:r>
              <a:rPr lang="en-US" dirty="0"/>
              <a:t>The </a:t>
            </a:r>
            <a:r>
              <a:rPr lang="en-US" dirty="0" err="1"/>
              <a:t>WebApplicationBuilder.Services</a:t>
            </a:r>
            <a:r>
              <a:rPr lang="en-US" dirty="0"/>
              <a:t> is pre-configured with all the “process services” registrations.</a:t>
            </a:r>
          </a:p>
          <a:p>
            <a:pPr lvl="1"/>
            <a:r>
              <a:rPr lang="en-US" dirty="0"/>
              <a:t>Can we build the App DI without all the services that depends on the “Web” layer?</a:t>
            </a:r>
          </a:p>
          <a:p>
            <a:pPr lvl="2"/>
            <a:r>
              <a:rPr lang="en-US" dirty="0" err="1"/>
              <a:t>ScopedHttpContext</a:t>
            </a:r>
            <a:r>
              <a:rPr lang="en-US" dirty="0"/>
              <a:t>, </a:t>
            </a:r>
            <a:r>
              <a:rPr lang="en-US" dirty="0" err="1"/>
              <a:t>IAuthenticationService</a:t>
            </a:r>
            <a:r>
              <a:rPr lang="en-US" dirty="0"/>
              <a:t>, etc.</a:t>
            </a:r>
          </a:p>
          <a:p>
            <a:pPr lvl="1"/>
            <a:r>
              <a:rPr lang="en-US" dirty="0"/>
              <a:t>Is the “Front” vs. “Process” distinction enough?</a:t>
            </a:r>
          </a:p>
          <a:p>
            <a:pPr lvl="2"/>
            <a:r>
              <a:rPr lang="en-US" dirty="0"/>
              <a:t>In such case, “Front” means “Web”… </a:t>
            </a:r>
          </a:p>
          <a:p>
            <a:pPr lvl="2"/>
            <a:r>
              <a:rPr lang="en-US" dirty="0"/>
              <a:t>This may be a first approach, but ideally services are tagged with more than a single “trait”.</a:t>
            </a:r>
          </a:p>
          <a:p>
            <a:pPr lvl="2"/>
            <a:r>
              <a:rPr lang="en-US" dirty="0"/>
              <a:t>Or we skip any service defined in “</a:t>
            </a:r>
            <a:r>
              <a:rPr lang="en-US" dirty="0" err="1"/>
              <a:t>Microsoft.AspNetCore</a:t>
            </a:r>
            <a:r>
              <a:rPr lang="en-US" dirty="0"/>
              <a:t>” namespace ? A list of regex on AQN?</a:t>
            </a:r>
          </a:p>
          <a:p>
            <a:pPr lvl="2"/>
            <a:r>
              <a:rPr lang="en-US" dirty="0"/>
              <a:t>Does a “list of regex on AQN” defines an “End Point”?</a:t>
            </a:r>
          </a:p>
          <a:p>
            <a:pPr lvl="3"/>
            <a:r>
              <a:rPr lang="en-US" dirty="0"/>
              <a:t>If yes, one should be able to “</a:t>
            </a:r>
            <a:r>
              <a:rPr lang="en-US" dirty="0" err="1"/>
              <a:t>ConfigureServices</a:t>
            </a:r>
            <a:r>
              <a:rPr lang="en-US" dirty="0"/>
              <a:t>” with or without a set of “End Points”…</a:t>
            </a:r>
          </a:p>
          <a:p>
            <a:pPr lvl="1"/>
            <a:r>
              <a:rPr lang="en-US" dirty="0"/>
              <a:t>Even if this is possible, we have yet to synchronize the singleton instances (or not)…</a:t>
            </a:r>
          </a:p>
          <a:p>
            <a:pPr lvl="1"/>
            <a:r>
              <a:rPr lang="en-US" dirty="0"/>
              <a:t>This may be the best way in terms of architecture BUT it’s not a short-term solution.</a:t>
            </a:r>
          </a:p>
          <a:p>
            <a:r>
              <a:rPr lang="en-US" dirty="0"/>
              <a:t>The other way is that the Application DI is the WebApp one (if the app is a WebApp) just like today.</a:t>
            </a:r>
          </a:p>
          <a:p>
            <a:pPr lvl="1"/>
            <a:r>
              <a:rPr lang="en-US" dirty="0"/>
              <a:t>But now services must be “hidden”/”overridden” in </a:t>
            </a:r>
            <a:r>
              <a:rPr lang="en-US" dirty="0" err="1"/>
              <a:t>AppIdentity</a:t>
            </a:r>
            <a:r>
              <a:rPr lang="en-US" dirty="0"/>
              <a:t> services, at least for the </a:t>
            </a:r>
            <a:r>
              <a:rPr lang="en-US" dirty="0" err="1"/>
              <a:t>CrisExecutor</a:t>
            </a:r>
            <a:r>
              <a:rPr lang="en-US" dirty="0"/>
              <a:t>.</a:t>
            </a:r>
          </a:p>
          <a:p>
            <a:pPr lvl="1"/>
            <a:r>
              <a:rPr lang="en-US" dirty="0"/>
              <a:t>If a command handler relies on a “Web” singleton or scoped service, we are doomed (will fail at runtime).</a:t>
            </a:r>
          </a:p>
          <a:p>
            <a:pPr lvl="1"/>
            <a:r>
              <a:rPr lang="en-US" dirty="0"/>
              <a:t>But </a:t>
            </a:r>
            <a:r>
              <a:rPr lang="en-US" dirty="0" err="1"/>
              <a:t>CK.Cris.Executor</a:t>
            </a:r>
            <a:r>
              <a:rPr lang="en-US" dirty="0"/>
              <a:t> do its job (</a:t>
            </a:r>
            <a:r>
              <a:rPr lang="en-US" dirty="0" err="1"/>
              <a:t>CommandValidator</a:t>
            </a:r>
            <a:r>
              <a:rPr lang="en-US" dirty="0"/>
              <a:t>, </a:t>
            </a:r>
            <a:r>
              <a:rPr lang="en-US" dirty="0" err="1"/>
              <a:t>RawCommandExecutor</a:t>
            </a:r>
            <a:r>
              <a:rPr lang="en-US" dirty="0"/>
              <a:t>) based on an explicit </a:t>
            </a:r>
            <a:r>
              <a:rPr lang="en-US" dirty="0" err="1"/>
              <a:t>IServiceProvider</a:t>
            </a:r>
            <a:r>
              <a:rPr lang="en-US" dirty="0"/>
              <a:t>.</a:t>
            </a:r>
          </a:p>
          <a:p>
            <a:pPr lvl="1"/>
            <a:r>
              <a:rPr lang="en-US" dirty="0"/>
              <a:t>We can provide a </a:t>
            </a:r>
            <a:r>
              <a:rPr lang="en-US" dirty="0" err="1"/>
              <a:t>IServiceProvider</a:t>
            </a:r>
            <a:r>
              <a:rPr lang="en-US" dirty="0"/>
              <a:t> that hides/replaces some services for the command handling.</a:t>
            </a:r>
            <a:endParaRPr lang="en-US" dirty="0">
              <a:sym typeface="Wingdings" panose="05000000000000000000" pitchFamily="2" charset="2"/>
            </a:endParaRPr>
          </a:p>
          <a:p>
            <a:pPr marL="457200" lvl="1" indent="0">
              <a:buNone/>
            </a:pPr>
            <a:r>
              <a:rPr lang="en-US" dirty="0">
                <a:sym typeface="Wingdings" panose="05000000000000000000" pitchFamily="2" charset="2"/>
              </a:rPr>
              <a:t> This is not ideal, but it should work if not too many “Web” services are concerned and we can provide a replacement for the services at stake …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58767410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EAFAF5-98A2-D125-4496-C05967A711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Other questions &amp; To do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1C559C-F4C7-F864-231C-921ED15BE2E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Internalize </a:t>
            </a:r>
            <a:r>
              <a:rPr lang="en-US" dirty="0" err="1"/>
              <a:t>TransportMessage</a:t>
            </a:r>
            <a:endParaRPr lang="en-US" dirty="0"/>
          </a:p>
          <a:p>
            <a:pPr lvl="1"/>
            <a:r>
              <a:rPr lang="en-US" dirty="0"/>
              <a:t>Differentiate </a:t>
            </a:r>
            <a:r>
              <a:rPr lang="en-US" dirty="0" err="1"/>
              <a:t>IOutgoingTransportMessage</a:t>
            </a:r>
            <a:r>
              <a:rPr lang="en-US" dirty="0"/>
              <a:t> and </a:t>
            </a:r>
            <a:r>
              <a:rPr lang="en-US" dirty="0" err="1"/>
              <a:t>IIncomingTransportMessage</a:t>
            </a:r>
            <a:endParaRPr lang="en-US" dirty="0"/>
          </a:p>
          <a:p>
            <a:pPr lvl="1"/>
            <a:r>
              <a:rPr lang="en-US" dirty="0"/>
              <a:t>Assume the outgoing message mutability: Freeze and </a:t>
            </a:r>
            <a:r>
              <a:rPr lang="en-US" dirty="0" err="1"/>
              <a:t>IsFrozen</a:t>
            </a:r>
            <a:endParaRPr lang="en-US" dirty="0"/>
          </a:p>
          <a:p>
            <a:r>
              <a:rPr lang="en-US" dirty="0"/>
              <a:t>Add a “Layer” API on the </a:t>
            </a:r>
            <a:r>
              <a:rPr lang="en-US" dirty="0" err="1"/>
              <a:t>TransportMessage</a:t>
            </a:r>
            <a:endParaRPr lang="en-US" dirty="0"/>
          </a:p>
          <a:p>
            <a:r>
              <a:rPr lang="en-US" dirty="0"/>
              <a:t>Implements the “</a:t>
            </a:r>
            <a:r>
              <a:rPr lang="en-US" dirty="0" err="1"/>
              <a:t>BigMessage</a:t>
            </a:r>
            <a:r>
              <a:rPr lang="en-US" dirty="0"/>
              <a:t>” slicing (0 Protocol).</a:t>
            </a:r>
          </a:p>
          <a:p>
            <a:r>
              <a:rPr lang="en-US" dirty="0"/>
              <a:t>Should “Response” channel be renamed “</a:t>
            </a:r>
            <a:r>
              <a:rPr lang="en-US" dirty="0" err="1"/>
              <a:t>HighPriority</a:t>
            </a:r>
            <a:r>
              <a:rPr lang="en-US" dirty="0"/>
              <a:t>”?</a:t>
            </a:r>
          </a:p>
          <a:p>
            <a:pPr lvl="1"/>
            <a:r>
              <a:rPr lang="en-US" dirty="0"/>
              <a:t>Responses would use it but the “</a:t>
            </a:r>
            <a:r>
              <a:rPr lang="en-US" dirty="0" err="1"/>
              <a:t>CancelCurrentBigMessage</a:t>
            </a:r>
            <a:r>
              <a:rPr lang="en-US" dirty="0"/>
              <a:t>” would also use it (</a:t>
            </a:r>
            <a:r>
              <a:rPr lang="en-US"/>
              <a:t>and it is </a:t>
            </a:r>
            <a:r>
              <a:rPr lang="en-US" dirty="0"/>
              <a:t>not a response).</a:t>
            </a:r>
          </a:p>
        </p:txBody>
      </p:sp>
    </p:spTree>
    <p:extLst>
      <p:ext uri="{BB962C8B-B14F-4D97-AF65-F5344CB8AC3E}">
        <p14:creationId xmlns:p14="http://schemas.microsoft.com/office/powerpoint/2010/main" val="47929070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6031</TotalTime>
  <Words>4401</Words>
  <Application>Microsoft Office PowerPoint</Application>
  <PresentationFormat>Widescreen</PresentationFormat>
  <Paragraphs>569</Paragraphs>
  <Slides>36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36</vt:i4>
      </vt:variant>
    </vt:vector>
  </HeadingPairs>
  <TitlesOfParts>
    <vt:vector size="45" baseType="lpstr">
      <vt:lpstr>Arial</vt:lpstr>
      <vt:lpstr>Calibri</vt:lpstr>
      <vt:lpstr>Calibri Light</vt:lpstr>
      <vt:lpstr>Consolas</vt:lpstr>
      <vt:lpstr>Courier New</vt:lpstr>
      <vt:lpstr>Segoe UI</vt:lpstr>
      <vt:lpstr>Times New Roman</vt:lpstr>
      <vt:lpstr>Wingdings</vt:lpstr>
      <vt:lpstr>Office Theme</vt:lpstr>
      <vt:lpstr>CK-AppIdentity</vt:lpstr>
      <vt:lpstr>Primary Objectives</vt:lpstr>
      <vt:lpstr>Secondary Objectives</vt:lpstr>
      <vt:lpstr>DomainName/EnvironmentName/PartyName</vt:lpstr>
      <vt:lpstr>A simple Agent.</vt:lpstr>
      <vt:lpstr>The SignatureBox.</vt:lpstr>
      <vt:lpstr>Simplifications</vt:lpstr>
      <vt:lpstr>What we have so far: a warehouse.</vt:lpstr>
      <vt:lpstr>OneCS (can reach the SignatureBox).</vt:lpstr>
      <vt:lpstr>OneCS (cannot reach the SignatureBox).</vt:lpstr>
      <vt:lpstr>LaToulousaine is actually a SaaS customer…</vt:lpstr>
      <vt:lpstr>LaToulousaine in SaaS is hosted by OneCS1</vt:lpstr>
      <vt:lpstr>Oups! LaToulousaine is NOT in production yet!</vt:lpstr>
      <vt:lpstr>LaToulousaine goes to London</vt:lpstr>
      <vt:lpstr>The “Extended Domain Name”</vt:lpstr>
      <vt:lpstr>The final D/E/P Party identity</vt:lpstr>
      <vt:lpstr>Security and privacy</vt:lpstr>
      <vt:lpstr>Other uses…</vt:lpstr>
      <vt:lpstr>A simple Configuration Model</vt:lpstr>
      <vt:lpstr>Exploit the .Net Configuration model</vt:lpstr>
      <vt:lpstr>Runtime Model</vt:lpstr>
      <vt:lpstr>The “Features”</vt:lpstr>
      <vt:lpstr>Feature Driver</vt:lpstr>
      <vt:lpstr>Opt-In/Out and Allow/DisallowFeatures</vt:lpstr>
      <vt:lpstr>The TransportFeature</vt:lpstr>
      <vt:lpstr>The exchange Channels</vt:lpstr>
      <vt:lpstr>TransportMessage</vt:lpstr>
      <vt:lpstr>The 8 protocols maximal count</vt:lpstr>
      <vt:lpstr>Creating new messages</vt:lpstr>
      <vt:lpstr>Reading incoming messages</vt:lpstr>
      <vt:lpstr>Implementing Transports</vt:lpstr>
      <vt:lpstr>Channel Feature</vt:lpstr>
      <vt:lpstr>The BlobChannel</vt:lpstr>
      <vt:lpstr>Roadmap</vt:lpstr>
      <vt:lpstr>Cris feature</vt:lpstr>
      <vt:lpstr>Other questions &amp; To do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CK-AppIdentity</dc:title>
  <dc:creator>Olivier Spinelli</dc:creator>
  <cp:lastModifiedBy>Olivier Spinelli</cp:lastModifiedBy>
  <cp:revision>29</cp:revision>
  <dcterms:created xsi:type="dcterms:W3CDTF">2023-03-08T10:35:35Z</dcterms:created>
  <dcterms:modified xsi:type="dcterms:W3CDTF">2023-04-25T07:10:39Z</dcterms:modified>
</cp:coreProperties>
</file>