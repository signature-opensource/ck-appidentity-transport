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9" r:id="rId4"/>
    <p:sldId id="258" r:id="rId5"/>
    <p:sldId id="262" r:id="rId6"/>
    <p:sldId id="264" r:id="rId7"/>
    <p:sldId id="269" r:id="rId8"/>
    <p:sldId id="265" r:id="rId9"/>
    <p:sldId id="263" r:id="rId10"/>
    <p:sldId id="266" r:id="rId11"/>
    <p:sldId id="267" r:id="rId12"/>
    <p:sldId id="268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2" r:id="rId25"/>
    <p:sldId id="281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080" autoAdjust="0"/>
  </p:normalViewPr>
  <p:slideViewPr>
    <p:cSldViewPr snapToGrid="0">
      <p:cViewPr varScale="1">
        <p:scale>
          <a:sx n="78" d="100"/>
          <a:sy n="78" d="100"/>
        </p:scale>
        <p:origin x="19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3-04-23T09:50:11.22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0 130,'17'-1,"0"-1,-1 0,1-1,26-9,6-1,416-47,-296 44,-101 6,-46 6,0 1,26-1,-40 4,1 1,0 0,-1 0,1 1,-1 0,1 0,-1 1,0 0,8 5,35 22,-43-23,1-1,0-1,0 0,1 0,0 0,-1-1,1-1,1 0,18 3,21-3,62-5,39 2,-103 6,48 13,-50-9,54 4,340-7,-261-9,-157 1,0-1,41-11,-4 2,-42 7,0-1,0 0,20-9,-23 8,0 1,1 0,-1 1,1 0,18-1,20 4,-29 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BA75D8-A9A5-4FAF-B563-7A079B630A7E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5EDB92-2FE2-4164-AA27-D03258A20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045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We are NOT going to use any relay </a:t>
            </a:r>
            <a:r>
              <a:rPr lang="en-US" b="0" dirty="0"/>
              <a:t>or </a:t>
            </a: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hole punching strategies here. We require that A can reach B OR B can reach A directly, if both A and B are behind NAT this doesn’t work and that’s it. </a:t>
            </a:r>
            <a:b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</a:br>
            <a:r>
              <a:rPr lang="en-US" b="0" i="0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See https://bford.info/pub/net/p2pnat/index.html for a detailed discussion about NAT traversing.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8209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80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454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Allow/</a:t>
            </a:r>
            <a:r>
              <a:rPr lang="en-US" dirty="0" err="1"/>
              <a:t>DisallowFeatures</a:t>
            </a:r>
            <a:r>
              <a:rPr lang="en-US" dirty="0"/>
              <a:t> can be a string or an array of strings.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105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detailing the Channels, we need to cover the </a:t>
            </a:r>
            <a:r>
              <a:rPr lang="en-US" dirty="0" err="1"/>
              <a:t>TransportMessage</a:t>
            </a:r>
            <a:r>
              <a:rPr lang="en-US" dirty="0"/>
              <a:t> and its Factories and the Transport and </a:t>
            </a:r>
            <a:r>
              <a:rPr lang="en-US" dirty="0" err="1"/>
              <a:t>TransportType</a:t>
            </a:r>
            <a:r>
              <a:rPr lang="en-US" dirty="0"/>
              <a:t> model.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9077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All messages exchanged by the Transport layer are prefixed by the message's protocol and length.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 prefix starts with a first byte: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`|L0|L1|CD|R0|R1|P0|P1|P2|`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2 MSB (L0-L1) gives us the number of bytes of the message length: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1 byte, the message length is between 0 and 255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`01`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2 bytes, the message length is between 256 and 65535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3 bytes, the message length is between 65536 and 16 777 215 bytes.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`11`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4 bytes, the message length is between 16 777 216 and 2 147 483 648 bytes (2 Gib).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`CD`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is the "Control vs. Data" bit. This is a convenient bit that can be used by protocols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as a one bit discriminator, typically between a regular data message and one (or more) control message.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`R0`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and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`R1`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 are reserved for future use.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- P0-P2 bits is the Protocol, a number between 0 and 7. This number defines the "type" of the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message: the writer or serializer that has been used to write the payload and the reader or 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deserializer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that must be used to read it back.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comes the message length itself (1 to 4 bytes)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- Then the message payload itself.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At a higher level 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MessageProtocol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” are identified by a string (its unique name).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protocol defines how the message is encoded and how they are exchanged: by merging these 2 concepts here,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we greatly simplify the implementation and the understandability of the Transport layer. The protocol simply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defines the encoding it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4523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`"0 Protocol"`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protocol name is reserved: this is the protocol of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CK.AppIdentity.TransportLayer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itself that handles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special messages used to negotiate, accept, reject incoming parties and outgoing connections.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This lets 7 possible protocols. This may seem a limitation however this limit applies to a Remote party pair: there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can be any number of possible protocols in an application, among them 2 parties that start to interact initially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negotiate the ones they can and want to use. Any Transport between 2 parties can support up to 7 different protocols.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The final length of a message on the wire is between 2 bytes (the special Empty message, see below) and 2 Gib.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A minimal 1 byte message requires 3 bytes (in any of the 7 available protocols).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5491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87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5EDB92-2FE2-4164-AA27-D03258A20DF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5864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7F2D5-E4F2-4183-2FA0-7597E4E30A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231E75-63C6-99CA-DD2D-94406A7FFD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54960-D074-ABBD-C28B-5BD2A95D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B7246-461C-4445-B1DB-D994924F1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DEC3A5-EB37-0E8B-F389-3CD441ABA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977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B0055-D087-1CB6-D663-194AA9610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77362-EEA0-6DC8-CDFD-5141C9EFB4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953A8B-47D3-78CC-7CEC-7D20C80F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4A42A-B249-5085-9AAA-14761CADAE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C1C8E-3B90-5727-0B6E-40BAC2781D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994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4AE484-88E1-69E3-02EB-AE8A29D3B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1206E-C2FF-1582-171B-F223E33CFE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4E2E20-E63B-6C32-F313-550B8DFF8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CC305-E44C-FCBA-D4F7-1142FAEEB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323C59-025A-40C7-2FFB-2666C0CDF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6421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B1D4E-5B3B-7967-7E30-F95B4C7C1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C803C-02A0-C743-1175-2423A52AD1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EF84FA-89D4-3D95-931F-C5C07FC362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368711-0709-B75A-4A7E-6C4010287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18CF9A-8D24-23A9-9371-A60F43BD1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A8033-E5FC-449B-38B4-8609F5121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70660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696B-DFC3-2F8E-1DD9-4356B3372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727724-E553-2CBD-3D09-F97AF94EE1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1B2E43-DAD6-34F4-27B3-A926B719D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88D27-43D1-299D-3CAF-9F31607844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6E705F-8C88-25E0-8609-EF1BFC923C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15FA95-D2F5-9CF4-411D-50E18B21E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C65A856-4681-9E62-22C3-B16BD3DA2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9158A0-7326-860C-FCBA-9AFAA77B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758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EC65E-558C-F72A-FF9B-8A6FFF4A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2B8621-74A9-A71E-DF3E-631C72139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6DA8A1-C014-5363-66C4-C95BF87AA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169F9C-9BDD-AC6B-3460-E133B1466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065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286A8-4FE1-7984-DFFD-52F5064E9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DBCBF9-5C22-474E-3ED9-9B03D8A1C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7D150-7316-B6A2-E332-8D485D69A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2317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6E434-E03F-0BED-8977-078604DF3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4A034B-F805-9843-0400-D2FCC85853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576282-FBCD-95CF-07AD-8C9640ED5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BD3DA-21D8-0F13-79E0-7E0B8355D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AB9487-4F4C-6A53-0350-C528C6562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9A53FF-1A98-9D9C-2A40-C53EFBDFA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45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1D3CF9-D0F1-A743-3019-FF2447BD4D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731086-A7FA-B32B-3E1F-14A6E8C1F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09B33C-A741-B7C4-FB62-64B92D889E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A3828-213F-2D23-3C9D-EB62C1EE4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87EE94-6900-747B-3C85-BE60492E9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0B6660-8F30-D26D-4BB0-5F399E216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2328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3F7EA-A993-1692-743B-885E7003A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3DBAC-9589-41F8-3925-DDC29178BE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E9D458-5F7D-023C-D9FC-E1316EB468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D0FA3-4707-7B2C-C788-38D10B0D7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C31F98-F69E-16C3-4413-D79284D27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7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BCB9F-0527-2978-A293-7A641B1A9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E80312-CE7F-4ABA-9E1F-06A89D128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541F1D-611F-62EE-C25C-C1C4C597D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D1321A-D9E4-0C85-0EB1-7DF90B6C8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077B46-5B7A-48CE-588F-DA4563218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2487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07E465-A861-A20F-9483-01D3EB1BF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6CCF6-2B83-8286-028E-2C51A14B57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516736-027A-5CD8-C27D-FFA9869FA59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1F2140-8D48-49AC-AD8D-683E6FF4DC34}" type="datetimeFigureOut">
              <a:rPr lang="en-US" smtClean="0"/>
              <a:t>4/22/2023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E503E5-C5F0-5320-F806-3642A15D42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C994BE-A4B8-C9B3-A86F-45488CD8F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0A8711-97D1-4DAA-90FC-633E140F78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555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customXml" Target="../ink/ink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ature-code/CK-AppIdentity/blob/develop/CK.AppIdentity.BlobChannel/BlobChannelFeatureDriver.cs" TargetMode="External"/><Relationship Id="rId2" Type="http://schemas.openxmlformats.org/officeDocument/2006/relationships/hyperlink" Target="https://github.com/signature-code/CK-AppIdentity/blob/develop/Tests/CK.AppIdentity.BlobChannel.Tests/BasicExchangeTests.cs#L14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hyperlink" Target="https://github.com/signature-code/CK-AppIdentity/blob/develop/CK.AppIdentity.BlobChannel/BlobChannelFeature.Protocol.cs" TargetMode="External"/><Relationship Id="rId4" Type="http://schemas.openxmlformats.org/officeDocument/2006/relationships/hyperlink" Target="https://github.com/signature-code/CK-AppIdentity/blob/develop/CK.AppIdentity.BlobChannel/BlobChannelFeature.c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0C9BE-E61A-B6D0-5435-0685D27EF0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CK-</a:t>
            </a:r>
            <a:r>
              <a:rPr lang="en-US" dirty="0" err="1"/>
              <a:t>AppIdentity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F244AE-14BD-A1DE-961C-D27D37FEFF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Basic Distributed Applications Topologic Model</a:t>
            </a:r>
          </a:p>
        </p:txBody>
      </p:sp>
    </p:spTree>
    <p:extLst>
      <p:ext uri="{BB962C8B-B14F-4D97-AF65-F5344CB8AC3E}">
        <p14:creationId xmlns:p14="http://schemas.microsoft.com/office/powerpoint/2010/main" val="17346514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ABBD5-557D-D878-3AB3-3EFE70DA0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Primary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F8E7D-B68B-F926-CFD3-A5B66EF9B0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751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 the simplest model to describe a distributed system topology.</a:t>
            </a:r>
          </a:p>
          <a:p>
            <a:r>
              <a:rPr lang="en-US" dirty="0"/>
              <a:t>Be as simple as possible to configure.</a:t>
            </a:r>
          </a:p>
          <a:p>
            <a:pPr lvl="1"/>
            <a:r>
              <a:rPr lang="en-US" dirty="0"/>
              <a:t>Configured identity related information are immutable during a run.</a:t>
            </a:r>
          </a:p>
          <a:p>
            <a:pPr lvl="1"/>
            <a:r>
              <a:rPr lang="en-US" dirty="0"/>
              <a:t>Dynamic identities can be added, removed and reconfigured while executing.</a:t>
            </a:r>
          </a:p>
          <a:p>
            <a:r>
              <a:rPr lang="en-US" dirty="0"/>
              <a:t>Supports different topologies</a:t>
            </a:r>
          </a:p>
          <a:p>
            <a:pPr lvl="1"/>
            <a:r>
              <a:rPr lang="en-US" dirty="0"/>
              <a:t>Centralized with a shared, central, directory of all the parties. </a:t>
            </a:r>
          </a:p>
          <a:p>
            <a:pPr lvl="1"/>
            <a:r>
              <a:rPr lang="en-US" dirty="0"/>
              <a:t>Decentralized where parties only sees peers.</a:t>
            </a:r>
          </a:p>
          <a:p>
            <a:pPr lvl="1"/>
            <a:r>
              <a:rPr lang="en-US" dirty="0"/>
              <a:t>With and/or without Message Bus.</a:t>
            </a:r>
          </a:p>
          <a:p>
            <a:r>
              <a:rPr lang="en-US" dirty="0"/>
              <a:t>Applies to simple Agents as well as Multi-Tenant site.</a:t>
            </a:r>
          </a:p>
          <a:p>
            <a:r>
              <a:rPr lang="en-US" dirty="0"/>
              <a:t>Handles totally external end points</a:t>
            </a:r>
          </a:p>
          <a:p>
            <a:pPr lvl="1"/>
            <a:r>
              <a:rPr lang="en-US" dirty="0"/>
              <a:t>Customer web services</a:t>
            </a:r>
          </a:p>
          <a:p>
            <a:pPr lvl="1"/>
            <a:r>
              <a:rPr lang="en-US" dirty="0"/>
              <a:t>Cloud Services (Azure, AWS, GitHub, etc.)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3377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94FF63-04EA-BCC5-D34D-9C25D186AF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Secondary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6DC6D3-3B63-2CF7-C0E5-91BFC5BA12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Follows the “Package First” approach.</a:t>
            </a:r>
          </a:p>
          <a:p>
            <a:r>
              <a:rPr lang="en-US" dirty="0"/>
              <a:t>Encapsulates complexities</a:t>
            </a:r>
          </a:p>
          <a:p>
            <a:pPr lvl="1"/>
            <a:r>
              <a:rPr lang="en-US" dirty="0"/>
              <a:t>Capabilities discovery</a:t>
            </a:r>
          </a:p>
          <a:p>
            <a:pPr lvl="1"/>
            <a:r>
              <a:rPr lang="en-US" dirty="0"/>
              <a:t>Secret keys management</a:t>
            </a:r>
          </a:p>
          <a:p>
            <a:r>
              <a:rPr lang="en-US" dirty="0"/>
              <a:t>Supports “Observability”</a:t>
            </a:r>
          </a:p>
          <a:p>
            <a:pPr lvl="1"/>
            <a:r>
              <a:rPr lang="en-US" dirty="0"/>
              <a:t>Logs from a Party are identified and can be easily managed.</a:t>
            </a:r>
          </a:p>
          <a:p>
            <a:r>
              <a:rPr lang="en-US" dirty="0"/>
              <a:t>Be agnostic of deployment details</a:t>
            </a:r>
          </a:p>
          <a:p>
            <a:pPr lvl="1"/>
            <a:r>
              <a:rPr lang="en-US" dirty="0"/>
              <a:t>Transport layers (TCP/IP, </a:t>
            </a:r>
            <a:r>
              <a:rPr lang="en-US" dirty="0" err="1"/>
              <a:t>quic</a:t>
            </a:r>
            <a:r>
              <a:rPr lang="en-US" dirty="0"/>
              <a:t>, </a:t>
            </a:r>
            <a:r>
              <a:rPr lang="en-US" dirty="0" err="1"/>
              <a:t>mqtt</a:t>
            </a:r>
            <a:r>
              <a:rPr lang="en-US" dirty="0"/>
              <a:t>, etc.)</a:t>
            </a:r>
          </a:p>
          <a:p>
            <a:pPr lvl="1"/>
            <a:r>
              <a:rPr lang="en-US" dirty="0"/>
              <a:t>VLAN and/or WAN</a:t>
            </a:r>
          </a:p>
        </p:txBody>
      </p:sp>
    </p:spTree>
    <p:extLst>
      <p:ext uri="{BB962C8B-B14F-4D97-AF65-F5344CB8AC3E}">
        <p14:creationId xmlns:p14="http://schemas.microsoft.com/office/powerpoint/2010/main" val="12973413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B8B24-8DD6-5A25-2C4D-FFCB0054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DomainName</a:t>
            </a:r>
            <a:r>
              <a:rPr lang="en-US" dirty="0"/>
              <a:t>/</a:t>
            </a:r>
            <a:r>
              <a:rPr lang="en-US" dirty="0" err="1"/>
              <a:t>EnvironmentName</a:t>
            </a:r>
            <a:r>
              <a:rPr lang="en-US" dirty="0"/>
              <a:t>/</a:t>
            </a:r>
            <a:r>
              <a:rPr lang="en-US" dirty="0" err="1"/>
              <a:t>PartyName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3871EE-3844-1222-56FF-A3C3C4D91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813122"/>
          </a:xfrm>
        </p:spPr>
        <p:txBody>
          <a:bodyPr>
            <a:normAutofit/>
          </a:bodyPr>
          <a:lstStyle/>
          <a:p>
            <a:r>
              <a:rPr lang="en-US" dirty="0"/>
              <a:t>This triple identifies any Party in the Universe.</a:t>
            </a:r>
          </a:p>
          <a:p>
            <a:r>
              <a:rPr lang="en-US" dirty="0"/>
              <a:t>This drives the Observability layer</a:t>
            </a:r>
          </a:p>
          <a:p>
            <a:pPr lvl="1"/>
            <a:r>
              <a:rPr lang="en-US" dirty="0"/>
              <a:t>Logs are collected with this 3-levels hierarchy.</a:t>
            </a:r>
          </a:p>
          <a:p>
            <a:pPr lvl="1"/>
            <a:r>
              <a:rPr lang="en-US" dirty="0"/>
              <a:t>Any “Event Source” (whatever the </a:t>
            </a:r>
            <a:r>
              <a:rPr lang="en-US" i="1" dirty="0"/>
              <a:t>event</a:t>
            </a:r>
            <a:r>
              <a:rPr lang="en-US" dirty="0"/>
              <a:t> is) is identified by this triple.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5D643F4-53C3-F19D-30F2-4CA46F7DD108}"/>
              </a:ext>
            </a:extLst>
          </p:cNvPr>
          <p:cNvSpPr txBox="1"/>
          <p:nvPr/>
        </p:nvSpPr>
        <p:spPr>
          <a:xfrm>
            <a:off x="527168" y="3773684"/>
            <a:ext cx="11137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How can a simple model like this one cover all our needs?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7FBD75-5C03-AE36-5F3B-9EC6B24A4DA1}"/>
              </a:ext>
            </a:extLst>
          </p:cNvPr>
          <p:cNvSpPr txBox="1"/>
          <p:nvPr/>
        </p:nvSpPr>
        <p:spPr>
          <a:xfrm>
            <a:off x="838200" y="4713402"/>
            <a:ext cx="10515600" cy="1200329"/>
          </a:xfrm>
          <a:prstGeom prst="rect">
            <a:avLst/>
          </a:prstGeom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lvl="1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We’ll now present different static configurations.</a:t>
            </a:r>
          </a:p>
          <a:p>
            <a:pPr lvl="1"/>
            <a:r>
              <a:rPr lang="en-US" sz="2000" dirty="0"/>
              <a:t>Starting with a simple Agent up to a multi-tenant site that drives multiple domains.</a:t>
            </a:r>
          </a:p>
          <a:p>
            <a:pPr lvl="1"/>
            <a:r>
              <a:rPr lang="en-US" sz="2000" dirty="0"/>
              <a:t>This will define the dream.</a:t>
            </a:r>
          </a:p>
          <a:p>
            <a:r>
              <a:rPr lang="en-US" sz="2400" dirty="0"/>
              <a:t>Then we’ll see the “dynamic” aspect, and some required “magic”…</a:t>
            </a:r>
          </a:p>
          <a:p>
            <a:pPr lvl="1"/>
            <a:r>
              <a:rPr lang="en-US" sz="2000" dirty="0"/>
              <a:t>…to make this the reality.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75483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Agent.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51587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dirty="0"/>
              <a:t>One should be able to understand the interactions of any Party by looking at its Application Identity configuration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9855" y="2812149"/>
            <a:ext cx="441488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"Address": "155.88.22.22"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}]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9884F-EC60-0B31-9E5D-FA31BD845EA1}"/>
              </a:ext>
            </a:extLst>
          </p:cNvPr>
          <p:cNvSpPr txBox="1"/>
          <p:nvPr/>
        </p:nvSpPr>
        <p:spPr>
          <a:xfrm>
            <a:off x="5184742" y="2924742"/>
            <a:ext cx="5857974" cy="203375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sz="2400" dirty="0"/>
              <a:t>There should be no more than that for our Trolley1:</a:t>
            </a:r>
          </a:p>
          <a:p>
            <a:pPr lvl="1"/>
            <a:r>
              <a:rPr lang="en-US" sz="2000" dirty="0"/>
              <a:t>Sends its logs to a “</a:t>
            </a:r>
            <a:r>
              <a:rPr lang="en-US" sz="2000" dirty="0" err="1"/>
              <a:t>LogTower</a:t>
            </a:r>
            <a:r>
              <a:rPr lang="en-US" sz="2000" dirty="0"/>
              <a:t>” party.</a:t>
            </a:r>
          </a:p>
          <a:p>
            <a:pPr lvl="1"/>
            <a:r>
              <a:rPr lang="en-US" sz="2000" dirty="0"/>
              <a:t>Can initiate communications with the “</a:t>
            </a:r>
            <a:r>
              <a:rPr lang="en-US" sz="2000" dirty="0" err="1"/>
              <a:t>SignatureBox</a:t>
            </a:r>
            <a:r>
              <a:rPr lang="en-US" sz="2000" dirty="0"/>
              <a:t>” party.</a:t>
            </a:r>
          </a:p>
          <a:p>
            <a:r>
              <a:rPr lang="en-US" sz="2400" dirty="0"/>
              <a:t>The “Address” is not a URI or URL. </a:t>
            </a:r>
          </a:p>
          <a:p>
            <a:pPr lvl="1"/>
            <a:r>
              <a:rPr lang="en-US" sz="2000" dirty="0"/>
              <a:t>It can be any string that makes the </a:t>
            </a:r>
            <a:r>
              <a:rPr lang="en-US" sz="2000" i="1" dirty="0"/>
              <a:t>remote reachable from this party</a:t>
            </a:r>
            <a:r>
              <a:rPr lang="en-US" sz="2000" dirty="0"/>
              <a:t>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9102328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53087" y="1825624"/>
            <a:ext cx="6100713" cy="411326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 </a:t>
            </a:r>
            <a:r>
              <a:rPr lang="en-US" dirty="0" err="1"/>
              <a:t>SignatureBox</a:t>
            </a:r>
            <a:r>
              <a:rPr lang="en-US" dirty="0"/>
              <a:t> also sends its logs to the same </a:t>
            </a:r>
            <a:r>
              <a:rPr lang="en-US" dirty="0" err="1"/>
              <a:t>LogTower</a:t>
            </a:r>
            <a:r>
              <a:rPr lang="en-US" dirty="0"/>
              <a:t> and knows the Trolley1 but also the Trolley2 and a </a:t>
            </a:r>
            <a:r>
              <a:rPr lang="en-US" dirty="0" err="1"/>
              <a:t>PickingStation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These 3 remotes have no Address.</a:t>
            </a:r>
          </a:p>
          <a:p>
            <a:pPr lvl="1"/>
            <a:r>
              <a:rPr lang="en-US" dirty="0"/>
              <a:t>"</a:t>
            </a:r>
            <a:r>
              <a:rPr lang="en-US" dirty="0" err="1"/>
              <a:t>LaToulousaine</a:t>
            </a:r>
            <a:r>
              <a:rPr lang="en-US" dirty="0"/>
              <a:t>/Production/</a:t>
            </a:r>
            <a:r>
              <a:rPr lang="en-US" dirty="0" err="1"/>
              <a:t>SignatureBox</a:t>
            </a:r>
            <a:r>
              <a:rPr lang="en-US" dirty="0"/>
              <a:t>" is a server for them.</a:t>
            </a:r>
          </a:p>
          <a:p>
            <a:pPr lvl="1"/>
            <a:r>
              <a:rPr lang="en-US" dirty="0"/>
              <a:t>This is enough for the warehouse to do its work.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0" y="1690688"/>
            <a:ext cx="4414887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LogTower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"148.54.11.18:3712"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64448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Simplifications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D2D054-8D5E-BDF9-CD5B-68A728974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now on, we don't show the </a:t>
            </a:r>
            <a:r>
              <a:rPr lang="en-US" dirty="0" err="1"/>
              <a:t>LogTower</a:t>
            </a:r>
            <a:r>
              <a:rPr lang="en-US" dirty="0"/>
              <a:t> configuration	.</a:t>
            </a:r>
          </a:p>
          <a:p>
            <a:pPr lvl="1"/>
            <a:r>
              <a:rPr lang="en-US" dirty="0"/>
              <a:t>This is the same for every party (if we want to target the same </a:t>
            </a:r>
            <a:r>
              <a:rPr lang="en-US" dirty="0" err="1"/>
              <a:t>LogTower</a:t>
            </a:r>
            <a:r>
              <a:rPr lang="en-US" dirty="0"/>
              <a:t>).</a:t>
            </a:r>
          </a:p>
          <a:p>
            <a:r>
              <a:rPr lang="en-US" dirty="0"/>
              <a:t>We also don’t specify the “</a:t>
            </a:r>
            <a:r>
              <a:rPr lang="en-US" dirty="0" err="1"/>
              <a:t>EnvironmentName</a:t>
            </a:r>
            <a:r>
              <a:rPr lang="en-US" dirty="0"/>
              <a:t>” anymore.</a:t>
            </a:r>
          </a:p>
          <a:p>
            <a:pPr lvl="1"/>
            <a:r>
              <a:rPr lang="en-US" dirty="0"/>
              <a:t>This defaults to the </a:t>
            </a:r>
            <a:r>
              <a:rPr lang="en-US" dirty="0" err="1"/>
              <a:t>IHostEnvironment.EnvironmentName</a:t>
            </a:r>
            <a:r>
              <a:rPr lang="en-US" dirty="0"/>
              <a:t> (that defaults to “Development”)</a:t>
            </a:r>
          </a:p>
          <a:p>
            <a:r>
              <a:rPr lang="en-US" dirty="0"/>
              <a:t>Domain and Environment names configuration </a:t>
            </a:r>
            <a:r>
              <a:rPr lang="en-US" b="1" dirty="0"/>
              <a:t>inherit</a:t>
            </a:r>
            <a:r>
              <a:rPr lang="en-US" dirty="0"/>
              <a:t> from the root to the Remotes.</a:t>
            </a:r>
          </a:p>
          <a:p>
            <a:pPr lvl="1"/>
            <a:r>
              <a:rPr lang="en-US" dirty="0"/>
              <a:t>Inheriting is the default behavior.</a:t>
            </a:r>
          </a:p>
          <a:p>
            <a:pPr lvl="1"/>
            <a:r>
              <a:rPr lang="en-US" dirty="0"/>
              <a:t>Overriding the Domain and Environment names is possible: a Remote can be in another Domain and another Environment.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30185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91DDF-5F8E-30C5-91C2-873531F01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have so far: a warehouse.</a:t>
            </a:r>
          </a:p>
        </p:txBody>
      </p:sp>
      <p:pic>
        <p:nvPicPr>
          <p:cNvPr id="5" name="Content Placeholder 4" descr="Computer outline">
            <a:extLst>
              <a:ext uri="{FF2B5EF4-FFF2-40B4-BE49-F238E27FC236}">
                <a16:creationId xmlns:a16="http://schemas.microsoft.com/office/drawing/2014/main" id="{1F205C4E-1A30-7CEB-C70F-7863D2DBCF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5226" y="1765570"/>
            <a:ext cx="914400" cy="914400"/>
          </a:xfrm>
        </p:spPr>
      </p:pic>
      <p:pic>
        <p:nvPicPr>
          <p:cNvPr id="7" name="Graphic 6" descr="Scale outline">
            <a:extLst>
              <a:ext uri="{FF2B5EF4-FFF2-40B4-BE49-F238E27FC236}">
                <a16:creationId xmlns:a16="http://schemas.microsoft.com/office/drawing/2014/main" id="{1926719C-988C-88D9-70C0-87A09285D9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264302" y="4927059"/>
            <a:ext cx="914400" cy="914400"/>
          </a:xfrm>
          <a:prstGeom prst="rect">
            <a:avLst/>
          </a:prstGeom>
        </p:spPr>
      </p:pic>
      <p:pic>
        <p:nvPicPr>
          <p:cNvPr id="9" name="Graphic 8" descr="Box trolley with solid fill">
            <a:extLst>
              <a:ext uri="{FF2B5EF4-FFF2-40B4-BE49-F238E27FC236}">
                <a16:creationId xmlns:a16="http://schemas.microsoft.com/office/drawing/2014/main" id="{EB137CF6-1985-8779-1B20-CD73FFAC245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597957" y="1895991"/>
            <a:ext cx="914400" cy="914400"/>
          </a:xfrm>
          <a:prstGeom prst="rect">
            <a:avLst/>
          </a:prstGeom>
        </p:spPr>
      </p:pic>
      <p:pic>
        <p:nvPicPr>
          <p:cNvPr id="10" name="Content Placeholder 4" descr="Computer outline">
            <a:extLst>
              <a:ext uri="{FF2B5EF4-FFF2-40B4-BE49-F238E27FC236}">
                <a16:creationId xmlns:a16="http://schemas.microsoft.com/office/drawing/2014/main" id="{85596109-C7DB-6ED7-C24B-E95039416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40757" y="4227671"/>
            <a:ext cx="914400" cy="914400"/>
          </a:xfrm>
          <a:prstGeom prst="rect">
            <a:avLst/>
          </a:prstGeom>
        </p:spPr>
      </p:pic>
      <p:pic>
        <p:nvPicPr>
          <p:cNvPr id="12" name="Graphic 11" descr="Books on shelf outline">
            <a:extLst>
              <a:ext uri="{FF2B5EF4-FFF2-40B4-BE49-F238E27FC236}">
                <a16:creationId xmlns:a16="http://schemas.microsoft.com/office/drawing/2014/main" id="{DDC40D12-A2D5-AA8B-052F-8F1043AD190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264302" y="4227671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with solid fill">
            <a:extLst>
              <a:ext uri="{FF2B5EF4-FFF2-40B4-BE49-F238E27FC236}">
                <a16:creationId xmlns:a16="http://schemas.microsoft.com/office/drawing/2014/main" id="{E6BC6827-E41E-DB85-90B3-9496EFF90B7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174225" y="3065203"/>
            <a:ext cx="914400" cy="9144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DD276AA-5FA8-98EC-0CD5-C2C5D44D7B5D}"/>
              </a:ext>
            </a:extLst>
          </p:cNvPr>
          <p:cNvSpPr txBox="1"/>
          <p:nvPr/>
        </p:nvSpPr>
        <p:spPr>
          <a:xfrm>
            <a:off x="6944540" y="2495304"/>
            <a:ext cx="1415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SignatureBox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44C1609-847A-56B1-19A8-DEB802EB14FA}"/>
              </a:ext>
            </a:extLst>
          </p:cNvPr>
          <p:cNvSpPr txBox="1"/>
          <p:nvPr/>
        </p:nvSpPr>
        <p:spPr>
          <a:xfrm>
            <a:off x="9682798" y="2646827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D30309-30D1-8CF8-5DBA-C5FF7DF15E2A}"/>
              </a:ext>
            </a:extLst>
          </p:cNvPr>
          <p:cNvSpPr txBox="1"/>
          <p:nvPr/>
        </p:nvSpPr>
        <p:spPr>
          <a:xfrm>
            <a:off x="8257859" y="3815494"/>
            <a:ext cx="9217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Trolley2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DCBB5-73EB-5131-D02A-00CAC9CFBF41}"/>
              </a:ext>
            </a:extLst>
          </p:cNvPr>
          <p:cNvSpPr txBox="1"/>
          <p:nvPr/>
        </p:nvSpPr>
        <p:spPr>
          <a:xfrm>
            <a:off x="8931612" y="4927059"/>
            <a:ext cx="1503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PickingStation</a:t>
            </a:r>
            <a:endParaRPr lang="en-US" dirty="0"/>
          </a:p>
        </p:txBody>
      </p:sp>
      <p:sp>
        <p:nvSpPr>
          <p:cNvPr id="21" name="Speech Bubble: Oval 20">
            <a:extLst>
              <a:ext uri="{FF2B5EF4-FFF2-40B4-BE49-F238E27FC236}">
                <a16:creationId xmlns:a16="http://schemas.microsoft.com/office/drawing/2014/main" id="{6647B478-F3FF-650F-E6CD-207EC080B2C1}"/>
              </a:ext>
            </a:extLst>
          </p:cNvPr>
          <p:cNvSpPr/>
          <p:nvPr/>
        </p:nvSpPr>
        <p:spPr>
          <a:xfrm>
            <a:off x="9285402" y="5686774"/>
            <a:ext cx="1045112" cy="618009"/>
          </a:xfrm>
          <a:custGeom>
            <a:avLst/>
            <a:gdLst>
              <a:gd name="connsiteX0" fmla="*/ 1029603 w 1045112"/>
              <a:gd name="connsiteY0" fmla="*/ -220543 h 618009"/>
              <a:gd name="connsiteX1" fmla="*/ 862060 w 1045112"/>
              <a:gd name="connsiteY1" fmla="*/ 74102 h 618009"/>
              <a:gd name="connsiteX2" fmla="*/ 762303 w 1045112"/>
              <a:gd name="connsiteY2" fmla="*/ 583569 h 618009"/>
              <a:gd name="connsiteX3" fmla="*/ 274109 w 1045112"/>
              <a:gd name="connsiteY3" fmla="*/ 580851 h 618009"/>
              <a:gd name="connsiteX4" fmla="*/ 192528 w 1045112"/>
              <a:gd name="connsiteY4" fmla="*/ 69427 h 618009"/>
              <a:gd name="connsiteX5" fmla="*/ 688528 w 1045112"/>
              <a:gd name="connsiteY5" fmla="*/ 16001 h 618009"/>
              <a:gd name="connsiteX6" fmla="*/ 1029603 w 1045112"/>
              <a:gd name="connsiteY6" fmla="*/ -220543 h 6180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45112" h="618009" extrusionOk="0">
                <a:moveTo>
                  <a:pt x="1029603" y="-220543"/>
                </a:moveTo>
                <a:cubicBezTo>
                  <a:pt x="991918" y="-88520"/>
                  <a:pt x="927629" y="-62010"/>
                  <a:pt x="862060" y="74102"/>
                </a:cubicBezTo>
                <a:cubicBezTo>
                  <a:pt x="1164307" y="220667"/>
                  <a:pt x="1076787" y="417345"/>
                  <a:pt x="762303" y="583569"/>
                </a:cubicBezTo>
                <a:cubicBezTo>
                  <a:pt x="598357" y="622480"/>
                  <a:pt x="420203" y="641476"/>
                  <a:pt x="274109" y="580851"/>
                </a:cubicBezTo>
                <a:cubicBezTo>
                  <a:pt x="-52977" y="504404"/>
                  <a:pt x="-109451" y="165270"/>
                  <a:pt x="192528" y="69427"/>
                </a:cubicBezTo>
                <a:cubicBezTo>
                  <a:pt x="339789" y="-28383"/>
                  <a:pt x="482241" y="-41515"/>
                  <a:pt x="688528" y="16001"/>
                </a:cubicBezTo>
                <a:cubicBezTo>
                  <a:pt x="804924" y="-104642"/>
                  <a:pt x="964015" y="-149111"/>
                  <a:pt x="1029603" y="-220543"/>
                </a:cubicBezTo>
                <a:close/>
              </a:path>
            </a:pathLst>
          </a:custGeom>
          <a:noFill/>
          <a:ln>
            <a:prstDash val="sysDash"/>
            <a:extLst>
              <a:ext uri="{C807C97D-BFC1-408E-A445-0C87EB9F89A2}">
                <ask:lineSketchStyleProps xmlns:ask="http://schemas.microsoft.com/office/drawing/2018/sketchyshapes" sd="1219033472">
                  <a:prstGeom prst="wedgeEllipseCallout">
                    <a:avLst>
                      <a:gd name="adj1" fmla="val 48516"/>
                      <a:gd name="adj2" fmla="val -85686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Devices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007A46-8ED0-90FC-9FDE-366CF044CB4E}"/>
              </a:ext>
            </a:extLst>
          </p:cNvPr>
          <p:cNvSpPr txBox="1"/>
          <p:nvPr/>
        </p:nvSpPr>
        <p:spPr>
          <a:xfrm>
            <a:off x="647502" y="1787738"/>
            <a:ext cx="6094378" cy="313932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/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en-US" dirty="0"/>
              <a:t>Now we want the </a:t>
            </a:r>
            <a:r>
              <a:rPr lang="en-US" dirty="0" err="1"/>
              <a:t>SignatureBox</a:t>
            </a:r>
            <a:r>
              <a:rPr lang="en-US" dirty="0"/>
              <a:t> to interact with a </a:t>
            </a:r>
            <a:r>
              <a:rPr lang="en-US" dirty="0" err="1"/>
              <a:t>OneCS</a:t>
            </a:r>
            <a:r>
              <a:rPr lang="en-US" dirty="0"/>
              <a:t> application (the supervision and operation portal).</a:t>
            </a:r>
          </a:p>
          <a:p>
            <a:r>
              <a:rPr lang="en-US" dirty="0"/>
              <a:t>The </a:t>
            </a:r>
            <a:r>
              <a:rPr lang="en-US" dirty="0" err="1"/>
              <a:t>OneCS</a:t>
            </a:r>
            <a:r>
              <a:rPr lang="en-US" dirty="0"/>
              <a:t> application typically lives in the cloud. </a:t>
            </a:r>
          </a:p>
          <a:p>
            <a:r>
              <a:rPr lang="en-US" b="1" dirty="0"/>
              <a:t>If</a:t>
            </a:r>
            <a:r>
              <a:rPr lang="en-US" dirty="0"/>
              <a:t> the </a:t>
            </a:r>
            <a:r>
              <a:rPr lang="en-US" dirty="0" err="1"/>
              <a:t>SignatureBox</a:t>
            </a:r>
            <a:r>
              <a:rPr lang="en-US" dirty="0"/>
              <a:t> can be reached from the outside, we just need to declare the new </a:t>
            </a:r>
            <a:r>
              <a:rPr lang="en-US" dirty="0" err="1"/>
              <a:t>OneCS</a:t>
            </a:r>
            <a:r>
              <a:rPr lang="en-US" dirty="0"/>
              <a:t> remote on the </a:t>
            </a:r>
            <a:r>
              <a:rPr lang="en-US" dirty="0" err="1"/>
              <a:t>SignatureBox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11265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6033940" cy="1143818"/>
          </a:xfrm>
        </p:spPr>
        <p:txBody>
          <a:bodyPr vert="horz" lIns="91440" tIns="45720" rIns="91440" bIns="45720" rtlCol="0">
            <a:normAutofit fontScale="92500" lnSpcReduction="10000"/>
          </a:bodyPr>
          <a:lstStyle/>
          <a:p>
            <a:r>
              <a:rPr lang="en-US" dirty="0"/>
              <a:t>The name of this new Party is the same as the </a:t>
            </a:r>
            <a:r>
              <a:rPr lang="en-US" dirty="0" err="1"/>
              <a:t>DomainName</a:t>
            </a:r>
            <a:r>
              <a:rPr lang="en-US" dirty="0"/>
              <a:t>: this Party is the "domain controller"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628106" y="1833428"/>
            <a:ext cx="4414887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838201" y="2949401"/>
            <a:ext cx="3968479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SignatureBox</a:t>
            </a:r>
            <a:r>
              <a:rPr lang="en-US" dirty="0"/>
              <a:t>",</a:t>
            </a:r>
          </a:p>
          <a:p>
            <a:r>
              <a:rPr lang="en-US" dirty="0"/>
              <a:t>    </a:t>
            </a:r>
            <a:r>
              <a:rPr lang="en-US" b="1" dirty="0"/>
              <a:t>"Address": "65.12.13.14"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E17AC8F-FBF4-B06F-0002-2452720D9DA0}"/>
              </a:ext>
            </a:extLst>
          </p:cNvPr>
          <p:cNvSpPr/>
          <p:nvPr/>
        </p:nvSpPr>
        <p:spPr>
          <a:xfrm>
            <a:off x="4806680" y="416527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9" name="Arrow: Left-Right 8">
            <a:extLst>
              <a:ext uri="{FF2B5EF4-FFF2-40B4-BE49-F238E27FC236}">
                <a16:creationId xmlns:a16="http://schemas.microsoft.com/office/drawing/2014/main" id="{31EAFA31-65C4-FFEF-4B78-407CABE4FBDC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1088372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OneCS</a:t>
            </a:r>
            <a:r>
              <a:rPr lang="en-US" dirty="0"/>
              <a:t> (cannot reach the </a:t>
            </a:r>
            <a:r>
              <a:rPr lang="en-US" dirty="0" err="1"/>
              <a:t>SignatureBox</a:t>
            </a:r>
            <a:r>
              <a:rPr lang="en-US" dirty="0"/>
              <a:t>).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5257800" cy="114381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This may be the most common configuration pattern.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7512996" y="1690688"/>
            <a:ext cx="4113179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SignatureBox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lvl="1"/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"Address": "27.28.29.30:3712"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FAFD25-AA21-5283-15FC-B790EE62F46D}"/>
              </a:ext>
            </a:extLst>
          </p:cNvPr>
          <p:cNvSpPr txBox="1"/>
          <p:nvPr/>
        </p:nvSpPr>
        <p:spPr>
          <a:xfrm>
            <a:off x="565825" y="3270414"/>
            <a:ext cx="392835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400">
                <a:latin typeface="Courier New" panose="02070309020205020404" pitchFamily="49" charset="0"/>
                <a:cs typeface="Courier New" panose="02070309020205020404" pitchFamily="49" charset="0"/>
              </a:defRPr>
            </a:lvl1pPr>
          </a:lstStyle>
          <a:p>
            <a:r>
              <a:rPr lang="en-US" dirty="0"/>
              <a:t>{</a:t>
            </a:r>
          </a:p>
          <a:p>
            <a:r>
              <a:rPr lang="en-US" dirty="0"/>
              <a:t>  "</a:t>
            </a:r>
            <a:r>
              <a:rPr lang="en-US" dirty="0" err="1"/>
              <a:t>DomainName</a:t>
            </a:r>
            <a:r>
              <a:rPr lang="en-US" dirty="0"/>
              <a:t>": "</a:t>
            </a:r>
            <a:r>
              <a:rPr lang="en-US" dirty="0" err="1"/>
              <a:t>LaToulousaine</a:t>
            </a:r>
            <a:r>
              <a:rPr lang="en-US" dirty="0"/>
              <a:t>",</a:t>
            </a:r>
          </a:p>
          <a:p>
            <a:r>
              <a:rPr lang="en-US" dirty="0"/>
              <a:t>  "Local": {</a:t>
            </a:r>
          </a:p>
          <a:p>
            <a:r>
              <a:rPr lang="en-US" dirty="0"/>
              <a:t>    "Name": "</a:t>
            </a:r>
            <a:r>
              <a:rPr lang="en-US" b="1" dirty="0" err="1"/>
              <a:t>LaToulousaine</a:t>
            </a:r>
            <a:r>
              <a:rPr lang="en-US" dirty="0"/>
              <a:t>"</a:t>
            </a:r>
          </a:p>
          <a:p>
            <a:r>
              <a:rPr lang="en-US" dirty="0"/>
              <a:t>  },</a:t>
            </a:r>
          </a:p>
          <a:p>
            <a:r>
              <a:rPr lang="en-US" dirty="0"/>
              <a:t>  "Remotes": [</a:t>
            </a:r>
          </a:p>
          <a:p>
            <a:r>
              <a:rPr lang="en-US" dirty="0"/>
              <a:t>  {</a:t>
            </a:r>
          </a:p>
          <a:p>
            <a:r>
              <a:rPr lang="en-US" dirty="0"/>
              <a:t>    "Name": "</a:t>
            </a:r>
            <a:r>
              <a:rPr lang="en-US" dirty="0" err="1"/>
              <a:t>SignatureBox</a:t>
            </a:r>
            <a:r>
              <a:rPr lang="en-US" dirty="0"/>
              <a:t>“</a:t>
            </a:r>
          </a:p>
          <a:p>
            <a:r>
              <a:rPr lang="en-US" dirty="0"/>
              <a:t>  }]</a:t>
            </a:r>
          </a:p>
          <a:p>
            <a:r>
              <a:rPr lang="en-US" dirty="0"/>
              <a:t>}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35C4024-373F-D0A7-2707-CA2C02C6ED10}"/>
              </a:ext>
            </a:extLst>
          </p:cNvPr>
          <p:cNvSpPr/>
          <p:nvPr/>
        </p:nvSpPr>
        <p:spPr>
          <a:xfrm rot="10800000">
            <a:off x="4709400" y="4116634"/>
            <a:ext cx="2821426" cy="474819"/>
          </a:xfrm>
          <a:prstGeom prst="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Initiate</a:t>
            </a:r>
          </a:p>
        </p:txBody>
      </p:sp>
      <p:sp>
        <p:nvSpPr>
          <p:cNvPr id="7" name="Arrow: Left-Right 6">
            <a:extLst>
              <a:ext uri="{FF2B5EF4-FFF2-40B4-BE49-F238E27FC236}">
                <a16:creationId xmlns:a16="http://schemas.microsoft.com/office/drawing/2014/main" id="{4A26B160-EE0D-09D3-3155-550502E8D3D1}"/>
              </a:ext>
            </a:extLst>
          </p:cNvPr>
          <p:cNvSpPr/>
          <p:nvPr/>
        </p:nvSpPr>
        <p:spPr>
          <a:xfrm>
            <a:off x="4912468" y="4517578"/>
            <a:ext cx="2485417" cy="474819"/>
          </a:xfrm>
          <a:prstGeom prst="leftRightArrow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2-ways exchange</a:t>
            </a:r>
          </a:p>
        </p:txBody>
      </p:sp>
    </p:spTree>
    <p:extLst>
      <p:ext uri="{BB962C8B-B14F-4D97-AF65-F5344CB8AC3E}">
        <p14:creationId xmlns:p14="http://schemas.microsoft.com/office/powerpoint/2010/main" val="5121729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is actually a SaaS customer…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7"/>
            <a:ext cx="10640438" cy="4802187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/>
              <a:t>There is only one </a:t>
            </a:r>
            <a:r>
              <a:rPr lang="en-US" dirty="0" err="1"/>
              <a:t>OneCS</a:t>
            </a:r>
            <a:r>
              <a:rPr lang="en-US" dirty="0"/>
              <a:t> Application for multiple Domains. </a:t>
            </a:r>
            <a:r>
              <a:rPr lang="en-US" dirty="0" err="1"/>
              <a:t>LaToulousaine</a:t>
            </a:r>
            <a:r>
              <a:rPr lang="en-US" dirty="0"/>
              <a:t> is just one of them.</a:t>
            </a:r>
          </a:p>
          <a:p>
            <a:r>
              <a:rPr lang="en-US" dirty="0"/>
              <a:t>The SaaS offer scales horizontally:</a:t>
            </a:r>
          </a:p>
          <a:p>
            <a:pPr lvl="1"/>
            <a:r>
              <a:rPr lang="en-US" dirty="0"/>
              <a:t>A set of servers: </a:t>
            </a:r>
          </a:p>
          <a:p>
            <a:pPr lvl="2"/>
            <a:r>
              <a:rPr lang="en-US" dirty="0"/>
              <a:t>Parties are named “OneCS1”, “OneCS2”, “OneCS3”, etc. </a:t>
            </a:r>
          </a:p>
          <a:p>
            <a:pPr lvl="2"/>
            <a:r>
              <a:rPr lang="en-US" dirty="0"/>
              <a:t>And share the same Domain: “</a:t>
            </a:r>
            <a:r>
              <a:rPr lang="en-US" dirty="0" err="1"/>
              <a:t>SaasOneCS</a:t>
            </a:r>
            <a:r>
              <a:rPr lang="en-US" dirty="0"/>
              <a:t>” </a:t>
            </a:r>
          </a:p>
          <a:p>
            <a:r>
              <a:rPr lang="en-US" dirty="0"/>
              <a:t>Each </a:t>
            </a:r>
            <a:r>
              <a:rPr lang="en-US" dirty="0" err="1"/>
              <a:t>OneCS</a:t>
            </a:r>
            <a:r>
              <a:rPr lang="en-US" dirty="0"/>
              <a:t> application contains and defines the Domains they handle.</a:t>
            </a:r>
          </a:p>
        </p:txBody>
      </p:sp>
    </p:spTree>
    <p:extLst>
      <p:ext uri="{BB962C8B-B14F-4D97-AF65-F5344CB8AC3E}">
        <p14:creationId xmlns:p14="http://schemas.microsoft.com/office/powerpoint/2010/main" val="28837078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in SaaS is hosted by OneCS1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E00EFF-DD86-3588-5686-FCEFF2B8B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1611" y="1511180"/>
            <a:ext cx="6225551" cy="539139"/>
          </a:xfrm>
        </p:spPr>
        <p:txBody>
          <a:bodyPr vert="horz" lIns="91440" tIns="45720" rIns="91440" bIns="45720" rtlCol="0">
            <a:normAutofit fontScale="77500" lnSpcReduction="20000"/>
          </a:bodyPr>
          <a:lstStyle/>
          <a:p>
            <a:r>
              <a:rPr lang="en-US" dirty="0"/>
              <a:t>The actual configuration of the Remote Party is: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690688"/>
            <a:ext cx="378243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5253245" y="1758853"/>
            <a:ext cx="3870497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Domain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"Trolley2"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PickingStation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66D3FA9A-1ACF-0F0F-A825-F055FC6DDD64}"/>
              </a:ext>
            </a:extLst>
          </p:cNvPr>
          <p:cNvSpPr/>
          <p:nvPr/>
        </p:nvSpPr>
        <p:spPr>
          <a:xfrm>
            <a:off x="1060315" y="3287949"/>
            <a:ext cx="58366" cy="2607013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lowchart: Process 7">
            <a:extLst>
              <a:ext uri="{FF2B5EF4-FFF2-40B4-BE49-F238E27FC236}">
                <a16:creationId xmlns:a16="http://schemas.microsoft.com/office/drawing/2014/main" id="{D7396A28-FA73-8D35-4321-6D645A98FA48}"/>
              </a:ext>
            </a:extLst>
          </p:cNvPr>
          <p:cNvSpPr/>
          <p:nvPr/>
        </p:nvSpPr>
        <p:spPr>
          <a:xfrm>
            <a:off x="5253245" y="2097663"/>
            <a:ext cx="58366" cy="3657600"/>
          </a:xfrm>
          <a:prstGeom prst="flowChart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012D657E-3F85-7693-2306-7CDBA691D24C}"/>
              </a:ext>
            </a:extLst>
          </p:cNvPr>
          <p:cNvSpPr/>
          <p:nvPr/>
        </p:nvSpPr>
        <p:spPr>
          <a:xfrm>
            <a:off x="8987555" y="2652139"/>
            <a:ext cx="272374" cy="729575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A9A765-8C50-8FC6-1C65-47EDA54ED74A}"/>
              </a:ext>
            </a:extLst>
          </p:cNvPr>
          <p:cNvSpPr txBox="1"/>
          <p:nvPr/>
        </p:nvSpPr>
        <p:spPr>
          <a:xfrm>
            <a:off x="9224261" y="2832260"/>
            <a:ext cx="1913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Domain Controller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CD1D9BD-FC2F-C5A4-41E3-48156C379A9A}"/>
              </a:ext>
            </a:extLst>
          </p:cNvPr>
          <p:cNvSpPr txBox="1">
            <a:spLocks/>
          </p:cNvSpPr>
          <p:nvPr/>
        </p:nvSpPr>
        <p:spPr>
          <a:xfrm>
            <a:off x="5311612" y="5944614"/>
            <a:ext cx="5670616" cy="539139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"</a:t>
            </a:r>
            <a:r>
              <a:rPr lang="en-US" dirty="0" err="1"/>
              <a:t>EnvironmentName</a:t>
            </a:r>
            <a:r>
              <a:rPr lang="en-US" dirty="0"/>
              <a:t>" is also under control of the Remote definition.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36531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CA690-E7B9-FB17-D3F9-CD95B9317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885251" cy="1325563"/>
          </a:xfrm>
        </p:spPr>
        <p:txBody>
          <a:bodyPr/>
          <a:lstStyle/>
          <a:p>
            <a:r>
              <a:rPr lang="en-US" dirty="0" err="1"/>
              <a:t>Oups</a:t>
            </a:r>
            <a:r>
              <a:rPr lang="en-US" dirty="0"/>
              <a:t>! </a:t>
            </a:r>
            <a:r>
              <a:rPr lang="en-US" dirty="0" err="1"/>
              <a:t>LaToulousaine</a:t>
            </a:r>
            <a:r>
              <a:rPr lang="en-US" dirty="0"/>
              <a:t> is NOT in production yet!</a:t>
            </a:r>
          </a:p>
        </p:txBody>
      </p:sp>
      <p:graphicFrame>
        <p:nvGraphicFramePr>
          <p:cNvPr id="14" name="Table 14">
            <a:extLst>
              <a:ext uri="{FF2B5EF4-FFF2-40B4-BE49-F238E27FC236}">
                <a16:creationId xmlns:a16="http://schemas.microsoft.com/office/drawing/2014/main" id="{88298F33-3702-CB79-CA00-2B1B2EB3EE3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12494569"/>
              </p:ext>
            </p:extLst>
          </p:nvPr>
        </p:nvGraphicFramePr>
        <p:xfrm>
          <a:off x="4620639" y="4387432"/>
          <a:ext cx="7102812" cy="216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1957">
                  <a:extLst>
                    <a:ext uri="{9D8B030D-6E8A-4147-A177-3AD203B41FA5}">
                      <a16:colId xmlns:a16="http://schemas.microsoft.com/office/drawing/2014/main" val="1002437713"/>
                    </a:ext>
                  </a:extLst>
                </a:gridCol>
                <a:gridCol w="3600855">
                  <a:extLst>
                    <a:ext uri="{9D8B030D-6E8A-4147-A177-3AD203B41FA5}">
                      <a16:colId xmlns:a16="http://schemas.microsoft.com/office/drawing/2014/main" val="2669333865"/>
                    </a:ext>
                  </a:extLst>
                </a:gridCol>
              </a:tblGrid>
              <a:tr h="263240"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Party Full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6801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/Production/OneCS1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server n°1 of the </a:t>
                      </a:r>
                      <a:r>
                        <a:rPr lang="en-US" sz="1600" dirty="0" err="1"/>
                        <a:t>SaasOffer</a:t>
                      </a:r>
                      <a:r>
                        <a:rPr lang="en-US" sz="1600"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081413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SaasOneCS</a:t>
                      </a:r>
                      <a:r>
                        <a:rPr lang="en-US" sz="1600" dirty="0"/>
                        <a:t>/Staging/</a:t>
                      </a:r>
                      <a:r>
                        <a:rPr lang="en-US" sz="1600" dirty="0" err="1"/>
                        <a:t>LaToulousaine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Host of the Domain in the </a:t>
                      </a:r>
                      <a:r>
                        <a:rPr lang="en-US" sz="1600" dirty="0" err="1"/>
                        <a:t>Saas</a:t>
                      </a:r>
                      <a:r>
                        <a:rPr lang="en-US" sz="1600" dirty="0"/>
                        <a:t> offer.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8281902"/>
                  </a:ext>
                </a:extLst>
              </a:tr>
              <a:tr h="263240">
                <a:tc>
                  <a:txBody>
                    <a:bodyPr/>
                    <a:lstStyle/>
                    <a:p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</a:t>
                      </a:r>
                      <a:r>
                        <a:rPr lang="en-US" sz="1600" dirty="0" err="1"/>
                        <a:t>LaToulousaine</a:t>
                      </a: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controller of the customer domain.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2232328"/>
                  </a:ext>
                </a:extLst>
              </a:tr>
              <a:tr h="75726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/Staging/Trolley1</a:t>
                      </a:r>
                      <a:br>
                        <a:rPr lang="en-US" sz="1600" dirty="0"/>
                      </a:br>
                      <a:r>
                        <a:rPr lang="en-US" sz="1600" dirty="0" err="1"/>
                        <a:t>LaToulousaine</a:t>
                      </a:r>
                      <a:r>
                        <a:rPr lang="en-US" sz="1600" dirty="0"/>
                        <a:t>/Staging/Trolley2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etc.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The customer’s agents.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550182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BEF56BE-36E9-9C16-0573-8234C8D9F689}"/>
              </a:ext>
            </a:extLst>
          </p:cNvPr>
          <p:cNvSpPr txBox="1"/>
          <p:nvPr/>
        </p:nvSpPr>
        <p:spPr>
          <a:xfrm>
            <a:off x="838201" y="1544768"/>
            <a:ext cx="378243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"Production"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"OneCS1"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"Domain": {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AF6B14-89CD-7852-A417-173476AAD20D}"/>
              </a:ext>
            </a:extLst>
          </p:cNvPr>
          <p:cNvSpPr txBox="1"/>
          <p:nvPr/>
        </p:nvSpPr>
        <p:spPr>
          <a:xfrm>
            <a:off x="6096000" y="1544768"/>
            <a:ext cx="3870497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SaasOneCS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"Domain":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"Environment": "Staging"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"Local": {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"Name":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LaToulousaine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"Remotes": [ … ]</a:t>
            </a:r>
          </a:p>
          <a:p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5" name="Right Brace 4">
            <a:extLst>
              <a:ext uri="{FF2B5EF4-FFF2-40B4-BE49-F238E27FC236}">
                <a16:creationId xmlns:a16="http://schemas.microsoft.com/office/drawing/2014/main" id="{C4E13CAF-C52E-CDC4-F2EC-218FF7FDF560}"/>
              </a:ext>
            </a:extLst>
          </p:cNvPr>
          <p:cNvSpPr/>
          <p:nvPr/>
        </p:nvSpPr>
        <p:spPr>
          <a:xfrm>
            <a:off x="3988340" y="3103117"/>
            <a:ext cx="311286" cy="1128409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7CD21529-3AEE-6DC4-B3A4-36DD460C3AB7}"/>
              </a:ext>
            </a:extLst>
          </p:cNvPr>
          <p:cNvSpPr/>
          <p:nvPr/>
        </p:nvSpPr>
        <p:spPr>
          <a:xfrm rot="10800000">
            <a:off x="5784714" y="1704229"/>
            <a:ext cx="311286" cy="232301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AC5BC6D-74F1-02F9-F999-C814C8A3B146}"/>
              </a:ext>
            </a:extLst>
          </p:cNvPr>
          <p:cNvCxnSpPr>
            <a:stCxn id="5" idx="1"/>
            <a:endCxn id="9" idx="1"/>
          </p:cNvCxnSpPr>
          <p:nvPr/>
        </p:nvCxnSpPr>
        <p:spPr>
          <a:xfrm flipV="1">
            <a:off x="4299626" y="2865737"/>
            <a:ext cx="1485088" cy="80158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7243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2CAA5-AE8B-13AE-3860-23AA77D32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LaToulousaine</a:t>
            </a:r>
            <a:r>
              <a:rPr lang="en-US" dirty="0"/>
              <a:t> goes to London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E14D5-3E2D-7E2E-F06E-5A1F413D3A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may keep the single </a:t>
            </a:r>
            <a:r>
              <a:rPr lang="en-US" dirty="0" err="1"/>
              <a:t>LaToulousaine</a:t>
            </a:r>
            <a:r>
              <a:rPr lang="en-US" dirty="0"/>
              <a:t> domain and define the English Agents in them… </a:t>
            </a:r>
          </a:p>
          <a:p>
            <a:pPr lvl="1"/>
            <a:r>
              <a:rPr lang="en-US" dirty="0"/>
              <a:t>… and deal with “Trolley1” and “London_Trolley1”.</a:t>
            </a:r>
          </a:p>
          <a:p>
            <a:pPr lvl="1">
              <a:buFont typeface="Wingdings" panose="05000000000000000000" pitchFamily="2" charset="2"/>
              <a:buChar char="è"/>
            </a:pPr>
            <a:r>
              <a:rPr lang="en-US" dirty="0">
                <a:sym typeface="Wingdings" panose="05000000000000000000" pitchFamily="2" charset="2"/>
              </a:rPr>
              <a:t>This less than ideal!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We can do better but this requires a small adjustment to the Domain notion.</a:t>
            </a:r>
          </a:p>
          <a:p>
            <a:pPr lvl="1"/>
            <a:r>
              <a:rPr lang="en-US" dirty="0" err="1"/>
              <a:t>LaToulousaine</a:t>
            </a:r>
            <a:r>
              <a:rPr lang="en-US" dirty="0"/>
              <a:t> domain must continue to exists: its logs are grouped under this root key, a repository exists for “</a:t>
            </a:r>
            <a:r>
              <a:rPr lang="en-US" dirty="0" err="1"/>
              <a:t>LaToulousaine</a:t>
            </a:r>
            <a:r>
              <a:rPr lang="en-US" dirty="0"/>
              <a:t>” (and may be a Stack), we earn money from “</a:t>
            </a:r>
            <a:r>
              <a:rPr lang="en-US" dirty="0" err="1"/>
              <a:t>LaToulousaine</a:t>
            </a:r>
            <a:r>
              <a:rPr lang="en-US" dirty="0"/>
              <a:t>”, </a:t>
            </a:r>
            <a:r>
              <a:rPr lang="en-US" dirty="0" err="1"/>
              <a:t>OneCS</a:t>
            </a:r>
            <a:r>
              <a:rPr lang="en-US" dirty="0"/>
              <a:t> must continue to have a “</a:t>
            </a:r>
            <a:r>
              <a:rPr lang="en-US" dirty="0" err="1"/>
              <a:t>LaToulousaine</a:t>
            </a:r>
            <a:r>
              <a:rPr lang="en-US" dirty="0"/>
              <a:t>” landing page with its users (no matter how much warehouses there are and where they are).</a:t>
            </a:r>
          </a:p>
        </p:txBody>
      </p:sp>
    </p:spTree>
    <p:extLst>
      <p:ext uri="{BB962C8B-B14F-4D97-AF65-F5344CB8AC3E}">
        <p14:creationId xmlns:p14="http://schemas.microsoft.com/office/powerpoint/2010/main" val="2438403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72F0F-8616-38EC-EDA0-4EBA92603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“Extended Domain Name”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E53221-6DCC-F2B1-538E-49199CB44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allow the </a:t>
            </a:r>
            <a:r>
              <a:rPr lang="en-US" dirty="0" err="1"/>
              <a:t>DomainName</a:t>
            </a:r>
            <a:r>
              <a:rPr lang="en-US" dirty="0"/>
              <a:t> to contain “/”.</a:t>
            </a:r>
          </a:p>
          <a:p>
            <a:r>
              <a:rPr lang="en-US" dirty="0"/>
              <a:t>“</a:t>
            </a:r>
            <a:r>
              <a:rPr lang="en-US" dirty="0" err="1"/>
              <a:t>LaToulousaine</a:t>
            </a:r>
            <a:r>
              <a:rPr lang="en-US" dirty="0"/>
              <a:t>/London” and “</a:t>
            </a:r>
            <a:r>
              <a:rPr lang="en-US" dirty="0" err="1"/>
              <a:t>LaToulousaine</a:t>
            </a:r>
            <a:r>
              <a:rPr lang="en-US" dirty="0"/>
              <a:t>/France/Toulouse” are valid domain names.</a:t>
            </a:r>
          </a:p>
          <a:p>
            <a:r>
              <a:rPr lang="en-US" dirty="0"/>
              <a:t>Everything that has been said about the fundamental triple Domain/Environment/Party is still true.</a:t>
            </a:r>
          </a:p>
          <a:p>
            <a:pPr lvl="1"/>
            <a:r>
              <a:rPr lang="en-US" dirty="0"/>
              <a:t>We don’t manage a tree of resources.</a:t>
            </a:r>
          </a:p>
          <a:p>
            <a:pPr lvl="1"/>
            <a:r>
              <a:rPr lang="en-US" dirty="0"/>
              <a:t>The 2-levels only architecture of the Application Identity is unchanged.</a:t>
            </a:r>
          </a:p>
          <a:p>
            <a:r>
              <a:rPr lang="en-US" dirty="0"/>
              <a:t>Only the “Full Path” of a Party must be redesigned:</a:t>
            </a:r>
          </a:p>
          <a:p>
            <a:pPr lvl="1"/>
            <a:r>
              <a:rPr lang="en-US" dirty="0"/>
              <a:t>The </a:t>
            </a:r>
            <a:r>
              <a:rPr lang="en-US" i="1" dirty="0"/>
              <a:t>Environment</a:t>
            </a:r>
            <a:r>
              <a:rPr lang="en-US" dirty="0"/>
              <a:t> is injected after the first part of the domain name.</a:t>
            </a:r>
          </a:p>
        </p:txBody>
      </p:sp>
    </p:spTree>
    <p:extLst>
      <p:ext uri="{BB962C8B-B14F-4D97-AF65-F5344CB8AC3E}">
        <p14:creationId xmlns:p14="http://schemas.microsoft.com/office/powerpoint/2010/main" val="1320783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34E8B-9831-25D5-4048-520F1F267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final D/E/P Party identity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FFBCC-C4FE-178F-C6A4-F5F4B3B0EA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57979"/>
          </a:xfrm>
        </p:spPr>
        <p:txBody>
          <a:bodyPr>
            <a:normAutofit/>
          </a:bodyPr>
          <a:lstStyle/>
          <a:p>
            <a:r>
              <a:rPr lang="en-US" dirty="0"/>
              <a:t>The logical identity is a triple of string “</a:t>
            </a:r>
            <a:r>
              <a:rPr lang="en-US" dirty="0" err="1"/>
              <a:t>DomainName</a:t>
            </a:r>
            <a:r>
              <a:rPr lang="en-US" dirty="0"/>
              <a:t>”, ”</a:t>
            </a:r>
            <a:r>
              <a:rPr lang="en-US" dirty="0" err="1"/>
              <a:t>EnvironmentName</a:t>
            </a:r>
            <a:r>
              <a:rPr lang="en-US" dirty="0"/>
              <a:t>”, “</a:t>
            </a:r>
            <a:r>
              <a:rPr lang="en-US" dirty="0" err="1"/>
              <a:t>PartyName</a:t>
            </a:r>
            <a:r>
              <a:rPr lang="en-US" dirty="0"/>
              <a:t>”.</a:t>
            </a:r>
          </a:p>
          <a:p>
            <a:r>
              <a:rPr lang="en-US" dirty="0"/>
              <a:t>Its full name is a </a:t>
            </a:r>
            <a:r>
              <a:rPr lang="en-US" dirty="0" err="1"/>
              <a:t>NormalizedPath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It ultimately defaults to “</a:t>
            </a:r>
            <a:r>
              <a:rPr lang="en-US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Undefined/Development/Unknown”.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30142BB9-7E7C-5474-04FE-CD0469B97C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560791"/>
              </p:ext>
            </p:extLst>
          </p:nvPr>
        </p:nvGraphicFramePr>
        <p:xfrm>
          <a:off x="1198125" y="3239311"/>
          <a:ext cx="8977007" cy="22164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8701">
                  <a:extLst>
                    <a:ext uri="{9D8B030D-6E8A-4147-A177-3AD203B41FA5}">
                      <a16:colId xmlns:a16="http://schemas.microsoft.com/office/drawing/2014/main" val="883587408"/>
                    </a:ext>
                  </a:extLst>
                </a:gridCol>
                <a:gridCol w="5418306">
                  <a:extLst>
                    <a:ext uri="{9D8B030D-6E8A-4147-A177-3AD203B41FA5}">
                      <a16:colId xmlns:a16="http://schemas.microsoft.com/office/drawing/2014/main" val="517308239"/>
                    </a:ext>
                  </a:extLst>
                </a:gridCol>
              </a:tblGrid>
              <a:tr h="29880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Path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5917829"/>
                  </a:ext>
                </a:extLst>
              </a:tr>
              <a:tr h="72019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/France/Toulouse</a:t>
                      </a:r>
                    </a:p>
                    <a:p>
                      <a:r>
                        <a:rPr lang="en-US" dirty="0"/>
                        <a:t>E: Production</a:t>
                      </a:r>
                    </a:p>
                    <a:p>
                      <a:r>
                        <a:rPr lang="en-US" dirty="0"/>
                        <a:t>P: Trolley45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/Production/France/Toulouse/Trolley45</a:t>
                      </a: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0824639"/>
                  </a:ext>
                </a:extLst>
              </a:tr>
              <a:tr h="936257">
                <a:tc>
                  <a:txBody>
                    <a:bodyPr/>
                    <a:lstStyle/>
                    <a:p>
                      <a:r>
                        <a:rPr lang="en-US" dirty="0"/>
                        <a:t>D: </a:t>
                      </a: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/London</a:t>
                      </a:r>
                    </a:p>
                    <a:p>
                      <a:r>
                        <a:rPr lang="en-US" dirty="0"/>
                        <a:t>E: Development</a:t>
                      </a:r>
                    </a:p>
                    <a:p>
                      <a:r>
                        <a:rPr lang="en-US" dirty="0"/>
                        <a:t>P: </a:t>
                      </a:r>
                      <a:r>
                        <a:rPr lang="en-US" dirty="0" err="1"/>
                        <a:t>RobotTrolley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LaToulousaine</a:t>
                      </a:r>
                      <a:r>
                        <a:rPr lang="en-US" dirty="0"/>
                        <a:t>/Development/London/</a:t>
                      </a:r>
                      <a:r>
                        <a:rPr lang="en-US" dirty="0" err="1"/>
                        <a:t>RobotTrolley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469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53377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BB2F6-6A3B-0600-9CA6-236A6AB60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and privacy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AD752E-3F69-B30A-607A-3285A0B1B3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keys appear in the configuration.</a:t>
            </a:r>
          </a:p>
          <a:p>
            <a:r>
              <a:rPr lang="en-US" dirty="0"/>
              <a:t>At least one X509 certificate must be available per Party.</a:t>
            </a:r>
          </a:p>
          <a:p>
            <a:pPr lvl="1"/>
            <a:r>
              <a:rPr lang="en-US" dirty="0" err="1"/>
              <a:t>SaasOneCS</a:t>
            </a:r>
            <a:r>
              <a:rPr lang="en-US" dirty="0"/>
              <a:t>/Production/OneCS1 can work with a single certificate.</a:t>
            </a:r>
          </a:p>
          <a:p>
            <a:r>
              <a:rPr lang="en-US" dirty="0"/>
              <a:t>Keys are managed “by design” in a store by </a:t>
            </a:r>
            <a:r>
              <a:rPr lang="en-US" dirty="0" err="1"/>
              <a:t>CK.AppIdentity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 simplest store is a folder with folders and/or files that contain the certificate files.</a:t>
            </a:r>
          </a:p>
          <a:p>
            <a:pPr lvl="1"/>
            <a:r>
              <a:rPr lang="en-US" dirty="0"/>
              <a:t>Stronger key store may be implemented later.</a:t>
            </a:r>
          </a:p>
          <a:p>
            <a:r>
              <a:rPr lang="en-US" dirty="0"/>
              <a:t>Any relationship between 2 parties can be protected with a dedicated pair of keys.</a:t>
            </a:r>
          </a:p>
        </p:txBody>
      </p:sp>
    </p:spTree>
    <p:extLst>
      <p:ext uri="{BB962C8B-B14F-4D97-AF65-F5344CB8AC3E}">
        <p14:creationId xmlns:p14="http://schemas.microsoft.com/office/powerpoint/2010/main" val="29451118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F35EA-9815-CA8C-A80D-1857A5FD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uses…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FA97AC-5D6A-7874-9EEB-5565D4A19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888392"/>
          </a:xfrm>
        </p:spPr>
        <p:txBody>
          <a:bodyPr/>
          <a:lstStyle/>
          <a:p>
            <a:r>
              <a:rPr lang="en-US" dirty="0"/>
              <a:t>Describing and configuring external services.</a:t>
            </a:r>
          </a:p>
          <a:p>
            <a:pPr lvl="1"/>
            <a:r>
              <a:rPr lang="en-US" dirty="0"/>
              <a:t>Package First…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2D17C1F-A51E-C522-33E4-E7D2F26CB586}"/>
              </a:ext>
            </a:extLst>
          </p:cNvPr>
          <p:cNvSpPr txBox="1">
            <a:spLocks/>
          </p:cNvSpPr>
          <p:nvPr/>
        </p:nvSpPr>
        <p:spPr>
          <a:xfrm>
            <a:off x="838200" y="2714017"/>
            <a:ext cx="6749374" cy="3778857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"Signature",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EnvironmentName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"Production",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CodeCenter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"45kKJDHldf57dsj87f6fefAsdjhfsdfzr654ZEd5zf"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"Undefined",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GitSource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"GitHub": {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"Organization": "Signature-Code",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SecretToken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“Lkjdchbej236ecec6876edc3evqwx57d2455zefdaa"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}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3D65CE2-9D81-5111-5961-A05FE0BFA74C}"/>
              </a:ext>
            </a:extLst>
          </p:cNvPr>
          <p:cNvSpPr txBox="1">
            <a:spLocks/>
          </p:cNvSpPr>
          <p:nvPr/>
        </p:nvSpPr>
        <p:spPr>
          <a:xfrm>
            <a:off x="7511374" y="3122579"/>
            <a:ext cx="4206144" cy="252919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“Undefined” is the reserved Domain name that means “external to the System”</a:t>
            </a:r>
          </a:p>
          <a:p>
            <a:r>
              <a:rPr lang="en-US" dirty="0"/>
              <a:t>We don’t need an “Address”: this remote is a </a:t>
            </a:r>
            <a:r>
              <a:rPr lang="en-US" dirty="0" err="1"/>
              <a:t>GitHubApp</a:t>
            </a:r>
            <a:r>
              <a:rPr lang="en-US" dirty="0"/>
              <a:t> because of the “GitHub” configuration key. </a:t>
            </a:r>
          </a:p>
          <a:p>
            <a:r>
              <a:rPr lang="en-US" dirty="0"/>
              <a:t>The package </a:t>
            </a:r>
            <a:r>
              <a:rPr lang="en-US" dirty="0" err="1"/>
              <a:t>CK.AppIdentity.GitHubApp</a:t>
            </a:r>
            <a:r>
              <a:rPr lang="en-US" dirty="0"/>
              <a:t> handles this automatically.</a:t>
            </a:r>
          </a:p>
        </p:txBody>
      </p:sp>
    </p:spTree>
    <p:extLst>
      <p:ext uri="{BB962C8B-B14F-4D97-AF65-F5344CB8AC3E}">
        <p14:creationId xmlns:p14="http://schemas.microsoft.com/office/powerpoint/2010/main" val="23436561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8245F-DD26-ADCC-6CD2-D5ED5F559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simple Configuration Model</a:t>
            </a:r>
          </a:p>
        </p:txBody>
      </p:sp>
      <p:pic>
        <p:nvPicPr>
          <p:cNvPr id="9" name="Content Placeholder 8" descr="Class diagram.">
            <a:extLst>
              <a:ext uri="{FF2B5EF4-FFF2-40B4-BE49-F238E27FC236}">
                <a16:creationId xmlns:a16="http://schemas.microsoft.com/office/drawing/2014/main" id="{EB82A400-7337-4C1F-868E-D34B84F5DF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025" y="1585180"/>
            <a:ext cx="11794531" cy="4802187"/>
          </a:xfrm>
        </p:spPr>
      </p:pic>
    </p:spTree>
    <p:extLst>
      <p:ext uri="{BB962C8B-B14F-4D97-AF65-F5344CB8AC3E}">
        <p14:creationId xmlns:p14="http://schemas.microsoft.com/office/powerpoint/2010/main" val="24834084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3BC01-7B97-621A-1FC3-D810DD8455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Exploit the .Net Configuration model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74851-0267-8A9E-EE42-41E103A0A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79976"/>
          </a:xfrm>
        </p:spPr>
        <p:txBody>
          <a:bodyPr/>
          <a:lstStyle/>
          <a:p>
            <a:r>
              <a:rPr lang="en-US" sz="2800">
                <a:solidFill>
                  <a:srgbClr val="000000"/>
                </a:solidFill>
                <a:latin typeface="Consolas" panose="020B0609020204030204" pitchFamily="49" charset="0"/>
              </a:rPr>
              <a:t>ApplicationIdentityConfiguration </a:t>
            </a:r>
            <a:r>
              <a:rPr lang="en-US"/>
              <a:t>supports any .Net Configuration source.</a:t>
            </a:r>
            <a:br>
              <a:rPr lang="en-US"/>
            </a:br>
            <a:endParaRPr lang="en-US" sz="1400"/>
          </a:p>
          <a:p>
            <a:endParaRPr lang="en-US"/>
          </a:p>
          <a:p>
            <a:endParaRPr lang="en-US"/>
          </a:p>
          <a:p>
            <a:r>
              <a:rPr lang="en-US"/>
              <a:t>Provides 2 helpers and MutableConfigurationSection and ImmutableConfigurationSection to support direct manipulation code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A48426-17BB-0C9E-781D-10055513B8B9}"/>
              </a:ext>
            </a:extLst>
          </p:cNvPr>
          <p:cNvSpPr txBox="1"/>
          <p:nvPr/>
        </p:nvSpPr>
        <p:spPr>
          <a:xfrm>
            <a:off x="1066803" y="4760763"/>
            <a:ext cx="1060938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var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configuration = ApplicationIdentityConfiguration.Create( monitor, c =&gt;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"DomainName"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"Test"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"Local:Name"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"Listener"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"Remotes:0:Name"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"Sender"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 c[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"AllowFeatures"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]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"BlobChannel"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} );</a:t>
            </a:r>
            <a:endParaRPr 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0B2343-7BBF-FDBA-3857-E5364B963659}"/>
              </a:ext>
            </a:extLst>
          </p:cNvPr>
          <p:cNvSpPr txBox="1"/>
          <p:nvPr/>
        </p:nvSpPr>
        <p:spPr>
          <a:xfrm>
            <a:off x="644770" y="2754585"/>
            <a:ext cx="11183815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static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ApplicationIdentityConfiguration? Create( IActivityMonitor monitor,</a:t>
            </a:r>
          </a:p>
          <a:p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						IConfigurationSection configuration,</a:t>
            </a:r>
          </a:p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? defaultLocalName = </a:t>
            </a:r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null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>
                <a:solidFill>
                  <a:srgbClr val="0000FF"/>
                </a:solidFill>
                <a:latin typeface="Consolas" panose="020B0609020204030204" pitchFamily="49" charset="0"/>
              </a:rPr>
              <a:t>						string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? defaultEnvironmentName = </a:t>
            </a:r>
            <a:r>
              <a:rPr lang="en-US" sz="1600">
                <a:solidFill>
                  <a:srgbClr val="A31515"/>
                </a:solidFill>
                <a:latin typeface="Consolas" panose="020B0609020204030204" pitchFamily="49" charset="0"/>
              </a:rPr>
              <a:t>"Development"</a:t>
            </a:r>
            <a:r>
              <a:rPr lang="en-US" sz="160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1357863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9E005-AE23-CC8A-D9FD-5DE8B5239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Runtime Model</a:t>
            </a:r>
            <a:endParaRPr lang="en-US" dirty="0"/>
          </a:p>
        </p:txBody>
      </p:sp>
      <p:pic>
        <p:nvPicPr>
          <p:cNvPr id="10" name="Content Placeholder 9" descr="Diagram&#10;&#10;Description automatically generated">
            <a:extLst>
              <a:ext uri="{FF2B5EF4-FFF2-40B4-BE49-F238E27FC236}">
                <a16:creationId xmlns:a16="http://schemas.microsoft.com/office/drawing/2014/main" id="{C7A97C5F-BEC2-106C-7C1F-260735E046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45938" y="269631"/>
            <a:ext cx="4963777" cy="6223244"/>
          </a:xfr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C3E3FC0-3C38-85FF-9917-A63D6C4B2A74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6541476" cy="466725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r>
              <a:rPr lang="en-US" dirty="0"/>
              <a:t> is an automatic hosted service singleton.</a:t>
            </a:r>
          </a:p>
          <a:p>
            <a:r>
              <a:rPr lang="en-US" dirty="0"/>
              <a:t>A Remote can define a Domain.</a:t>
            </a:r>
          </a:p>
          <a:p>
            <a:r>
              <a:rPr lang="en-US" dirty="0"/>
              <a:t>New Remotes can be added dynamically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AddDynamicRemoteAsync</a:t>
            </a:r>
            <a:r>
              <a:rPr lang="en-US" dirty="0"/>
              <a:t>).</a:t>
            </a:r>
          </a:p>
          <a:p>
            <a:r>
              <a:rPr lang="en-US" dirty="0"/>
              <a:t>Only dynamic Remotes can be destroyed (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SetDestroyed</a:t>
            </a:r>
            <a:r>
              <a:rPr lang="en-US" dirty="0"/>
              <a:t> or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DestroyAsync</a:t>
            </a:r>
            <a:r>
              <a:rPr lang="en-US" dirty="0"/>
              <a:t>).</a:t>
            </a:r>
          </a:p>
          <a:p>
            <a:r>
              <a:rPr lang="en-US" dirty="0"/>
              <a:t>Thread safety</a:t>
            </a:r>
          </a:p>
          <a:p>
            <a:pPr lvl="1"/>
            <a:r>
              <a:rPr lang="en-US" dirty="0"/>
              <a:t>Once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InitializationTask</a:t>
            </a:r>
            <a:r>
              <a:rPr lang="en-US" dirty="0"/>
              <a:t> is resolved, everything is stable.</a:t>
            </a:r>
          </a:p>
          <a:p>
            <a:pPr lvl="1"/>
            <a:r>
              <a:rPr lang="en-US" dirty="0"/>
              <a:t>A background micro agent handles the dynamic Remotes mutations.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72974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7CD06-D47B-E95B-1EEA-8DBB232E43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“Features”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3983B-5F64-FFC1-70BD-79B40405F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ApplicationIdentity</a:t>
            </a:r>
            <a:r>
              <a:rPr lang="en-US" dirty="0"/>
              <a:t> model exists to expose Features.</a:t>
            </a:r>
          </a:p>
          <a:p>
            <a:r>
              <a:rPr lang="en-US" dirty="0"/>
              <a:t>Features are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IEnumerable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  <a:r>
              <a:rPr lang="en-US" dirty="0"/>
              <a:t> available on:</a:t>
            </a:r>
          </a:p>
          <a:p>
            <a:pPr lvl="1"/>
            <a:r>
              <a:rPr lang="en-US" dirty="0"/>
              <a:t>The root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ApplicationIdentityService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Local and Remote parties (but not on the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DomainApplicationIdentity</a:t>
            </a:r>
            <a:r>
              <a:rPr lang="en-US" dirty="0"/>
              <a:t>).</a:t>
            </a:r>
          </a:p>
          <a:p>
            <a:r>
              <a:rPr lang="en-US" dirty="0"/>
              <a:t>Only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AddFeature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object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feature )</a:t>
            </a:r>
            <a:r>
              <a:rPr lang="en-US" dirty="0"/>
              <a:t> exists</a:t>
            </a:r>
          </a:p>
          <a:p>
            <a:pPr lvl="1"/>
            <a:r>
              <a:rPr lang="en-US" dirty="0"/>
              <a:t>Features can only be added.</a:t>
            </a:r>
          </a:p>
          <a:p>
            <a:r>
              <a:rPr lang="en-US" dirty="0"/>
              <a:t>Even if one can add a Feature “from the outside”, Feature are automatically instantiated, configured and added to the relevant parties thanks to specialized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dirty="0"/>
              <a:t> services</a:t>
            </a:r>
            <a:r>
              <a:rPr lang="en-US" sz="18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5439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EB0FE-B752-52E9-DFC1-C32DC2286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Driver</a:t>
            </a:r>
          </a:p>
        </p:txBody>
      </p:sp>
      <p:pic>
        <p:nvPicPr>
          <p:cNvPr id="9" name="Content Placeholder 8" descr="Graphical user interface, text">
            <a:extLst>
              <a:ext uri="{FF2B5EF4-FFF2-40B4-BE49-F238E27FC236}">
                <a16:creationId xmlns:a16="http://schemas.microsoft.com/office/drawing/2014/main" id="{3CFA42ED-F5B9-C118-B2B2-15CE4E6B30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973" y="156674"/>
            <a:ext cx="7399243" cy="654465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77EFC9A-B42F-2335-F286-66BC9143F1D7}"/>
              </a:ext>
            </a:extLst>
          </p:cNvPr>
          <p:cNvSpPr txBox="1">
            <a:spLocks/>
          </p:cNvSpPr>
          <p:nvPr/>
        </p:nvSpPr>
        <p:spPr>
          <a:xfrm>
            <a:off x="117232" y="1825624"/>
            <a:ext cx="4607168" cy="46672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Setup the whole service.</a:t>
            </a:r>
          </a:p>
          <a:p>
            <a:r>
              <a:rPr lang="en-US" sz="2400" dirty="0"/>
              <a:t>Setup new dynamic Remotes.</a:t>
            </a:r>
          </a:p>
          <a:p>
            <a:r>
              <a:rPr lang="en-US" sz="2400" dirty="0"/>
              <a:t>Teardown destroyed Remotes.</a:t>
            </a:r>
          </a:p>
          <a:p>
            <a:r>
              <a:rPr lang="en-US" dirty="0"/>
              <a:t>Teardown the whole service.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 feature driver type name MUST be suffixed with '</a:t>
            </a:r>
            <a:r>
              <a:rPr lang="en-US" dirty="0" err="1"/>
              <a:t>FeatureDriver</a:t>
            </a:r>
            <a:r>
              <a:rPr lang="en-US" dirty="0"/>
              <a:t>'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4981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62F962-D950-EB5B-C8CD-82EC873A9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Opt-In/Out and Allow/</a:t>
            </a:r>
            <a:r>
              <a:rPr lang="en-US" dirty="0" err="1"/>
              <a:t>DisallowFeatures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30683-E16F-BEF2-A1A6-603A2557D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14911"/>
          </a:xfrm>
        </p:spPr>
        <p:txBody>
          <a:bodyPr/>
          <a:lstStyle/>
          <a:p>
            <a:r>
              <a:rPr lang="en-US" dirty="0"/>
              <a:t>Features can be opt-in or opt-out.</a:t>
            </a:r>
          </a:p>
          <a:p>
            <a:pPr lvl="1"/>
            <a:r>
              <a:rPr lang="en-US" dirty="0"/>
              <a:t>This is provided when calling the base </a:t>
            </a:r>
            <a:r>
              <a:rPr lang="en-US" sz="1800" dirty="0" err="1">
                <a:latin typeface="Consolas" panose="020B0609020204030204" pitchFamily="49" charset="0"/>
              </a:rPr>
              <a:t>ApplicationIdentityFeatureDriver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 </a:t>
            </a:r>
            <a:r>
              <a:rPr lang="en-US" dirty="0"/>
              <a:t>constructor</a:t>
            </a:r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.</a:t>
            </a:r>
          </a:p>
          <a:p>
            <a:pPr lvl="1"/>
            <a:endParaRPr lang="en-US" sz="2400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pPr lvl="1"/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r>
              <a:rPr lang="en-US" dirty="0"/>
              <a:t>Features can then be allowed or disallowed by the configuration.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an opt-in feature. To exchange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byte[]</a:t>
            </a:r>
            <a:r>
              <a:rPr lang="en-US" dirty="0"/>
              <a:t> it must be allowed.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EF786D5-8D89-BF31-3133-9EF6545D8B9B}"/>
              </a:ext>
            </a:extLst>
          </p:cNvPr>
          <p:cNvSpPr txBox="1"/>
          <p:nvPr/>
        </p:nvSpPr>
        <p:spPr>
          <a:xfrm>
            <a:off x="1521655" y="2961041"/>
            <a:ext cx="84124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protected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2B91AF"/>
                </a:solidFill>
                <a:latin typeface="Consolas" panose="020B0609020204030204" pitchFamily="49" charset="0"/>
              </a:rPr>
              <a:t>ApplicationIdentityFeatureDriver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ApplicationIdentityService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s, </a:t>
            </a:r>
            <a:b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          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isAllowedByDefault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)</a:t>
            </a:r>
            <a:endParaRPr lang="en-US" sz="1600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D8761A4-78FC-CB22-E1A6-B3ED78F917D8}"/>
              </a:ext>
            </a:extLst>
          </p:cNvPr>
          <p:cNvSpPr txBox="1">
            <a:spLocks/>
          </p:cNvSpPr>
          <p:nvPr/>
        </p:nvSpPr>
        <p:spPr>
          <a:xfrm>
            <a:off x="720968" y="4682479"/>
            <a:ext cx="3897924" cy="2198966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"Sender"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"Target",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"Address": "tcp:127.0.0.1“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B6BF118-345A-7326-4BCF-5CE27028026A}"/>
              </a:ext>
            </a:extLst>
          </p:cNvPr>
          <p:cNvSpPr txBox="1">
            <a:spLocks/>
          </p:cNvSpPr>
          <p:nvPr/>
        </p:nvSpPr>
        <p:spPr>
          <a:xfrm>
            <a:off x="6441829" y="4687451"/>
            <a:ext cx="4226170" cy="21989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{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</a:t>
            </a:r>
            <a:r>
              <a:rPr lang="en-US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DomainName</a:t>
            </a: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": "Test",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"Local": { "Name": “Target" },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"Remotes": [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"Name": "Sender",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AllowFeatures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["</a:t>
            </a:r>
            <a:r>
              <a:rPr lang="en-US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BlobChannel</a:t>
            </a:r>
            <a:r>
              <a:rPr lang="en-US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</a:t>
            </a:r>
            <a:b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}]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en-US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en-US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34133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D9BD9-E7B8-0308-F846-C5AE6E73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TransportFeature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60C7C5-6DBE-8D49-F647-8952029E2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81954" cy="2833921"/>
          </a:xfrm>
        </p:spPr>
        <p:txBody>
          <a:bodyPr>
            <a:normAutofit/>
          </a:bodyPr>
          <a:lstStyle/>
          <a:p>
            <a:r>
              <a:rPr lang="en-US" dirty="0"/>
              <a:t>Opt-in feature: available by default on all Remotes that are not in the domain “Undefined”</a:t>
            </a:r>
          </a:p>
          <a:p>
            <a:pPr lvl="1"/>
            <a:r>
              <a:rPr lang="en-US" dirty="0"/>
              <a:t>To remove it: </a:t>
            </a:r>
            <a:br>
              <a:rPr lang="en-US" dirty="0"/>
            </a:b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en-US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DisallowFeatures</a:t>
            </a:r>
            <a:r>
              <a:rPr lang="en-US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 "Transport“</a:t>
            </a:r>
          </a:p>
          <a:p>
            <a:r>
              <a:rPr lang="en-US" dirty="0"/>
              <a:t>Transport is “on” by default but can be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SwithOff</a:t>
            </a:r>
            <a:r>
              <a:rPr lang="en-US" dirty="0"/>
              <a:t>/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SwitchOn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pic>
        <p:nvPicPr>
          <p:cNvPr id="7" name="Picture 6" descr="Graphical user interface, diagram&#10;&#10;Description automatically generated">
            <a:extLst>
              <a:ext uri="{FF2B5EF4-FFF2-40B4-BE49-F238E27FC236}">
                <a16:creationId xmlns:a16="http://schemas.microsoft.com/office/drawing/2014/main" id="{145D6F04-76EB-0D08-22E0-99122639C3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0154" y="194454"/>
            <a:ext cx="6164199" cy="446509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690184-9A00-DA38-F75D-7518FDA3E2C3}"/>
              </a:ext>
            </a:extLst>
          </p:cNvPr>
          <p:cNvSpPr txBox="1"/>
          <p:nvPr/>
        </p:nvSpPr>
        <p:spPr>
          <a:xfrm>
            <a:off x="838200" y="4830217"/>
            <a:ext cx="9419492" cy="9961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 err="1"/>
              <a:t>DisallowEviction</a:t>
            </a:r>
            <a:r>
              <a:rPr lang="en-US" sz="2800" dirty="0"/>
              <a:t> is false by default (like MQTT).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US" sz="2800" dirty="0"/>
              <a:t>The </a:t>
            </a:r>
            <a:r>
              <a:rPr lang="en-US" sz="2800" dirty="0" err="1"/>
              <a:t>ReadyTask</a:t>
            </a:r>
            <a:r>
              <a:rPr lang="en-US" sz="2800" dirty="0"/>
              <a:t> can be awaited before using the Transport.</a:t>
            </a:r>
          </a:p>
        </p:txBody>
      </p:sp>
    </p:spTree>
    <p:extLst>
      <p:ext uri="{BB962C8B-B14F-4D97-AF65-F5344CB8AC3E}">
        <p14:creationId xmlns:p14="http://schemas.microsoft.com/office/powerpoint/2010/main" val="39351745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F16C2-5FE3-B18B-1F5B-429CD7308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exchange 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19622E-A74C-BCB9-B3FA-CB06EC5A3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732477" cy="4351338"/>
          </a:xfrm>
        </p:spPr>
        <p:txBody>
          <a:bodyPr/>
          <a:lstStyle/>
          <a:p>
            <a:r>
              <a:rPr lang="en-US" dirty="0"/>
              <a:t>A Remote’s </a:t>
            </a:r>
            <a:r>
              <a:rPr lang="en-US" dirty="0" err="1"/>
              <a:t>TransportFeature</a:t>
            </a:r>
            <a:r>
              <a:rPr lang="en-US" dirty="0"/>
              <a:t> handles the transport to the other side.</a:t>
            </a:r>
          </a:p>
          <a:p>
            <a:pPr lvl="1"/>
            <a:r>
              <a:rPr lang="en-US" dirty="0"/>
              <a:t>Listener vs. Sender is automatically handled based on the configuration.</a:t>
            </a:r>
          </a:p>
          <a:p>
            <a:pPr lvl="1"/>
            <a:r>
              <a:rPr lang="en-US" dirty="0"/>
              <a:t>The transport technology can be specified. The default is “</a:t>
            </a:r>
            <a:r>
              <a:rPr lang="en-US" dirty="0" err="1"/>
              <a:t>tcp</a:t>
            </a:r>
            <a:r>
              <a:rPr lang="en-US" dirty="0"/>
              <a:t>”.</a:t>
            </a:r>
          </a:p>
          <a:p>
            <a:r>
              <a:rPr lang="en-US" dirty="0"/>
              <a:t>The </a:t>
            </a:r>
            <a:r>
              <a:rPr lang="en-US" dirty="0" err="1"/>
              <a:t>TransportFeatures</a:t>
            </a:r>
            <a:r>
              <a:rPr lang="en-US" dirty="0"/>
              <a:t> exposes the properties relevant to the communication but is not itself in charge of exchanging data.</a:t>
            </a:r>
          </a:p>
          <a:p>
            <a:r>
              <a:rPr lang="en-US" dirty="0"/>
              <a:t>Channels are Features that implements a protocol and exposes it to the developer.</a:t>
            </a:r>
          </a:p>
          <a:p>
            <a:r>
              <a:rPr lang="en-US" dirty="0"/>
              <a:t>Channels implementation provides:</a:t>
            </a:r>
          </a:p>
          <a:p>
            <a:pPr lvl="1"/>
            <a:r>
              <a:rPr lang="en-US" dirty="0"/>
              <a:t>A Protocol that can be in multiple versions.</a:t>
            </a:r>
          </a:p>
          <a:p>
            <a:pPr lvl="1"/>
            <a:r>
              <a:rPr lang="en-US" dirty="0"/>
              <a:t>A way to build and send, receive and parse </a:t>
            </a:r>
            <a:r>
              <a:rPr lang="en-US" dirty="0" err="1"/>
              <a:t>TransportMessage</a:t>
            </a:r>
            <a:r>
              <a:rPr lang="en-US" dirty="0"/>
              <a:t> objects.</a:t>
            </a:r>
          </a:p>
        </p:txBody>
      </p:sp>
    </p:spTree>
    <p:extLst>
      <p:ext uri="{BB962C8B-B14F-4D97-AF65-F5344CB8AC3E}">
        <p14:creationId xmlns:p14="http://schemas.microsoft.com/office/powerpoint/2010/main" val="8574792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4F961-5C07-CC54-4D89-C39917A7A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TransportMessage</a:t>
            </a:r>
            <a:endParaRPr lang="en-US" dirty="0"/>
          </a:p>
        </p:txBody>
      </p:sp>
      <p:pic>
        <p:nvPicPr>
          <p:cNvPr id="9" name="Content Placeholder 8" descr="Graphical user interface">
            <a:extLst>
              <a:ext uri="{FF2B5EF4-FFF2-40B4-BE49-F238E27FC236}">
                <a16:creationId xmlns:a16="http://schemas.microsoft.com/office/drawing/2014/main" id="{8F2564D2-6F15-2301-1548-C78BCB9392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3851" y="127222"/>
            <a:ext cx="6684324" cy="5335732"/>
          </a:xfr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166F694-1BE5-D7EE-ACC5-2723D274C19E}"/>
              </a:ext>
            </a:extLst>
          </p:cNvPr>
          <p:cNvSpPr txBox="1">
            <a:spLocks/>
          </p:cNvSpPr>
          <p:nvPr/>
        </p:nvSpPr>
        <p:spPr>
          <a:xfrm>
            <a:off x="838199" y="1825625"/>
            <a:ext cx="10732477" cy="466725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Prefix-Length encoding</a:t>
            </a:r>
          </a:p>
          <a:p>
            <a:pPr lvl="1"/>
            <a:r>
              <a:rPr lang="en-US" dirty="0"/>
              <a:t>Single header byte</a:t>
            </a:r>
          </a:p>
          <a:p>
            <a:pPr lvl="1"/>
            <a:r>
              <a:rPr lang="en-US" dirty="0" err="1"/>
              <a:t>MessageLength</a:t>
            </a:r>
            <a:r>
              <a:rPr lang="en-US" dirty="0"/>
              <a:t> (0 to 4 bytes)</a:t>
            </a:r>
          </a:p>
          <a:p>
            <a:pPr lvl="1"/>
            <a:r>
              <a:rPr lang="en-US" dirty="0"/>
              <a:t>Payload (up to 2 GiB)</a:t>
            </a:r>
          </a:p>
          <a:p>
            <a:endParaRPr lang="en-US" dirty="0"/>
          </a:p>
          <a:p>
            <a:r>
              <a:rPr lang="en-US" dirty="0"/>
              <a:t>Header byte: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L0|L1|CD|R0|R1|P0|P1|P2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L0-L1: number of bytes of the message length.</a:t>
            </a:r>
          </a:p>
          <a:p>
            <a:pPr lvl="1"/>
            <a:r>
              <a:rPr lang="en-US" dirty="0"/>
              <a:t>CD: “Control/ Data” bit.</a:t>
            </a:r>
          </a:p>
          <a:p>
            <a:pPr lvl="1"/>
            <a:r>
              <a:rPr lang="en-US" dirty="0"/>
              <a:t>R0-R1: Reserved for future use.</a:t>
            </a:r>
          </a:p>
          <a:p>
            <a:pPr lvl="1"/>
            <a:r>
              <a:rPr lang="en-US" dirty="0"/>
              <a:t>P0-P2: Protocol number (0 to 7).</a:t>
            </a:r>
          </a:p>
          <a:p>
            <a:endParaRPr lang="en-US" dirty="0"/>
          </a:p>
          <a:p>
            <a:r>
              <a:rPr lang="en-US" dirty="0"/>
              <a:t>The Protocol Number defines the "type" of the message: the writer/serializer that has been used to write the payload and the reader/</a:t>
            </a:r>
            <a:r>
              <a:rPr lang="en-US" dirty="0" err="1"/>
              <a:t>deserializer</a:t>
            </a:r>
            <a:r>
              <a:rPr lang="en-US" dirty="0"/>
              <a:t> that must be used to read it back.</a:t>
            </a:r>
          </a:p>
        </p:txBody>
      </p:sp>
    </p:spTree>
    <p:extLst>
      <p:ext uri="{BB962C8B-B14F-4D97-AF65-F5344CB8AC3E}">
        <p14:creationId xmlns:p14="http://schemas.microsoft.com/office/powerpoint/2010/main" val="2000016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C278E-8E30-3459-41D7-7185BA862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8 protocols maximal count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1B80D-91E5-6DC7-AB87-2CFAAF041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65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Only 8 protocols can be expressed.</a:t>
            </a:r>
          </a:p>
          <a:p>
            <a:pPr lvl="1"/>
            <a:r>
              <a:rPr lang="en-US" dirty="0"/>
              <a:t>The “0 Protocol” protocol is reserved: this is the protocol of </a:t>
            </a:r>
            <a:r>
              <a:rPr lang="en-US" dirty="0" err="1"/>
              <a:t>CK.AppIdentity.TransportLayer</a:t>
            </a:r>
            <a:r>
              <a:rPr lang="en-US" dirty="0"/>
              <a:t> itself that handles special messages used to negotiate, accept, reject incoming parties and outgoing connections.</a:t>
            </a:r>
          </a:p>
          <a:p>
            <a:pPr lvl="1"/>
            <a:r>
              <a:rPr lang="en-US" dirty="0"/>
              <a:t>This lets 7 possible protocols. </a:t>
            </a:r>
          </a:p>
          <a:p>
            <a:pPr lvl="1"/>
            <a:endParaRPr lang="en-US" dirty="0"/>
          </a:p>
          <a:p>
            <a:r>
              <a:rPr lang="en-US" dirty="0"/>
              <a:t>This limit applies to a Remote party pair: </a:t>
            </a:r>
          </a:p>
          <a:p>
            <a:pPr lvl="1"/>
            <a:r>
              <a:rPr lang="en-US" dirty="0"/>
              <a:t>There can be any number of possible protocols in an application</a:t>
            </a:r>
          </a:p>
          <a:p>
            <a:pPr lvl="1"/>
            <a:r>
              <a:rPr lang="en-US" dirty="0"/>
              <a:t>2 parties that start to interact initially negotiate the ones they can and want to use. </a:t>
            </a:r>
          </a:p>
          <a:p>
            <a:r>
              <a:rPr lang="en-US" dirty="0"/>
              <a:t>Any Transport between 2 parties can simultaneously support up to 7 different protocols.</a:t>
            </a:r>
          </a:p>
        </p:txBody>
      </p:sp>
    </p:spTree>
    <p:extLst>
      <p:ext uri="{BB962C8B-B14F-4D97-AF65-F5344CB8AC3E}">
        <p14:creationId xmlns:p14="http://schemas.microsoft.com/office/powerpoint/2010/main" val="18203462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456EA-A507-E17F-1FF5-0DDC0C51BB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new messages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CC84568-F688-2F94-8756-D5862C7EDE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51656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OutgoingMessageFactory</a:t>
            </a:r>
            <a:r>
              <a:rPr lang="en-US" dirty="0"/>
              <a:t> can </a:t>
            </a:r>
            <a:br>
              <a:rPr lang="en-US" dirty="0"/>
            </a:br>
            <a:r>
              <a:rPr lang="en-US" dirty="0"/>
              <a:t>create new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Messages must be disposed once done with them</a:t>
            </a:r>
          </a:p>
          <a:p>
            <a:pPr lvl="1"/>
            <a:r>
              <a:rPr lang="en-US" dirty="0"/>
              <a:t>Allocated memory is reused.</a:t>
            </a:r>
          </a:p>
          <a:p>
            <a:r>
              <a:rPr lang="en-US" dirty="0"/>
              <a:t>Messages can be “Retained” when needed (reference counting)</a:t>
            </a:r>
          </a:p>
          <a:p>
            <a:r>
              <a:rPr lang="en-US" dirty="0" err="1"/>
              <a:t>CreateStatic</a:t>
            </a:r>
            <a:r>
              <a:rPr lang="en-US" dirty="0"/>
              <a:t> returns messages don’t need to be disposed.</a:t>
            </a:r>
          </a:p>
          <a:p>
            <a:pPr lvl="1"/>
            <a:r>
              <a:rPr lang="en-US" dirty="0"/>
              <a:t>Dispose()/Retain() calls are ignored.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01A3D9-3364-B380-BE27-B3376CE6CD06}"/>
              </a:ext>
            </a:extLst>
          </p:cNvPr>
          <p:cNvSpPr txBox="1"/>
          <p:nvPr/>
        </p:nvSpPr>
        <p:spPr>
          <a:xfrm>
            <a:off x="1078524" y="2715481"/>
            <a:ext cx="94488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IBufferWriter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Create( Action&lt;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MutableSequence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&gt;&gt; writer,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               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isControl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false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16" name="Content Placeholder 15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B9C368B7-B971-1A32-863D-EFEC2CD1A6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5630" y="515815"/>
            <a:ext cx="5716130" cy="2047266"/>
          </a:xfrm>
        </p:spPr>
      </p:pic>
    </p:spTree>
    <p:extLst>
      <p:ext uri="{BB962C8B-B14F-4D97-AF65-F5344CB8AC3E}">
        <p14:creationId xmlns:p14="http://schemas.microsoft.com/office/powerpoint/2010/main" val="357392061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028A174E-C40C-EE9F-57EC-1C6C06A7372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8607669" cy="451656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Only an </a:t>
            </a:r>
            <a:r>
              <a:rPr lang="en-US" sz="2000" dirty="0" err="1">
                <a:latin typeface="Consolas" panose="020B0609020204030204" pitchFamily="49" charset="0"/>
                <a:cs typeface="Courier New" panose="02070309020205020404" pitchFamily="49" charset="0"/>
              </a:rPr>
              <a:t>IncomingMessageFactory</a:t>
            </a:r>
            <a:r>
              <a:rPr lang="en-US" dirty="0"/>
              <a:t> can read messages: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From any asynchronous function that can fill a buffer with an exact count of bytes.</a:t>
            </a:r>
          </a:p>
          <a:p>
            <a:r>
              <a:rPr lang="en-US" dirty="0"/>
              <a:t>The developer never interacts directly with an </a:t>
            </a:r>
            <a:r>
              <a:rPr lang="en-US" dirty="0" err="1"/>
              <a:t>IncomingMessageFactory</a:t>
            </a:r>
            <a:r>
              <a:rPr lang="en-US" dirty="0"/>
              <a:t>.</a:t>
            </a:r>
          </a:p>
          <a:p>
            <a:r>
              <a:rPr lang="en-US" dirty="0"/>
              <a:t>Concrete Transport implementations provide the 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dirty="0"/>
              <a:t> function.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FD56D0-2F2C-42C4-3EEA-E4CCE70C9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incoming messages</a:t>
            </a:r>
          </a:p>
        </p:txBody>
      </p:sp>
      <p:pic>
        <p:nvPicPr>
          <p:cNvPr id="5" name="Content Placeholder 4" descr="Graphical user interface, application&#10;&#10;Description automatically generated">
            <a:extLst>
              <a:ext uri="{FF2B5EF4-FFF2-40B4-BE49-F238E27FC236}">
                <a16:creationId xmlns:a16="http://schemas.microsoft.com/office/drawing/2014/main" id="{CD2D2A67-F26C-B52C-0846-6487A7DF0B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1200" y="146641"/>
            <a:ext cx="2454795" cy="6564718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FAAF37-5FFB-5FCF-739F-A7F6192E67D4}"/>
              </a:ext>
            </a:extLst>
          </p:cNvPr>
          <p:cNvSpPr txBox="1"/>
          <p:nvPr/>
        </p:nvSpPr>
        <p:spPr>
          <a:xfrm>
            <a:off x="993531" y="2329579"/>
            <a:ext cx="845233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public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Task&lt;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TransportMessage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ReadAsync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 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Func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&lt;Memory&lt;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byte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ValueTask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exactReader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   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maxMessageLength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.MaxValue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CancellationToken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cancellation =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42436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CEF7E-C184-9ED5-678F-E522EE786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</a:t>
            </a:r>
            <a:br>
              <a:rPr lang="en-US" dirty="0"/>
            </a:br>
            <a:r>
              <a:rPr lang="en-US" dirty="0"/>
              <a:t>Transports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F56818D-148F-7DD5-0B72-C665916F8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395330"/>
            <a:ext cx="4446248" cy="4273825"/>
          </a:xfrm>
        </p:spPr>
        <p:txBody>
          <a:bodyPr>
            <a:normAutofit/>
          </a:bodyPr>
          <a:lstStyle/>
          <a:p>
            <a:r>
              <a:rPr lang="en-US" sz="2400" dirty="0"/>
              <a:t>3 classes to specialize.</a:t>
            </a:r>
          </a:p>
          <a:p>
            <a:r>
              <a:rPr lang="en-US" sz="2400" dirty="0"/>
              <a:t>Straight wrappers, no error management required.</a:t>
            </a:r>
          </a:p>
          <a:p>
            <a:r>
              <a:rPr lang="en-US" sz="2400" dirty="0"/>
              <a:t>Package First</a:t>
            </a:r>
          </a:p>
          <a:p>
            <a:endParaRPr lang="en-US" sz="2400" dirty="0"/>
          </a:p>
          <a:p>
            <a:r>
              <a:rPr lang="en-US" sz="2400" dirty="0"/>
              <a:t>Example of </a:t>
            </a:r>
            <a:r>
              <a:rPr lang="en-US" sz="2400" dirty="0" err="1"/>
              <a:t>TCPSocket</a:t>
            </a:r>
            <a:endParaRPr lang="en-US" sz="2400" dirty="0"/>
          </a:p>
          <a:p>
            <a:pPr lvl="1"/>
            <a:r>
              <a:rPr lang="en-US" sz="2000" dirty="0" err="1"/>
              <a:t>AddressProtocolName</a:t>
            </a:r>
            <a:r>
              <a:rPr lang="en-US" sz="2000" dirty="0"/>
              <a:t>: “</a:t>
            </a:r>
            <a:r>
              <a:rPr lang="en-US" sz="2000" dirty="0" err="1"/>
              <a:t>tcp</a:t>
            </a:r>
            <a:r>
              <a:rPr lang="en-US" sz="2000" dirty="0"/>
              <a:t>”</a:t>
            </a:r>
          </a:p>
          <a:p>
            <a:endParaRPr lang="en-US" sz="2400" dirty="0"/>
          </a:p>
          <a:p>
            <a:r>
              <a:rPr lang="en-US" sz="2400" dirty="0"/>
              <a:t>Developers don’t interact with Transports layer.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</p:txBody>
      </p:sp>
      <p:pic>
        <p:nvPicPr>
          <p:cNvPr id="13" name="Picture 12" descr="Diagram&#10;&#10;Description automatically generated">
            <a:extLst>
              <a:ext uri="{FF2B5EF4-FFF2-40B4-BE49-F238E27FC236}">
                <a16:creationId xmlns:a16="http://schemas.microsoft.com/office/drawing/2014/main" id="{5B7E97A0-34C4-CC0C-12FC-6AFA8966FE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4165" y="90854"/>
            <a:ext cx="6812870" cy="676714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14:cNvPr>
              <p14:cNvContentPartPr/>
              <p14:nvPr/>
            </p14:nvContentPartPr>
            <p14:xfrm>
              <a:off x="8249071" y="2795776"/>
              <a:ext cx="1032840" cy="57600"/>
            </p14:xfrm>
          </p:contentPart>
        </mc:Choice>
        <mc:Fallback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50624A14-49A3-0F8D-AD90-36507C62CCD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95071" y="2687776"/>
                <a:ext cx="114048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2782195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12CBA-34FC-5769-694A-E657A8051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Channel Feature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AACCB99C-C551-6BC4-005D-BC5314B48110}"/>
              </a:ext>
            </a:extLst>
          </p:cNvPr>
          <p:cNvSpPr txBox="1">
            <a:spLocks/>
          </p:cNvSpPr>
          <p:nvPr/>
        </p:nvSpPr>
        <p:spPr>
          <a:xfrm>
            <a:off x="556592" y="1890023"/>
            <a:ext cx="5165782" cy="44213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3 classes to specialize.</a:t>
            </a:r>
          </a:p>
          <a:p>
            <a:pPr lvl="1"/>
            <a:r>
              <a:rPr lang="en-US" sz="2000" dirty="0"/>
              <a:t>3 abstract methods.</a:t>
            </a:r>
          </a:p>
          <a:p>
            <a:pPr lvl="1"/>
            <a:endParaRPr lang="en-US" sz="2000" dirty="0"/>
          </a:p>
          <a:p>
            <a:r>
              <a:rPr lang="en-US" sz="2400" dirty="0"/>
              <a:t>Protocols can optionally be versioned.</a:t>
            </a:r>
          </a:p>
          <a:p>
            <a:pPr lvl="1"/>
            <a:r>
              <a:rPr lang="en-US" sz="2000" dirty="0"/>
              <a:t>Negotiation is automatic.</a:t>
            </a:r>
          </a:p>
          <a:p>
            <a:pPr lvl="1"/>
            <a:endParaRPr lang="en-US" sz="2000" dirty="0"/>
          </a:p>
          <a:p>
            <a:r>
              <a:rPr lang="en-US" sz="2400" dirty="0"/>
              <a:t>Driver’s type name must be suffixed by  "</a:t>
            </a:r>
            <a:r>
              <a:rPr lang="en-US" sz="2400" dirty="0" err="1"/>
              <a:t>ChannelFeatureDriver</a:t>
            </a:r>
            <a:r>
              <a:rPr lang="en-US" sz="2400" dirty="0"/>
              <a:t>“.</a:t>
            </a:r>
          </a:p>
        </p:txBody>
      </p:sp>
      <p:pic>
        <p:nvPicPr>
          <p:cNvPr id="10" name="Content Placeholder 9" descr="Diagram">
            <a:extLst>
              <a:ext uri="{FF2B5EF4-FFF2-40B4-BE49-F238E27FC236}">
                <a16:creationId xmlns:a16="http://schemas.microsoft.com/office/drawing/2014/main" id="{B9505869-E6FE-3131-7CB2-E37EF0D590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8322" y="75482"/>
            <a:ext cx="6302438" cy="5410917"/>
          </a:xfrm>
        </p:spPr>
      </p:pic>
    </p:spTree>
    <p:extLst>
      <p:ext uri="{BB962C8B-B14F-4D97-AF65-F5344CB8AC3E}">
        <p14:creationId xmlns:p14="http://schemas.microsoft.com/office/powerpoint/2010/main" val="11746345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BD18F-1304-001E-4845-8CF4F7B6E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CEFAF-0B14-02E7-656C-CF64B5F5F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BlobChannel</a:t>
            </a:r>
            <a:r>
              <a:rPr lang="en-US" dirty="0"/>
              <a:t> is more a sample than a useful channel.</a:t>
            </a:r>
            <a:br>
              <a:rPr lang="en-US" dirty="0"/>
            </a:br>
            <a:endParaRPr lang="en-US" dirty="0"/>
          </a:p>
          <a:p>
            <a:r>
              <a:rPr lang="en-US" dirty="0"/>
              <a:t>Using a Channel</a:t>
            </a:r>
          </a:p>
          <a:p>
            <a:pPr lvl="1"/>
            <a:r>
              <a:rPr lang="en-US" dirty="0" err="1">
                <a:hlinkClick r:id="rId2"/>
              </a:rPr>
              <a:t>CK.AppIdentity.BlobChannel.Tests</a:t>
            </a:r>
            <a:r>
              <a:rPr lang="en-US" dirty="0">
                <a:hlinkClick r:id="rId2"/>
              </a:rPr>
              <a:t>/</a:t>
            </a:r>
            <a:r>
              <a:rPr lang="en-US" dirty="0" err="1">
                <a:hlinkClick r:id="rId2"/>
              </a:rPr>
              <a:t>BasicExchangeTests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dirty="0" err="1"/>
              <a:t>CK.AppIdentity.BlobChannel</a:t>
            </a:r>
            <a:r>
              <a:rPr lang="en-US" dirty="0"/>
              <a:t> implementation</a:t>
            </a:r>
          </a:p>
          <a:p>
            <a:pPr lvl="1"/>
            <a:r>
              <a:rPr lang="en-US" dirty="0" err="1">
                <a:hlinkClick r:id="rId3"/>
              </a:rPr>
              <a:t>BlobChannelFeatureDriver.cs</a:t>
            </a:r>
            <a:endParaRPr lang="en-US" dirty="0"/>
          </a:p>
          <a:p>
            <a:pPr lvl="1"/>
            <a:r>
              <a:rPr lang="en-US" dirty="0" err="1">
                <a:hlinkClick r:id="rId4"/>
              </a:rPr>
              <a:t>BlobChannelFeature.cs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BlobChannelFeature.Protocol.cs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8774651-B1CD-A9F7-EE21-593DAEFC48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2522" y="4391215"/>
            <a:ext cx="3276987" cy="1324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74871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5706</TotalTime>
  <Words>3773</Words>
  <Application>Microsoft Office PowerPoint</Application>
  <PresentationFormat>Widescreen</PresentationFormat>
  <Paragraphs>516</Paragraphs>
  <Slides>33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2" baseType="lpstr">
      <vt:lpstr>Arial</vt:lpstr>
      <vt:lpstr>Calibri</vt:lpstr>
      <vt:lpstr>Calibri Light</vt:lpstr>
      <vt:lpstr>Consolas</vt:lpstr>
      <vt:lpstr>Courier New</vt:lpstr>
      <vt:lpstr>Segoe UI</vt:lpstr>
      <vt:lpstr>Times New Roman</vt:lpstr>
      <vt:lpstr>Wingdings</vt:lpstr>
      <vt:lpstr>Office Theme</vt:lpstr>
      <vt:lpstr>CK-AppIdentity</vt:lpstr>
      <vt:lpstr>Primary Objectives</vt:lpstr>
      <vt:lpstr>Secondary Objectives</vt:lpstr>
      <vt:lpstr>DomainName/EnvironmentName/PartyName</vt:lpstr>
      <vt:lpstr>A simple Agent.</vt:lpstr>
      <vt:lpstr>The SignatureBox.</vt:lpstr>
      <vt:lpstr>Simplifications</vt:lpstr>
      <vt:lpstr>What we have so far: a warehouse.</vt:lpstr>
      <vt:lpstr>OneCS (can reach the SignatureBox).</vt:lpstr>
      <vt:lpstr>OneCS (cannot reach the SignatureBox).</vt:lpstr>
      <vt:lpstr>LaToulousaine is actually a SaaS customer…</vt:lpstr>
      <vt:lpstr>LaToulousaine in SaaS is hosted by OneCS1</vt:lpstr>
      <vt:lpstr>Oups! LaToulousaine is NOT in production yet!</vt:lpstr>
      <vt:lpstr>LaToulousaine goes to London</vt:lpstr>
      <vt:lpstr>The “Extended Domain Name”</vt:lpstr>
      <vt:lpstr>The final D/E/P Party identity</vt:lpstr>
      <vt:lpstr>Security and privacy</vt:lpstr>
      <vt:lpstr>Other uses…</vt:lpstr>
      <vt:lpstr>A simple Configuration Model</vt:lpstr>
      <vt:lpstr>Exploit the .Net Configuration model</vt:lpstr>
      <vt:lpstr>Runtime Model</vt:lpstr>
      <vt:lpstr>The “Features”</vt:lpstr>
      <vt:lpstr>Feature Driver</vt:lpstr>
      <vt:lpstr>Opt-In/Out and Allow/DisallowFeatures</vt:lpstr>
      <vt:lpstr>The TransportFeature</vt:lpstr>
      <vt:lpstr>The exchange Channels</vt:lpstr>
      <vt:lpstr>TransportMessage</vt:lpstr>
      <vt:lpstr>The 8 protocols maximal count</vt:lpstr>
      <vt:lpstr>Creating new messages</vt:lpstr>
      <vt:lpstr>Reading incoming messages</vt:lpstr>
      <vt:lpstr>Implementing Transports</vt:lpstr>
      <vt:lpstr>Channel Feature</vt:lpstr>
      <vt:lpstr>The BlobChannel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CK-AppIdentity</dc:title>
  <dc:creator>Olivier Spinelli</dc:creator>
  <cp:lastModifiedBy>Olivier Spinelli</cp:lastModifiedBy>
  <cp:revision>16</cp:revision>
  <dcterms:created xsi:type="dcterms:W3CDTF">2023-03-08T10:35:35Z</dcterms:created>
  <dcterms:modified xsi:type="dcterms:W3CDTF">2023-04-23T15:26:29Z</dcterms:modified>
</cp:coreProperties>
</file>